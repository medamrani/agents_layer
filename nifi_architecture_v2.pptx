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B3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C39A"/>
          </a:solidFill>
          <a:ln/>
        </p:spPr>
      </p:sp>
      <p:sp>
        <p:nvSpPr>
          <p:cNvPr id="3" name="Shape 1"/>
          <p:cNvSpPr/>
          <p:nvPr/>
        </p:nvSpPr>
        <p:spPr>
          <a:xfrm>
            <a:off x="201168" y="0"/>
            <a:ext cx="8942832" cy="54864"/>
          </a:xfrm>
          <a:prstGeom prst="rect">
            <a:avLst/>
          </a:prstGeom>
          <a:solidFill>
            <a:srgbClr val="028090"/>
          </a:solidFill>
          <a:ln/>
        </p:spPr>
      </p:sp>
      <p:sp>
        <p:nvSpPr>
          <p:cNvPr id="4" name="Shape 2"/>
          <p:cNvSpPr/>
          <p:nvPr/>
        </p:nvSpPr>
        <p:spPr>
          <a:xfrm>
            <a:off x="6583680" y="274320"/>
            <a:ext cx="2926080" cy="2926080"/>
          </a:xfrm>
          <a:prstGeom prst="ellipse">
            <a:avLst/>
          </a:prstGeom>
          <a:solidFill>
            <a:srgbClr val="028090">
              <a:alpha val="12000"/>
            </a:srgbClr>
          </a:solidFill>
          <a:ln/>
        </p:spPr>
      </p:sp>
      <p:sp>
        <p:nvSpPr>
          <p:cNvPr id="5" name="Shape 3"/>
          <p:cNvSpPr/>
          <p:nvPr/>
        </p:nvSpPr>
        <p:spPr>
          <a:xfrm>
            <a:off x="7315200" y="1645920"/>
            <a:ext cx="1828800" cy="1828800"/>
          </a:xfrm>
          <a:prstGeom prst="ellipse">
            <a:avLst/>
          </a:prstGeom>
          <a:solidFill>
            <a:srgbClr val="02C39A">
              <a:alpha val="18000"/>
            </a:srgbClr>
          </a:solidFill>
          <a:ln/>
        </p:spPr>
      </p:sp>
      <p:sp>
        <p:nvSpPr>
          <p:cNvPr id="6" name="Text 4"/>
          <p:cNvSpPr/>
          <p:nvPr/>
        </p:nvSpPr>
        <p:spPr>
          <a:xfrm>
            <a:off x="502920" y="685800"/>
            <a:ext cx="7772400" cy="91440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Apache NiFi</a:t>
            </a:r>
            <a:endParaRPr lang="en-US" sz="5200" dirty="0"/>
          </a:p>
        </p:txBody>
      </p:sp>
      <p:sp>
        <p:nvSpPr>
          <p:cNvPr id="7" name="Text 5"/>
          <p:cNvSpPr/>
          <p:nvPr/>
        </p:nvSpPr>
        <p:spPr>
          <a:xfrm>
            <a:off x="502920" y="1645920"/>
            <a:ext cx="6858000" cy="594360"/>
          </a:xfrm>
          <a:prstGeom prst="rect">
            <a:avLst/>
          </a:prstGeom>
          <a:noFill/>
          <a:ln/>
        </p:spPr>
        <p:txBody>
          <a:bodyPr wrap="square" lIns="0" tIns="0" rIns="0" bIns="0" rtlCol="0" anchor="ctr"/>
          <a:lstStyle/>
          <a:p>
            <a:pPr indent="0" marL="0">
              <a:buNone/>
            </a:pPr>
            <a:r>
              <a:rPr lang="en-US" sz="2600" dirty="0">
                <a:solidFill>
                  <a:srgbClr val="02C39A"/>
                </a:solidFill>
                <a:latin typeface="Calibri" pitchFamily="34" charset="0"/>
                <a:ea typeface="Calibri" pitchFamily="34" charset="-122"/>
                <a:cs typeface="Calibri" pitchFamily="34" charset="-120"/>
              </a:rPr>
              <a:t>Architecture des Process Groups</a:t>
            </a:r>
            <a:endParaRPr lang="en-US" sz="2600" dirty="0"/>
          </a:p>
        </p:txBody>
      </p:sp>
      <p:sp>
        <p:nvSpPr>
          <p:cNvPr id="8" name="Shape 6"/>
          <p:cNvSpPr/>
          <p:nvPr/>
        </p:nvSpPr>
        <p:spPr>
          <a:xfrm>
            <a:off x="502920" y="2377440"/>
            <a:ext cx="3474720" cy="45720"/>
          </a:xfrm>
          <a:prstGeom prst="rect">
            <a:avLst/>
          </a:prstGeom>
          <a:solidFill>
            <a:srgbClr val="028090"/>
          </a:solidFill>
          <a:ln/>
        </p:spPr>
      </p:sp>
      <p:sp>
        <p:nvSpPr>
          <p:cNvPr id="9" name="Text 7"/>
          <p:cNvSpPr/>
          <p:nvPr/>
        </p:nvSpPr>
        <p:spPr>
          <a:xfrm>
            <a:off x="502920" y="2542032"/>
            <a:ext cx="7772400" cy="411480"/>
          </a:xfrm>
          <a:prstGeom prst="rect">
            <a:avLst/>
          </a:prstGeom>
          <a:noFill/>
          <a:ln/>
        </p:spPr>
        <p:txBody>
          <a:bodyPr wrap="square" lIns="0" tIns="0" rIns="0" bIns="0" rtlCol="0" anchor="ctr"/>
          <a:lstStyle/>
          <a:p>
            <a:pPr indent="0" marL="0">
              <a:buNone/>
            </a:pPr>
            <a:r>
              <a:rPr lang="en-US" sz="1500" i="1" dirty="0">
                <a:solidFill>
                  <a:srgbClr val="F0F4F8"/>
                </a:solidFill>
                <a:latin typeface="Calibri" pitchFamily="34" charset="0"/>
                <a:ea typeface="Calibri" pitchFamily="34" charset="-122"/>
                <a:cs typeface="Calibri" pitchFamily="34" charset="-120"/>
              </a:rPr>
              <a:t>PG Partagé vs. Copie par Pipeline — Analyse complète pour la production</a:t>
            </a:r>
            <a:endParaRPr lang="en-US" sz="1500" dirty="0"/>
          </a:p>
        </p:txBody>
      </p:sp>
      <p:sp>
        <p:nvSpPr>
          <p:cNvPr id="10" name="Shape 8"/>
          <p:cNvSpPr/>
          <p:nvPr/>
        </p:nvSpPr>
        <p:spPr>
          <a:xfrm>
            <a:off x="502920" y="4206240"/>
            <a:ext cx="2011680" cy="530352"/>
          </a:xfrm>
          <a:prstGeom prst="rect">
            <a:avLst/>
          </a:prstGeom>
          <a:solidFill>
            <a:srgbClr val="028090">
              <a:alpha val="40000"/>
            </a:srgbClr>
          </a:solidFill>
          <a:ln/>
          <a:effectLst>
            <a:outerShdw sx="100000" sy="100000" kx="0" ky="0" algn="bl" rotWithShape="0" blurRad="101600" dist="38100" dir="8100000">
              <a:srgbClr val="000000">
                <a:alpha val="10000"/>
              </a:srgbClr>
            </a:outerShdw>
          </a:effectLst>
        </p:spPr>
      </p:sp>
      <p:sp>
        <p:nvSpPr>
          <p:cNvPr id="11" name="Shape 9"/>
          <p:cNvSpPr/>
          <p:nvPr/>
        </p:nvSpPr>
        <p:spPr>
          <a:xfrm>
            <a:off x="502920" y="4206240"/>
            <a:ext cx="64008" cy="530352"/>
          </a:xfrm>
          <a:prstGeom prst="rect">
            <a:avLst/>
          </a:prstGeom>
          <a:solidFill>
            <a:srgbClr val="02C39A"/>
          </a:solidFill>
          <a:ln/>
        </p:spPr>
      </p:sp>
      <p:sp>
        <p:nvSpPr>
          <p:cNvPr id="12" name="Text 10"/>
          <p:cNvSpPr/>
          <p:nvPr/>
        </p:nvSpPr>
        <p:spPr>
          <a:xfrm>
            <a:off x="640080" y="4224528"/>
            <a:ext cx="182880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Lisibilité &amp; Canvas</a:t>
            </a:r>
            <a:endParaRPr lang="en-US" sz="1000" dirty="0"/>
          </a:p>
        </p:txBody>
      </p:sp>
      <p:sp>
        <p:nvSpPr>
          <p:cNvPr id="13" name="Shape 11"/>
          <p:cNvSpPr/>
          <p:nvPr/>
        </p:nvSpPr>
        <p:spPr>
          <a:xfrm>
            <a:off x="2651760" y="4206240"/>
            <a:ext cx="2011680" cy="530352"/>
          </a:xfrm>
          <a:prstGeom prst="rect">
            <a:avLst/>
          </a:prstGeom>
          <a:solidFill>
            <a:srgbClr val="028090">
              <a:alpha val="40000"/>
            </a:srgbClr>
          </a:solidFill>
          <a:ln/>
          <a:effectLst>
            <a:outerShdw sx="100000" sy="100000" kx="0" ky="0" algn="bl" rotWithShape="0" blurRad="101600" dist="38100" dir="8100000">
              <a:srgbClr val="000000">
                <a:alpha val="10000"/>
              </a:srgbClr>
            </a:outerShdw>
          </a:effectLst>
        </p:spPr>
      </p:sp>
      <p:sp>
        <p:nvSpPr>
          <p:cNvPr id="14" name="Shape 12"/>
          <p:cNvSpPr/>
          <p:nvPr/>
        </p:nvSpPr>
        <p:spPr>
          <a:xfrm>
            <a:off x="2651760" y="4206240"/>
            <a:ext cx="64008" cy="530352"/>
          </a:xfrm>
          <a:prstGeom prst="rect">
            <a:avLst/>
          </a:prstGeom>
          <a:solidFill>
            <a:srgbClr val="02C39A"/>
          </a:solidFill>
          <a:ln/>
        </p:spPr>
      </p:sp>
      <p:sp>
        <p:nvSpPr>
          <p:cNvPr id="15" name="Text 13"/>
          <p:cNvSpPr/>
          <p:nvPr/>
        </p:nvSpPr>
        <p:spPr>
          <a:xfrm>
            <a:off x="2788920" y="4224528"/>
            <a:ext cx="182880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Débogage &amp; Pannes</a:t>
            </a:r>
            <a:endParaRPr lang="en-US" sz="1000" dirty="0"/>
          </a:p>
        </p:txBody>
      </p:sp>
      <p:sp>
        <p:nvSpPr>
          <p:cNvPr id="16" name="Shape 14"/>
          <p:cNvSpPr/>
          <p:nvPr/>
        </p:nvSpPr>
        <p:spPr>
          <a:xfrm>
            <a:off x="4800600" y="4206240"/>
            <a:ext cx="2011680" cy="530352"/>
          </a:xfrm>
          <a:prstGeom prst="rect">
            <a:avLst/>
          </a:prstGeom>
          <a:solidFill>
            <a:srgbClr val="028090">
              <a:alpha val="40000"/>
            </a:srgbClr>
          </a:solidFill>
          <a:ln/>
          <a:effectLst>
            <a:outerShdw sx="100000" sy="100000" kx="0" ky="0" algn="bl" rotWithShape="0" blurRad="101600" dist="38100" dir="8100000">
              <a:srgbClr val="000000">
                <a:alpha val="10000"/>
              </a:srgbClr>
            </a:outerShdw>
          </a:effectLst>
        </p:spPr>
      </p:sp>
      <p:sp>
        <p:nvSpPr>
          <p:cNvPr id="17" name="Shape 15"/>
          <p:cNvSpPr/>
          <p:nvPr/>
        </p:nvSpPr>
        <p:spPr>
          <a:xfrm>
            <a:off x="4800600" y="4206240"/>
            <a:ext cx="64008" cy="530352"/>
          </a:xfrm>
          <a:prstGeom prst="rect">
            <a:avLst/>
          </a:prstGeom>
          <a:solidFill>
            <a:srgbClr val="02C39A"/>
          </a:solidFill>
          <a:ln/>
        </p:spPr>
      </p:sp>
      <p:sp>
        <p:nvSpPr>
          <p:cNvPr id="18" name="Text 16"/>
          <p:cNvSpPr/>
          <p:nvPr/>
        </p:nvSpPr>
        <p:spPr>
          <a:xfrm>
            <a:off x="4937760" y="4224528"/>
            <a:ext cx="182880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Threads &amp; Performance</a:t>
            </a:r>
            <a:endParaRPr lang="en-US" sz="1000" dirty="0"/>
          </a:p>
        </p:txBody>
      </p:sp>
      <p:sp>
        <p:nvSpPr>
          <p:cNvPr id="19" name="Shape 17"/>
          <p:cNvSpPr/>
          <p:nvPr/>
        </p:nvSpPr>
        <p:spPr>
          <a:xfrm>
            <a:off x="6949440" y="4206240"/>
            <a:ext cx="2011680" cy="530352"/>
          </a:xfrm>
          <a:prstGeom prst="rect">
            <a:avLst/>
          </a:prstGeom>
          <a:solidFill>
            <a:srgbClr val="028090">
              <a:alpha val="40000"/>
            </a:srgbClr>
          </a:solidFill>
          <a:ln/>
          <a:effectLst>
            <a:outerShdw sx="100000" sy="100000" kx="0" ky="0" algn="bl" rotWithShape="0" blurRad="101600" dist="38100" dir="8100000">
              <a:srgbClr val="000000">
                <a:alpha val="10000"/>
              </a:srgbClr>
            </a:outerShdw>
          </a:effectLst>
        </p:spPr>
      </p:sp>
      <p:sp>
        <p:nvSpPr>
          <p:cNvPr id="20" name="Shape 18"/>
          <p:cNvSpPr/>
          <p:nvPr/>
        </p:nvSpPr>
        <p:spPr>
          <a:xfrm>
            <a:off x="6949440" y="4206240"/>
            <a:ext cx="64008" cy="530352"/>
          </a:xfrm>
          <a:prstGeom prst="rect">
            <a:avLst/>
          </a:prstGeom>
          <a:solidFill>
            <a:srgbClr val="02C39A"/>
          </a:solidFill>
          <a:ln/>
        </p:spPr>
      </p:sp>
      <p:sp>
        <p:nvSpPr>
          <p:cNvPr id="21" name="Text 19"/>
          <p:cNvSpPr/>
          <p:nvPr/>
        </p:nvSpPr>
        <p:spPr>
          <a:xfrm>
            <a:off x="7086600" y="4224528"/>
            <a:ext cx="182880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Bonne Architecture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B3A"/>
          </a:solidFill>
          <a:ln/>
        </p:spPr>
      </p:sp>
      <p:sp>
        <p:nvSpPr>
          <p:cNvPr id="3" name="Shape 1"/>
          <p:cNvSpPr/>
          <p:nvPr/>
        </p:nvSpPr>
        <p:spPr>
          <a:xfrm>
            <a:off x="0" y="0"/>
            <a:ext cx="164592" cy="658368"/>
          </a:xfrm>
          <a:prstGeom prst="rect">
            <a:avLst/>
          </a:prstGeom>
          <a:solidFill>
            <a:srgbClr val="02C39A"/>
          </a:solidFill>
          <a:ln/>
        </p:spPr>
      </p:sp>
      <p:sp>
        <p:nvSpPr>
          <p:cNvPr id="4" name="Text 2"/>
          <p:cNvSpPr/>
          <p:nvPr/>
        </p:nvSpPr>
        <p:spPr>
          <a:xfrm>
            <a:off x="347472" y="54864"/>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Plan de la Présentation</a:t>
            </a:r>
            <a:endParaRPr lang="en-US" sz="2200" dirty="0"/>
          </a:p>
        </p:txBody>
      </p:sp>
      <p:sp>
        <p:nvSpPr>
          <p:cNvPr id="5" name="Shape 3"/>
          <p:cNvSpPr/>
          <p:nvPr/>
        </p:nvSpPr>
        <p:spPr>
          <a:xfrm>
            <a:off x="274320" y="822960"/>
            <a:ext cx="4206240" cy="841248"/>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74320" y="822960"/>
            <a:ext cx="502920" cy="841248"/>
          </a:xfrm>
          <a:prstGeom prst="rect">
            <a:avLst/>
          </a:prstGeom>
          <a:solidFill>
            <a:srgbClr val="065A82"/>
          </a:solidFill>
          <a:ln/>
        </p:spPr>
      </p:sp>
      <p:sp>
        <p:nvSpPr>
          <p:cNvPr id="7" name="Text 5"/>
          <p:cNvSpPr/>
          <p:nvPr/>
        </p:nvSpPr>
        <p:spPr>
          <a:xfrm>
            <a:off x="274320" y="859536"/>
            <a:ext cx="502920"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8" name="Text 6"/>
          <p:cNvSpPr/>
          <p:nvPr/>
        </p:nvSpPr>
        <p:spPr>
          <a:xfrm>
            <a:off x="868680" y="896112"/>
            <a:ext cx="3520440" cy="292608"/>
          </a:xfrm>
          <a:prstGeom prst="rect">
            <a:avLst/>
          </a:prstGeom>
          <a:noFill/>
          <a:ln/>
        </p:spPr>
        <p:txBody>
          <a:bodyPr wrap="square" lIns="0" tIns="0" rIns="0" bIns="0" rtlCol="0" anchor="ctr"/>
          <a:lstStyle/>
          <a:p>
            <a:pPr indent="0" marL="0">
              <a:buNone/>
            </a:pPr>
            <a:r>
              <a:rPr lang="en-US" sz="1300" b="1" dirty="0">
                <a:solidFill>
                  <a:srgbClr val="021B3A"/>
                </a:solidFill>
                <a:latin typeface="Calibri" pitchFamily="34" charset="0"/>
                <a:ea typeface="Calibri" pitchFamily="34" charset="-122"/>
                <a:cs typeface="Calibri" pitchFamily="34" charset="-120"/>
              </a:rPr>
              <a:t>Les deux approches</a:t>
            </a:r>
            <a:endParaRPr lang="en-US" sz="1300" dirty="0"/>
          </a:p>
        </p:txBody>
      </p:sp>
      <p:sp>
        <p:nvSpPr>
          <p:cNvPr id="9" name="Text 7"/>
          <p:cNvSpPr/>
          <p:nvPr/>
        </p:nvSpPr>
        <p:spPr>
          <a:xfrm>
            <a:off x="868680" y="1225296"/>
            <a:ext cx="352044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PG Partagé vs. Copie par Pipeline — schéma visuel</a:t>
            </a:r>
            <a:endParaRPr lang="en-US" sz="900" dirty="0"/>
          </a:p>
        </p:txBody>
      </p:sp>
      <p:sp>
        <p:nvSpPr>
          <p:cNvPr id="10" name="Shape 8"/>
          <p:cNvSpPr/>
          <p:nvPr/>
        </p:nvSpPr>
        <p:spPr>
          <a:xfrm>
            <a:off x="274320" y="1847088"/>
            <a:ext cx="4206240" cy="841248"/>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1" name="Shape 9"/>
          <p:cNvSpPr/>
          <p:nvPr/>
        </p:nvSpPr>
        <p:spPr>
          <a:xfrm>
            <a:off x="274320" y="1847088"/>
            <a:ext cx="502920" cy="841248"/>
          </a:xfrm>
          <a:prstGeom prst="rect">
            <a:avLst/>
          </a:prstGeom>
          <a:solidFill>
            <a:srgbClr val="028090"/>
          </a:solidFill>
          <a:ln/>
        </p:spPr>
      </p:sp>
      <p:sp>
        <p:nvSpPr>
          <p:cNvPr id="12" name="Text 10"/>
          <p:cNvSpPr/>
          <p:nvPr/>
        </p:nvSpPr>
        <p:spPr>
          <a:xfrm>
            <a:off x="274320" y="1883664"/>
            <a:ext cx="502920"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3" name="Text 11"/>
          <p:cNvSpPr/>
          <p:nvPr/>
        </p:nvSpPr>
        <p:spPr>
          <a:xfrm>
            <a:off x="868680" y="1920240"/>
            <a:ext cx="3520440" cy="292608"/>
          </a:xfrm>
          <a:prstGeom prst="rect">
            <a:avLst/>
          </a:prstGeom>
          <a:noFill/>
          <a:ln/>
        </p:spPr>
        <p:txBody>
          <a:bodyPr wrap="square" lIns="0" tIns="0" rIns="0" bIns="0" rtlCol="0" anchor="ctr"/>
          <a:lstStyle/>
          <a:p>
            <a:pPr indent="0" marL="0">
              <a:buNone/>
            </a:pPr>
            <a:r>
              <a:rPr lang="en-US" sz="1300" b="1" dirty="0">
                <a:solidFill>
                  <a:srgbClr val="021B3A"/>
                </a:solidFill>
                <a:latin typeface="Calibri" pitchFamily="34" charset="0"/>
                <a:ea typeface="Calibri" pitchFamily="34" charset="-122"/>
                <a:cs typeface="Calibri" pitchFamily="34" charset="-120"/>
              </a:rPr>
              <a:t>Analyse par critère</a:t>
            </a:r>
            <a:endParaRPr lang="en-US" sz="1300" dirty="0"/>
          </a:p>
        </p:txBody>
      </p:sp>
      <p:sp>
        <p:nvSpPr>
          <p:cNvPr id="14" name="Text 12"/>
          <p:cNvSpPr/>
          <p:nvPr/>
        </p:nvSpPr>
        <p:spPr>
          <a:xfrm>
            <a:off x="868680" y="2249424"/>
            <a:ext cx="352044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Canvas · Débogage · Déploiement · Pannes · Scalabilité · Logique</a:t>
            </a:r>
            <a:endParaRPr lang="en-US" sz="900" dirty="0"/>
          </a:p>
        </p:txBody>
      </p:sp>
      <p:sp>
        <p:nvSpPr>
          <p:cNvPr id="15" name="Shape 13"/>
          <p:cNvSpPr/>
          <p:nvPr/>
        </p:nvSpPr>
        <p:spPr>
          <a:xfrm>
            <a:off x="274320" y="2871216"/>
            <a:ext cx="4206240" cy="841248"/>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6" name="Shape 14"/>
          <p:cNvSpPr/>
          <p:nvPr/>
        </p:nvSpPr>
        <p:spPr>
          <a:xfrm>
            <a:off x="274320" y="2871216"/>
            <a:ext cx="502920" cy="841248"/>
          </a:xfrm>
          <a:prstGeom prst="rect">
            <a:avLst/>
          </a:prstGeom>
          <a:solidFill>
            <a:srgbClr val="DD6B20"/>
          </a:solidFill>
          <a:ln/>
        </p:spPr>
      </p:sp>
      <p:sp>
        <p:nvSpPr>
          <p:cNvPr id="17" name="Text 15"/>
          <p:cNvSpPr/>
          <p:nvPr/>
        </p:nvSpPr>
        <p:spPr>
          <a:xfrm>
            <a:off x="274320" y="2907792"/>
            <a:ext cx="502920"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8" name="Text 16"/>
          <p:cNvSpPr/>
          <p:nvPr/>
        </p:nvSpPr>
        <p:spPr>
          <a:xfrm>
            <a:off x="868680" y="2944368"/>
            <a:ext cx="3520440" cy="292608"/>
          </a:xfrm>
          <a:prstGeom prst="rect">
            <a:avLst/>
          </a:prstGeom>
          <a:noFill/>
          <a:ln/>
        </p:spPr>
        <p:txBody>
          <a:bodyPr wrap="square" lIns="0" tIns="0" rIns="0" bIns="0" rtlCol="0" anchor="ctr"/>
          <a:lstStyle/>
          <a:p>
            <a:pPr indent="0" marL="0">
              <a:buNone/>
            </a:pPr>
            <a:r>
              <a:rPr lang="en-US" sz="1300" b="1" dirty="0">
                <a:solidFill>
                  <a:srgbClr val="021B3A"/>
                </a:solidFill>
                <a:latin typeface="Calibri" pitchFamily="34" charset="0"/>
                <a:ea typeface="Calibri" pitchFamily="34" charset="-122"/>
                <a:cs typeface="Calibri" pitchFamily="34" charset="-120"/>
              </a:rPr>
              <a:t>Exposer les PG en API ?</a:t>
            </a:r>
            <a:endParaRPr lang="en-US" sz="1300" dirty="0"/>
          </a:p>
        </p:txBody>
      </p:sp>
      <p:sp>
        <p:nvSpPr>
          <p:cNvPr id="19" name="Text 17"/>
          <p:cNvSpPr/>
          <p:nvPr/>
        </p:nvSpPr>
        <p:spPr>
          <a:xfrm>
            <a:off x="868680" y="3273552"/>
            <a:ext cx="352044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Pourquoi c'est une mauvaise idée dans NiFi</a:t>
            </a:r>
            <a:endParaRPr lang="en-US" sz="900" dirty="0"/>
          </a:p>
        </p:txBody>
      </p:sp>
      <p:sp>
        <p:nvSpPr>
          <p:cNvPr id="20" name="Shape 18"/>
          <p:cNvSpPr/>
          <p:nvPr/>
        </p:nvSpPr>
        <p:spPr>
          <a:xfrm>
            <a:off x="274320" y="3895344"/>
            <a:ext cx="4206240" cy="841248"/>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1" name="Shape 19"/>
          <p:cNvSpPr/>
          <p:nvPr/>
        </p:nvSpPr>
        <p:spPr>
          <a:xfrm>
            <a:off x="274320" y="3895344"/>
            <a:ext cx="502920" cy="841248"/>
          </a:xfrm>
          <a:prstGeom prst="rect">
            <a:avLst/>
          </a:prstGeom>
          <a:solidFill>
            <a:srgbClr val="6B46C1"/>
          </a:solidFill>
          <a:ln/>
        </p:spPr>
      </p:sp>
      <p:sp>
        <p:nvSpPr>
          <p:cNvPr id="22" name="Text 20"/>
          <p:cNvSpPr/>
          <p:nvPr/>
        </p:nvSpPr>
        <p:spPr>
          <a:xfrm>
            <a:off x="274320" y="3931920"/>
            <a:ext cx="502920"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3" name="Text 21"/>
          <p:cNvSpPr/>
          <p:nvPr/>
        </p:nvSpPr>
        <p:spPr>
          <a:xfrm>
            <a:off x="868680" y="3968496"/>
            <a:ext cx="3520440" cy="292608"/>
          </a:xfrm>
          <a:prstGeom prst="rect">
            <a:avLst/>
          </a:prstGeom>
          <a:noFill/>
          <a:ln/>
        </p:spPr>
        <p:txBody>
          <a:bodyPr wrap="square" lIns="0" tIns="0" rIns="0" bIns="0" rtlCol="0" anchor="ctr"/>
          <a:lstStyle/>
          <a:p>
            <a:pPr indent="0" marL="0">
              <a:buNone/>
            </a:pPr>
            <a:r>
              <a:rPr lang="en-US" sz="1300" b="1" dirty="0">
                <a:solidFill>
                  <a:srgbClr val="021B3A"/>
                </a:solidFill>
                <a:latin typeface="Calibri" pitchFamily="34" charset="0"/>
                <a:ea typeface="Calibri" pitchFamily="34" charset="-122"/>
                <a:cs typeface="Calibri" pitchFamily="34" charset="-120"/>
              </a:rPr>
              <a:t>Pourquoi NiFi est asynchrone</a:t>
            </a:r>
            <a:endParaRPr lang="en-US" sz="1300" dirty="0"/>
          </a:p>
        </p:txBody>
      </p:sp>
      <p:sp>
        <p:nvSpPr>
          <p:cNvPr id="24" name="Text 22"/>
          <p:cNvSpPr/>
          <p:nvPr/>
        </p:nvSpPr>
        <p:spPr>
          <a:xfrm>
            <a:off x="868680" y="4297680"/>
            <a:ext cx="352044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FlowFile · Threads · Back-pressure · ListenHTTP</a:t>
            </a:r>
            <a:endParaRPr lang="en-US" sz="900" dirty="0"/>
          </a:p>
        </p:txBody>
      </p:sp>
      <p:sp>
        <p:nvSpPr>
          <p:cNvPr id="25" name="Shape 23"/>
          <p:cNvSpPr/>
          <p:nvPr/>
        </p:nvSpPr>
        <p:spPr>
          <a:xfrm>
            <a:off x="4800600" y="822960"/>
            <a:ext cx="4206240" cy="841248"/>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6" name="Shape 24"/>
          <p:cNvSpPr/>
          <p:nvPr/>
        </p:nvSpPr>
        <p:spPr>
          <a:xfrm>
            <a:off x="4800600" y="822960"/>
            <a:ext cx="502920" cy="841248"/>
          </a:xfrm>
          <a:prstGeom prst="rect">
            <a:avLst/>
          </a:prstGeom>
          <a:solidFill>
            <a:srgbClr val="E53E3E"/>
          </a:solidFill>
          <a:ln/>
        </p:spPr>
      </p:sp>
      <p:sp>
        <p:nvSpPr>
          <p:cNvPr id="27" name="Text 25"/>
          <p:cNvSpPr/>
          <p:nvPr/>
        </p:nvSpPr>
        <p:spPr>
          <a:xfrm>
            <a:off x="4800600" y="859536"/>
            <a:ext cx="502920"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8" name="Text 26"/>
          <p:cNvSpPr/>
          <p:nvPr/>
        </p:nvSpPr>
        <p:spPr>
          <a:xfrm>
            <a:off x="5394960" y="896112"/>
            <a:ext cx="3520440" cy="292608"/>
          </a:xfrm>
          <a:prstGeom prst="rect">
            <a:avLst/>
          </a:prstGeom>
          <a:noFill/>
          <a:ln/>
        </p:spPr>
        <p:txBody>
          <a:bodyPr wrap="square" lIns="0" tIns="0" rIns="0" bIns="0" rtlCol="0" anchor="ctr"/>
          <a:lstStyle/>
          <a:p>
            <a:pPr indent="0" marL="0">
              <a:buNone/>
            </a:pPr>
            <a:r>
              <a:rPr lang="en-US" sz="1300" b="1" dirty="0">
                <a:solidFill>
                  <a:srgbClr val="021B3A"/>
                </a:solidFill>
                <a:latin typeface="Calibri" pitchFamily="34" charset="0"/>
                <a:ea typeface="Calibri" pitchFamily="34" charset="-122"/>
                <a:cs typeface="Calibri" pitchFamily="34" charset="-120"/>
              </a:rPr>
              <a:t>Le pool de 10 threads globaux</a:t>
            </a:r>
            <a:endParaRPr lang="en-US" sz="1300" dirty="0"/>
          </a:p>
        </p:txBody>
      </p:sp>
      <p:sp>
        <p:nvSpPr>
          <p:cNvPr id="29" name="Text 27"/>
          <p:cNvSpPr/>
          <p:nvPr/>
        </p:nvSpPr>
        <p:spPr>
          <a:xfrm>
            <a:off x="5394960" y="1225296"/>
            <a:ext cx="352044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Impact sur le PG partagé vs. copie par pipeline</a:t>
            </a:r>
            <a:endParaRPr lang="en-US" sz="900" dirty="0"/>
          </a:p>
        </p:txBody>
      </p:sp>
      <p:sp>
        <p:nvSpPr>
          <p:cNvPr id="30" name="Shape 28"/>
          <p:cNvSpPr/>
          <p:nvPr/>
        </p:nvSpPr>
        <p:spPr>
          <a:xfrm>
            <a:off x="4800600" y="1847088"/>
            <a:ext cx="4206240" cy="841248"/>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31" name="Shape 29"/>
          <p:cNvSpPr/>
          <p:nvPr/>
        </p:nvSpPr>
        <p:spPr>
          <a:xfrm>
            <a:off x="4800600" y="1847088"/>
            <a:ext cx="502920" cy="841248"/>
          </a:xfrm>
          <a:prstGeom prst="rect">
            <a:avLst/>
          </a:prstGeom>
          <a:solidFill>
            <a:srgbClr val="38A169"/>
          </a:solidFill>
          <a:ln/>
        </p:spPr>
      </p:sp>
      <p:sp>
        <p:nvSpPr>
          <p:cNvPr id="32" name="Text 30"/>
          <p:cNvSpPr/>
          <p:nvPr/>
        </p:nvSpPr>
        <p:spPr>
          <a:xfrm>
            <a:off x="4800600" y="1883664"/>
            <a:ext cx="502920"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3" name="Text 31"/>
          <p:cNvSpPr/>
          <p:nvPr/>
        </p:nvSpPr>
        <p:spPr>
          <a:xfrm>
            <a:off x="5394960" y="1920240"/>
            <a:ext cx="3520440" cy="292608"/>
          </a:xfrm>
          <a:prstGeom prst="rect">
            <a:avLst/>
          </a:prstGeom>
          <a:noFill/>
          <a:ln/>
        </p:spPr>
        <p:txBody>
          <a:bodyPr wrap="square" lIns="0" tIns="0" rIns="0" bIns="0" rtlCol="0" anchor="ctr"/>
          <a:lstStyle/>
          <a:p>
            <a:pPr indent="0" marL="0">
              <a:buNone/>
            </a:pPr>
            <a:r>
              <a:rPr lang="en-US" sz="1300" b="1" dirty="0">
                <a:solidFill>
                  <a:srgbClr val="021B3A"/>
                </a:solidFill>
                <a:latin typeface="Calibri" pitchFamily="34" charset="0"/>
                <a:ea typeface="Calibri" pitchFamily="34" charset="-122"/>
                <a:cs typeface="Calibri" pitchFamily="34" charset="-120"/>
              </a:rPr>
              <a:t>La bonne architecture</a:t>
            </a:r>
            <a:endParaRPr lang="en-US" sz="1300" dirty="0"/>
          </a:p>
        </p:txBody>
      </p:sp>
      <p:sp>
        <p:nvSpPr>
          <p:cNvPr id="34" name="Text 32"/>
          <p:cNvSpPr/>
          <p:nvPr/>
        </p:nvSpPr>
        <p:spPr>
          <a:xfrm>
            <a:off x="5394960" y="2249424"/>
            <a:ext cx="352044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Comment utiliser les PG communs directement dans les pipelines</a:t>
            </a:r>
            <a:endParaRPr lang="en-US" sz="900" dirty="0"/>
          </a:p>
        </p:txBody>
      </p:sp>
      <p:sp>
        <p:nvSpPr>
          <p:cNvPr id="35" name="Shape 33"/>
          <p:cNvSpPr/>
          <p:nvPr/>
        </p:nvSpPr>
        <p:spPr>
          <a:xfrm>
            <a:off x="4800600" y="2871216"/>
            <a:ext cx="4206240" cy="841248"/>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36" name="Shape 34"/>
          <p:cNvSpPr/>
          <p:nvPr/>
        </p:nvSpPr>
        <p:spPr>
          <a:xfrm>
            <a:off x="4800600" y="2871216"/>
            <a:ext cx="502920" cy="841248"/>
          </a:xfrm>
          <a:prstGeom prst="rect">
            <a:avLst/>
          </a:prstGeom>
          <a:solidFill>
            <a:srgbClr val="02C39A"/>
          </a:solidFill>
          <a:ln/>
        </p:spPr>
      </p:sp>
      <p:sp>
        <p:nvSpPr>
          <p:cNvPr id="37" name="Text 35"/>
          <p:cNvSpPr/>
          <p:nvPr/>
        </p:nvSpPr>
        <p:spPr>
          <a:xfrm>
            <a:off x="4800600" y="2907792"/>
            <a:ext cx="502920"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sp>
        <p:nvSpPr>
          <p:cNvPr id="38" name="Text 36"/>
          <p:cNvSpPr/>
          <p:nvPr/>
        </p:nvSpPr>
        <p:spPr>
          <a:xfrm>
            <a:off x="5394960" y="2944368"/>
            <a:ext cx="3520440" cy="292608"/>
          </a:xfrm>
          <a:prstGeom prst="rect">
            <a:avLst/>
          </a:prstGeom>
          <a:noFill/>
          <a:ln/>
        </p:spPr>
        <p:txBody>
          <a:bodyPr wrap="square" lIns="0" tIns="0" rIns="0" bIns="0" rtlCol="0" anchor="ctr"/>
          <a:lstStyle/>
          <a:p>
            <a:pPr indent="0" marL="0">
              <a:buNone/>
            </a:pPr>
            <a:r>
              <a:rPr lang="en-US" sz="1300" b="1" dirty="0">
                <a:solidFill>
                  <a:srgbClr val="021B3A"/>
                </a:solidFill>
                <a:latin typeface="Calibri" pitchFamily="34" charset="0"/>
                <a:ea typeface="Calibri" pitchFamily="34" charset="-122"/>
                <a:cs typeface="Calibri" pitchFamily="34" charset="-120"/>
              </a:rPr>
              <a:t>Recommandation &amp; Bonnes pratiques</a:t>
            </a:r>
            <a:endParaRPr lang="en-US" sz="1300" dirty="0"/>
          </a:p>
        </p:txBody>
      </p:sp>
      <p:sp>
        <p:nvSpPr>
          <p:cNvPr id="39" name="Text 37"/>
          <p:cNvSpPr/>
          <p:nvPr/>
        </p:nvSpPr>
        <p:spPr>
          <a:xfrm>
            <a:off x="5394960" y="3273552"/>
            <a:ext cx="352044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NiFi Registry · Nommage · Paramètres · Règle d'or</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B3A"/>
          </a:solidFill>
          <a:ln/>
        </p:spPr>
      </p:sp>
      <p:sp>
        <p:nvSpPr>
          <p:cNvPr id="3" name="Shape 1"/>
          <p:cNvSpPr/>
          <p:nvPr/>
        </p:nvSpPr>
        <p:spPr>
          <a:xfrm>
            <a:off x="0" y="0"/>
            <a:ext cx="164592" cy="658368"/>
          </a:xfrm>
          <a:prstGeom prst="rect">
            <a:avLst/>
          </a:prstGeom>
          <a:solidFill>
            <a:srgbClr val="065A82"/>
          </a:solidFill>
          <a:ln/>
        </p:spPr>
      </p:sp>
      <p:sp>
        <p:nvSpPr>
          <p:cNvPr id="4" name="Text 2"/>
          <p:cNvSpPr/>
          <p:nvPr/>
        </p:nvSpPr>
        <p:spPr>
          <a:xfrm>
            <a:off x="347472" y="54864"/>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01  |  Les Deux Approches</a:t>
            </a:r>
            <a:endParaRPr lang="en-US" sz="2200" dirty="0"/>
          </a:p>
        </p:txBody>
      </p:sp>
      <p:sp>
        <p:nvSpPr>
          <p:cNvPr id="5" name="Shape 3"/>
          <p:cNvSpPr/>
          <p:nvPr/>
        </p:nvSpPr>
        <p:spPr>
          <a:xfrm>
            <a:off x="274320" y="749808"/>
            <a:ext cx="3977640" cy="41605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74320" y="749808"/>
            <a:ext cx="3977640" cy="320040"/>
          </a:xfrm>
          <a:prstGeom prst="rect">
            <a:avLst/>
          </a:prstGeom>
          <a:solidFill>
            <a:srgbClr val="E53E3E"/>
          </a:solidFill>
          <a:ln/>
        </p:spPr>
      </p:sp>
      <p:sp>
        <p:nvSpPr>
          <p:cNvPr id="7" name="Text 5"/>
          <p:cNvSpPr/>
          <p:nvPr/>
        </p:nvSpPr>
        <p:spPr>
          <a:xfrm>
            <a:off x="320040" y="749808"/>
            <a:ext cx="3886200" cy="320040"/>
          </a:xfrm>
          <a:prstGeom prst="rect">
            <a:avLst/>
          </a:prstGeom>
          <a:noFill/>
          <a:ln/>
        </p:spPr>
        <p:txBody>
          <a:bodyPr wrap="square" lIns="50800" tIns="50800" rIns="50800" bIns="5080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PG Commun Partagé — style microservices</a:t>
            </a:r>
            <a:endParaRPr lang="en-US" sz="1100" dirty="0"/>
          </a:p>
        </p:txBody>
      </p:sp>
      <p:sp>
        <p:nvSpPr>
          <p:cNvPr id="8" name="Shape 6"/>
          <p:cNvSpPr/>
          <p:nvPr/>
        </p:nvSpPr>
        <p:spPr>
          <a:xfrm>
            <a:off x="502920" y="1207008"/>
            <a:ext cx="3520440" cy="384048"/>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9" name="Shape 7"/>
          <p:cNvSpPr/>
          <p:nvPr/>
        </p:nvSpPr>
        <p:spPr>
          <a:xfrm>
            <a:off x="502920" y="1207008"/>
            <a:ext cx="64008" cy="384048"/>
          </a:xfrm>
          <a:prstGeom prst="rect">
            <a:avLst/>
          </a:prstGeom>
          <a:solidFill>
            <a:srgbClr val="E53E3E"/>
          </a:solidFill>
          <a:ln/>
        </p:spPr>
      </p:sp>
      <p:sp>
        <p:nvSpPr>
          <p:cNvPr id="10" name="Text 8"/>
          <p:cNvSpPr/>
          <p:nvPr/>
        </p:nvSpPr>
        <p:spPr>
          <a:xfrm>
            <a:off x="658368" y="1225296"/>
            <a:ext cx="3200400" cy="347472"/>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PG Erreurs (partagé)</a:t>
            </a:r>
            <a:endParaRPr lang="en-US" sz="1000" dirty="0"/>
          </a:p>
        </p:txBody>
      </p:sp>
      <p:sp>
        <p:nvSpPr>
          <p:cNvPr id="11" name="Shape 9"/>
          <p:cNvSpPr/>
          <p:nvPr/>
        </p:nvSpPr>
        <p:spPr>
          <a:xfrm>
            <a:off x="502920" y="1682496"/>
            <a:ext cx="3520440" cy="384048"/>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12" name="Shape 10"/>
          <p:cNvSpPr/>
          <p:nvPr/>
        </p:nvSpPr>
        <p:spPr>
          <a:xfrm>
            <a:off x="502920" y="1682496"/>
            <a:ext cx="64008" cy="384048"/>
          </a:xfrm>
          <a:prstGeom prst="rect">
            <a:avLst/>
          </a:prstGeom>
          <a:solidFill>
            <a:srgbClr val="E53E3E"/>
          </a:solidFill>
          <a:ln/>
        </p:spPr>
      </p:sp>
      <p:sp>
        <p:nvSpPr>
          <p:cNvPr id="13" name="Text 11"/>
          <p:cNvSpPr/>
          <p:nvPr/>
        </p:nvSpPr>
        <p:spPr>
          <a:xfrm>
            <a:off x="658368" y="1700784"/>
            <a:ext cx="3200400" cy="347472"/>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PG Logging (partagé)</a:t>
            </a:r>
            <a:endParaRPr lang="en-US" sz="1000" dirty="0"/>
          </a:p>
        </p:txBody>
      </p:sp>
      <p:sp>
        <p:nvSpPr>
          <p:cNvPr id="14" name="Shape 12"/>
          <p:cNvSpPr/>
          <p:nvPr/>
        </p:nvSpPr>
        <p:spPr>
          <a:xfrm>
            <a:off x="502920" y="2157984"/>
            <a:ext cx="3520440" cy="384048"/>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15" name="Shape 13"/>
          <p:cNvSpPr/>
          <p:nvPr/>
        </p:nvSpPr>
        <p:spPr>
          <a:xfrm>
            <a:off x="502920" y="2157984"/>
            <a:ext cx="64008" cy="384048"/>
          </a:xfrm>
          <a:prstGeom prst="rect">
            <a:avLst/>
          </a:prstGeom>
          <a:solidFill>
            <a:srgbClr val="E53E3E"/>
          </a:solidFill>
          <a:ln/>
        </p:spPr>
      </p:sp>
      <p:sp>
        <p:nvSpPr>
          <p:cNvPr id="16" name="Text 14"/>
          <p:cNvSpPr/>
          <p:nvPr/>
        </p:nvSpPr>
        <p:spPr>
          <a:xfrm>
            <a:off x="658368" y="2176272"/>
            <a:ext cx="3200400" cy="347472"/>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PG Validation (partagé)</a:t>
            </a:r>
            <a:endParaRPr lang="en-US" sz="1000" dirty="0"/>
          </a:p>
        </p:txBody>
      </p:sp>
      <p:sp>
        <p:nvSpPr>
          <p:cNvPr id="17" name="Shape 15"/>
          <p:cNvSpPr/>
          <p:nvPr/>
        </p:nvSpPr>
        <p:spPr>
          <a:xfrm>
            <a:off x="502920" y="2633472"/>
            <a:ext cx="3520440" cy="384048"/>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18" name="Shape 16"/>
          <p:cNvSpPr/>
          <p:nvPr/>
        </p:nvSpPr>
        <p:spPr>
          <a:xfrm>
            <a:off x="502920" y="2633472"/>
            <a:ext cx="64008" cy="384048"/>
          </a:xfrm>
          <a:prstGeom prst="rect">
            <a:avLst/>
          </a:prstGeom>
          <a:solidFill>
            <a:srgbClr val="E53E3E"/>
          </a:solidFill>
          <a:ln/>
        </p:spPr>
      </p:sp>
      <p:sp>
        <p:nvSpPr>
          <p:cNvPr id="19" name="Text 17"/>
          <p:cNvSpPr/>
          <p:nvPr/>
        </p:nvSpPr>
        <p:spPr>
          <a:xfrm>
            <a:off x="658368" y="2651760"/>
            <a:ext cx="3200400" cy="347472"/>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PG Enrichissement (partagé)</a:t>
            </a:r>
            <a:endParaRPr lang="en-US" sz="1000" dirty="0"/>
          </a:p>
        </p:txBody>
      </p:sp>
      <p:sp>
        <p:nvSpPr>
          <p:cNvPr id="20" name="Shape 18"/>
          <p:cNvSpPr/>
          <p:nvPr/>
        </p:nvSpPr>
        <p:spPr>
          <a:xfrm>
            <a:off x="502920" y="3154680"/>
            <a:ext cx="1097280" cy="201168"/>
          </a:xfrm>
          <a:prstGeom prst="rect">
            <a:avLst/>
          </a:prstGeom>
          <a:solidFill>
            <a:srgbClr val="065A82">
              <a:alpha val="70000"/>
            </a:srgbClr>
          </a:solidFill>
          <a:ln/>
        </p:spPr>
      </p:sp>
      <p:sp>
        <p:nvSpPr>
          <p:cNvPr id="21" name="Text 19"/>
          <p:cNvSpPr/>
          <p:nvPr/>
        </p:nvSpPr>
        <p:spPr>
          <a:xfrm>
            <a:off x="502920" y="3154680"/>
            <a:ext cx="109728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Pipeline A →</a:t>
            </a:r>
            <a:endParaRPr lang="en-US" sz="800" dirty="0"/>
          </a:p>
        </p:txBody>
      </p:sp>
      <p:sp>
        <p:nvSpPr>
          <p:cNvPr id="22" name="Shape 20"/>
          <p:cNvSpPr/>
          <p:nvPr/>
        </p:nvSpPr>
        <p:spPr>
          <a:xfrm>
            <a:off x="502920" y="3429000"/>
            <a:ext cx="1097280" cy="201168"/>
          </a:xfrm>
          <a:prstGeom prst="rect">
            <a:avLst/>
          </a:prstGeom>
          <a:solidFill>
            <a:srgbClr val="065A82">
              <a:alpha val="70000"/>
            </a:srgbClr>
          </a:solidFill>
          <a:ln/>
        </p:spPr>
      </p:sp>
      <p:sp>
        <p:nvSpPr>
          <p:cNvPr id="23" name="Text 21"/>
          <p:cNvSpPr/>
          <p:nvPr/>
        </p:nvSpPr>
        <p:spPr>
          <a:xfrm>
            <a:off x="502920" y="3429000"/>
            <a:ext cx="109728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Pipeline B →</a:t>
            </a:r>
            <a:endParaRPr lang="en-US" sz="800" dirty="0"/>
          </a:p>
        </p:txBody>
      </p:sp>
      <p:sp>
        <p:nvSpPr>
          <p:cNvPr id="24" name="Shape 22"/>
          <p:cNvSpPr/>
          <p:nvPr/>
        </p:nvSpPr>
        <p:spPr>
          <a:xfrm>
            <a:off x="502920" y="3703320"/>
            <a:ext cx="1097280" cy="201168"/>
          </a:xfrm>
          <a:prstGeom prst="rect">
            <a:avLst/>
          </a:prstGeom>
          <a:solidFill>
            <a:srgbClr val="065A82">
              <a:alpha val="70000"/>
            </a:srgbClr>
          </a:solidFill>
          <a:ln/>
        </p:spPr>
      </p:sp>
      <p:sp>
        <p:nvSpPr>
          <p:cNvPr id="25" name="Text 23"/>
          <p:cNvSpPr/>
          <p:nvPr/>
        </p:nvSpPr>
        <p:spPr>
          <a:xfrm>
            <a:off x="502920" y="3703320"/>
            <a:ext cx="109728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Pipeline C →</a:t>
            </a:r>
            <a:endParaRPr lang="en-US" sz="800" dirty="0"/>
          </a:p>
        </p:txBody>
      </p:sp>
      <p:sp>
        <p:nvSpPr>
          <p:cNvPr id="26" name="Text 24"/>
          <p:cNvSpPr/>
          <p:nvPr/>
        </p:nvSpPr>
        <p:spPr>
          <a:xfrm>
            <a:off x="365760" y="4041648"/>
            <a:ext cx="3749040" cy="658368"/>
          </a:xfrm>
          <a:prstGeom prst="rect">
            <a:avLst/>
          </a:prstGeom>
          <a:noFill/>
          <a:ln/>
        </p:spPr>
        <p:txBody>
          <a:bodyPr wrap="square" lIns="50800" tIns="50800" rIns="50800" bIns="50800" rtlCol="0" anchor="ctr"/>
          <a:lstStyle/>
          <a:p>
            <a:pPr indent="0" marL="0">
              <a:buNone/>
            </a:pPr>
            <a:r>
              <a:rPr lang="en-US" sz="1000" i="1" dirty="0">
                <a:solidFill>
                  <a:srgbClr val="E53E3E"/>
                </a:solidFill>
                <a:latin typeface="Calibri" pitchFamily="34" charset="0"/>
                <a:ea typeface="Calibri" pitchFamily="34" charset="-122"/>
                <a:cs typeface="Calibri" pitchFamily="34" charset="-120"/>
              </a:rPr>
              <a:t>⚠ Flèches dans tous les sens</a:t>
            </a:r>
            <a:endParaRPr lang="en-US" sz="1000" dirty="0"/>
          </a:p>
          <a:p>
            <a:pPr indent="0" marL="0">
              <a:buNone/>
            </a:pPr>
            <a:r>
              <a:rPr lang="en-US" sz="1000" i="1" dirty="0">
                <a:solidFill>
                  <a:srgbClr val="E53E3E"/>
                </a:solidFill>
                <a:latin typeface="Calibri" pitchFamily="34" charset="0"/>
                <a:ea typeface="Calibri" pitchFamily="34" charset="-122"/>
                <a:cs typeface="Calibri" pitchFamily="34" charset="-120"/>
              </a:rPr>
              <a:t>3 pipelines × 4 PG = chaos visuel</a:t>
            </a:r>
            <a:endParaRPr lang="en-US" sz="1000" dirty="0"/>
          </a:p>
        </p:txBody>
      </p:sp>
      <p:sp>
        <p:nvSpPr>
          <p:cNvPr id="27" name="Shape 25"/>
          <p:cNvSpPr/>
          <p:nvPr/>
        </p:nvSpPr>
        <p:spPr>
          <a:xfrm>
            <a:off x="4617720" y="749808"/>
            <a:ext cx="4251960" cy="41605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8" name="Shape 26"/>
          <p:cNvSpPr/>
          <p:nvPr/>
        </p:nvSpPr>
        <p:spPr>
          <a:xfrm>
            <a:off x="4617720" y="749808"/>
            <a:ext cx="4251960" cy="320040"/>
          </a:xfrm>
          <a:prstGeom prst="rect">
            <a:avLst/>
          </a:prstGeom>
          <a:solidFill>
            <a:srgbClr val="38A169"/>
          </a:solidFill>
          <a:ln/>
        </p:spPr>
      </p:sp>
      <p:sp>
        <p:nvSpPr>
          <p:cNvPr id="29" name="Text 27"/>
          <p:cNvSpPr/>
          <p:nvPr/>
        </p:nvSpPr>
        <p:spPr>
          <a:xfrm>
            <a:off x="4663440" y="749808"/>
            <a:ext cx="4160520" cy="320040"/>
          </a:xfrm>
          <a:prstGeom prst="rect">
            <a:avLst/>
          </a:prstGeom>
          <a:noFill/>
          <a:ln/>
        </p:spPr>
        <p:txBody>
          <a:bodyPr wrap="square" lIns="50800" tIns="50800" rIns="50800" bIns="5080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Copie par Pipeline — auto-contenu</a:t>
            </a:r>
            <a:endParaRPr lang="en-US" sz="1100" dirty="0"/>
          </a:p>
        </p:txBody>
      </p:sp>
      <p:sp>
        <p:nvSpPr>
          <p:cNvPr id="30" name="Shape 28"/>
          <p:cNvSpPr/>
          <p:nvPr/>
        </p:nvSpPr>
        <p:spPr>
          <a:xfrm>
            <a:off x="4800600" y="1207008"/>
            <a:ext cx="3840480" cy="86868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31" name="Shape 29"/>
          <p:cNvSpPr/>
          <p:nvPr/>
        </p:nvSpPr>
        <p:spPr>
          <a:xfrm>
            <a:off x="4800600" y="1207008"/>
            <a:ext cx="64008" cy="868680"/>
          </a:xfrm>
          <a:prstGeom prst="rect">
            <a:avLst/>
          </a:prstGeom>
          <a:solidFill>
            <a:srgbClr val="065A82"/>
          </a:solidFill>
          <a:ln/>
        </p:spPr>
      </p:sp>
      <p:sp>
        <p:nvSpPr>
          <p:cNvPr id="32" name="Text 30"/>
          <p:cNvSpPr/>
          <p:nvPr/>
        </p:nvSpPr>
        <p:spPr>
          <a:xfrm>
            <a:off x="4937760" y="1225296"/>
            <a:ext cx="3566160" cy="274320"/>
          </a:xfrm>
          <a:prstGeom prst="rect">
            <a:avLst/>
          </a:prstGeom>
          <a:noFill/>
          <a:ln/>
        </p:spPr>
        <p:txBody>
          <a:bodyPr wrap="square" lIns="0" tIns="0" rIns="0" bIns="0" rtlCol="0" anchor="ctr"/>
          <a:lstStyle/>
          <a:p>
            <a:pPr indent="0" marL="0">
              <a:buNone/>
            </a:pPr>
            <a:r>
              <a:rPr lang="en-US" sz="1200" b="1" dirty="0">
                <a:solidFill>
                  <a:srgbClr val="021B3A"/>
                </a:solidFill>
                <a:latin typeface="Calibri" pitchFamily="34" charset="0"/>
                <a:ea typeface="Calibri" pitchFamily="34" charset="-122"/>
                <a:cs typeface="Calibri" pitchFamily="34" charset="-120"/>
              </a:rPr>
              <a:t>Pipeline A</a:t>
            </a:r>
            <a:endParaRPr lang="en-US" sz="1200" dirty="0"/>
          </a:p>
        </p:txBody>
      </p:sp>
      <p:sp>
        <p:nvSpPr>
          <p:cNvPr id="33" name="Text 31"/>
          <p:cNvSpPr/>
          <p:nvPr/>
        </p:nvSpPr>
        <p:spPr>
          <a:xfrm>
            <a:off x="4937760" y="1527048"/>
            <a:ext cx="3566160" cy="22860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PG Erreurs + Logging + Validation + Enrichissement</a:t>
            </a:r>
            <a:endParaRPr lang="en-US" sz="800" dirty="0"/>
          </a:p>
        </p:txBody>
      </p:sp>
      <p:sp>
        <p:nvSpPr>
          <p:cNvPr id="34" name="Shape 32"/>
          <p:cNvSpPr/>
          <p:nvPr/>
        </p:nvSpPr>
        <p:spPr>
          <a:xfrm>
            <a:off x="4800600" y="2194560"/>
            <a:ext cx="3840480" cy="86868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35" name="Shape 33"/>
          <p:cNvSpPr/>
          <p:nvPr/>
        </p:nvSpPr>
        <p:spPr>
          <a:xfrm>
            <a:off x="4800600" y="2194560"/>
            <a:ext cx="64008" cy="868680"/>
          </a:xfrm>
          <a:prstGeom prst="rect">
            <a:avLst/>
          </a:prstGeom>
          <a:solidFill>
            <a:srgbClr val="028090"/>
          </a:solidFill>
          <a:ln/>
        </p:spPr>
      </p:sp>
      <p:sp>
        <p:nvSpPr>
          <p:cNvPr id="36" name="Text 34"/>
          <p:cNvSpPr/>
          <p:nvPr/>
        </p:nvSpPr>
        <p:spPr>
          <a:xfrm>
            <a:off x="4937760" y="2212848"/>
            <a:ext cx="3566160" cy="274320"/>
          </a:xfrm>
          <a:prstGeom prst="rect">
            <a:avLst/>
          </a:prstGeom>
          <a:noFill/>
          <a:ln/>
        </p:spPr>
        <p:txBody>
          <a:bodyPr wrap="square" lIns="0" tIns="0" rIns="0" bIns="0" rtlCol="0" anchor="ctr"/>
          <a:lstStyle/>
          <a:p>
            <a:pPr indent="0" marL="0">
              <a:buNone/>
            </a:pPr>
            <a:r>
              <a:rPr lang="en-US" sz="1200" b="1" dirty="0">
                <a:solidFill>
                  <a:srgbClr val="021B3A"/>
                </a:solidFill>
                <a:latin typeface="Calibri" pitchFamily="34" charset="0"/>
                <a:ea typeface="Calibri" pitchFamily="34" charset="-122"/>
                <a:cs typeface="Calibri" pitchFamily="34" charset="-120"/>
              </a:rPr>
              <a:t>Pipeline B</a:t>
            </a:r>
            <a:endParaRPr lang="en-US" sz="1200" dirty="0"/>
          </a:p>
        </p:txBody>
      </p:sp>
      <p:sp>
        <p:nvSpPr>
          <p:cNvPr id="37" name="Text 35"/>
          <p:cNvSpPr/>
          <p:nvPr/>
        </p:nvSpPr>
        <p:spPr>
          <a:xfrm>
            <a:off x="4937760" y="2514600"/>
            <a:ext cx="3566160" cy="22860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PG Erreurs + Logging + Validation + Enrichissement</a:t>
            </a:r>
            <a:endParaRPr lang="en-US" sz="800" dirty="0"/>
          </a:p>
        </p:txBody>
      </p:sp>
      <p:sp>
        <p:nvSpPr>
          <p:cNvPr id="38" name="Shape 36"/>
          <p:cNvSpPr/>
          <p:nvPr/>
        </p:nvSpPr>
        <p:spPr>
          <a:xfrm>
            <a:off x="4800600" y="3182112"/>
            <a:ext cx="3840480" cy="86868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39" name="Shape 37"/>
          <p:cNvSpPr/>
          <p:nvPr/>
        </p:nvSpPr>
        <p:spPr>
          <a:xfrm>
            <a:off x="4800600" y="3182112"/>
            <a:ext cx="64008" cy="868680"/>
          </a:xfrm>
          <a:prstGeom prst="rect">
            <a:avLst/>
          </a:prstGeom>
          <a:solidFill>
            <a:srgbClr val="6B46C1"/>
          </a:solidFill>
          <a:ln/>
        </p:spPr>
      </p:sp>
      <p:sp>
        <p:nvSpPr>
          <p:cNvPr id="40" name="Text 38"/>
          <p:cNvSpPr/>
          <p:nvPr/>
        </p:nvSpPr>
        <p:spPr>
          <a:xfrm>
            <a:off x="4937760" y="3200400"/>
            <a:ext cx="3566160" cy="274320"/>
          </a:xfrm>
          <a:prstGeom prst="rect">
            <a:avLst/>
          </a:prstGeom>
          <a:noFill/>
          <a:ln/>
        </p:spPr>
        <p:txBody>
          <a:bodyPr wrap="square" lIns="0" tIns="0" rIns="0" bIns="0" rtlCol="0" anchor="ctr"/>
          <a:lstStyle/>
          <a:p>
            <a:pPr indent="0" marL="0">
              <a:buNone/>
            </a:pPr>
            <a:r>
              <a:rPr lang="en-US" sz="1200" b="1" dirty="0">
                <a:solidFill>
                  <a:srgbClr val="021B3A"/>
                </a:solidFill>
                <a:latin typeface="Calibri" pitchFamily="34" charset="0"/>
                <a:ea typeface="Calibri" pitchFamily="34" charset="-122"/>
                <a:cs typeface="Calibri" pitchFamily="34" charset="-120"/>
              </a:rPr>
              <a:t>Pipeline C</a:t>
            </a:r>
            <a:endParaRPr lang="en-US" sz="1200" dirty="0"/>
          </a:p>
        </p:txBody>
      </p:sp>
      <p:sp>
        <p:nvSpPr>
          <p:cNvPr id="41" name="Text 39"/>
          <p:cNvSpPr/>
          <p:nvPr/>
        </p:nvSpPr>
        <p:spPr>
          <a:xfrm>
            <a:off x="4937760" y="3502152"/>
            <a:ext cx="3566160" cy="22860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PG Erreurs + Logging + Validation + Enrichissement</a:t>
            </a:r>
            <a:endParaRPr lang="en-US" sz="800" dirty="0"/>
          </a:p>
        </p:txBody>
      </p:sp>
      <p:sp>
        <p:nvSpPr>
          <p:cNvPr id="42" name="Text 40"/>
          <p:cNvSpPr/>
          <p:nvPr/>
        </p:nvSpPr>
        <p:spPr>
          <a:xfrm>
            <a:off x="4709160" y="4041648"/>
            <a:ext cx="4023360" cy="658368"/>
          </a:xfrm>
          <a:prstGeom prst="rect">
            <a:avLst/>
          </a:prstGeom>
          <a:noFill/>
          <a:ln/>
        </p:spPr>
        <p:txBody>
          <a:bodyPr wrap="square" lIns="50800" tIns="50800" rIns="50800" bIns="50800" rtlCol="0" anchor="ctr"/>
          <a:lstStyle/>
          <a:p>
            <a:pPr indent="0" marL="0">
              <a:buNone/>
            </a:pPr>
            <a:r>
              <a:rPr lang="en-US" sz="1000" i="1" dirty="0">
                <a:solidFill>
                  <a:srgbClr val="38A169"/>
                </a:solidFill>
                <a:latin typeface="Calibri" pitchFamily="34" charset="0"/>
                <a:ea typeface="Calibri" pitchFamily="34" charset="-122"/>
                <a:cs typeface="Calibri" pitchFamily="34" charset="-120"/>
              </a:rPr>
              <a:t>✓ Chaque pipeline = bloc fermé</a:t>
            </a:r>
            <a:endParaRPr lang="en-US" sz="1000" dirty="0"/>
          </a:p>
          <a:p>
            <a:pPr indent="0" marL="0">
              <a:buNone/>
            </a:pPr>
            <a:r>
              <a:rPr lang="en-US" sz="1000" i="1" dirty="0">
                <a:solidFill>
                  <a:srgbClr val="38A169"/>
                </a:solidFill>
                <a:latin typeface="Calibri" pitchFamily="34" charset="0"/>
                <a:ea typeface="Calibri" pitchFamily="34" charset="-122"/>
                <a:cs typeface="Calibri" pitchFamily="34" charset="-120"/>
              </a:rPr>
              <a:t>FlowFiles restent locaux, aucune dépendance externe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B3A"/>
          </a:solidFill>
          <a:ln/>
        </p:spPr>
      </p:sp>
      <p:sp>
        <p:nvSpPr>
          <p:cNvPr id="3" name="Shape 1"/>
          <p:cNvSpPr/>
          <p:nvPr/>
        </p:nvSpPr>
        <p:spPr>
          <a:xfrm>
            <a:off x="0" y="0"/>
            <a:ext cx="164592" cy="658368"/>
          </a:xfrm>
          <a:prstGeom prst="rect">
            <a:avLst/>
          </a:prstGeom>
          <a:solidFill>
            <a:srgbClr val="028090"/>
          </a:solidFill>
          <a:ln/>
        </p:spPr>
      </p:sp>
      <p:sp>
        <p:nvSpPr>
          <p:cNvPr id="4" name="Text 2"/>
          <p:cNvSpPr/>
          <p:nvPr/>
        </p:nvSpPr>
        <p:spPr>
          <a:xfrm>
            <a:off x="347472" y="54864"/>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02  |  Analyse par Critère — Vue d'ensemble</a:t>
            </a:r>
            <a:endParaRPr lang="en-US" sz="2200" dirty="0"/>
          </a:p>
        </p:txBody>
      </p:sp>
      <p:sp>
        <p:nvSpPr>
          <p:cNvPr id="5" name="Shape 3"/>
          <p:cNvSpPr/>
          <p:nvPr/>
        </p:nvSpPr>
        <p:spPr>
          <a:xfrm>
            <a:off x="274320" y="777240"/>
            <a:ext cx="8595360" cy="365760"/>
          </a:xfrm>
          <a:prstGeom prst="rect">
            <a:avLst/>
          </a:prstGeom>
          <a:solidFill>
            <a:srgbClr val="021B3A"/>
          </a:solidFill>
          <a:ln/>
        </p:spPr>
      </p:sp>
      <p:sp>
        <p:nvSpPr>
          <p:cNvPr id="6" name="Text 4"/>
          <p:cNvSpPr/>
          <p:nvPr/>
        </p:nvSpPr>
        <p:spPr>
          <a:xfrm>
            <a:off x="320040" y="777240"/>
            <a:ext cx="2834640" cy="365760"/>
          </a:xfrm>
          <a:prstGeom prst="rect">
            <a:avLst/>
          </a:prstGeom>
          <a:noFill/>
          <a:ln/>
        </p:spPr>
        <p:txBody>
          <a:bodyPr wrap="square" lIns="50800" tIns="50800" rIns="50800" bIns="5080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Critère</a:t>
            </a:r>
            <a:endParaRPr lang="en-US" sz="1100" dirty="0"/>
          </a:p>
        </p:txBody>
      </p:sp>
      <p:sp>
        <p:nvSpPr>
          <p:cNvPr id="7" name="Text 5"/>
          <p:cNvSpPr/>
          <p:nvPr/>
        </p:nvSpPr>
        <p:spPr>
          <a:xfrm>
            <a:off x="3182112" y="777240"/>
            <a:ext cx="2743200" cy="365760"/>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PG Partagé</a:t>
            </a:r>
            <a:endParaRPr lang="en-US" sz="1100" dirty="0"/>
          </a:p>
        </p:txBody>
      </p:sp>
      <p:sp>
        <p:nvSpPr>
          <p:cNvPr id="8" name="Text 6"/>
          <p:cNvSpPr/>
          <p:nvPr/>
        </p:nvSpPr>
        <p:spPr>
          <a:xfrm>
            <a:off x="5961888" y="777240"/>
            <a:ext cx="2852928" cy="365760"/>
          </a:xfrm>
          <a:prstGeom prst="rect">
            <a:avLst/>
          </a:prstGeom>
          <a:no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Copie par Pipeline</a:t>
            </a:r>
            <a:endParaRPr lang="en-US" sz="1100" dirty="0"/>
          </a:p>
        </p:txBody>
      </p:sp>
      <p:sp>
        <p:nvSpPr>
          <p:cNvPr id="9" name="Shape 7"/>
          <p:cNvSpPr/>
          <p:nvPr/>
        </p:nvSpPr>
        <p:spPr>
          <a:xfrm>
            <a:off x="274320" y="1170432"/>
            <a:ext cx="8595360" cy="502920"/>
          </a:xfrm>
          <a:prstGeom prst="rect">
            <a:avLst/>
          </a:prstGeom>
          <a:solidFill>
            <a:srgbClr val="FFFFFF"/>
          </a:solidFill>
          <a:ln/>
        </p:spPr>
      </p:sp>
      <p:sp>
        <p:nvSpPr>
          <p:cNvPr id="10" name="Text 8"/>
          <p:cNvSpPr/>
          <p:nvPr/>
        </p:nvSpPr>
        <p:spPr>
          <a:xfrm>
            <a:off x="347472" y="1170432"/>
            <a:ext cx="2788920" cy="502920"/>
          </a:xfrm>
          <a:prstGeom prst="rect">
            <a:avLst/>
          </a:prstGeom>
          <a:noFill/>
          <a:ln/>
        </p:spPr>
        <p:txBody>
          <a:bodyPr wrap="square" lIns="50800" tIns="50800" rIns="50800" bIns="5080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Lisibilité du Canvas</a:t>
            </a:r>
            <a:endParaRPr lang="en-US" sz="1100" dirty="0"/>
          </a:p>
        </p:txBody>
      </p:sp>
      <p:sp>
        <p:nvSpPr>
          <p:cNvPr id="11" name="Shape 9"/>
          <p:cNvSpPr/>
          <p:nvPr/>
        </p:nvSpPr>
        <p:spPr>
          <a:xfrm>
            <a:off x="3182112" y="1225296"/>
            <a:ext cx="2697480" cy="384048"/>
          </a:xfrm>
          <a:prstGeom prst="rect">
            <a:avLst/>
          </a:prstGeom>
          <a:solidFill>
            <a:srgbClr val="FFF5F5"/>
          </a:solidFill>
          <a:ln/>
        </p:spPr>
      </p:sp>
      <p:sp>
        <p:nvSpPr>
          <p:cNvPr id="12" name="Text 10"/>
          <p:cNvSpPr/>
          <p:nvPr/>
        </p:nvSpPr>
        <p:spPr>
          <a:xfrm>
            <a:off x="3200400" y="1225296"/>
            <a:ext cx="2660904"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Toile d'araignée</a:t>
            </a:r>
            <a:endParaRPr lang="en-US" sz="1000" dirty="0"/>
          </a:p>
        </p:txBody>
      </p:sp>
      <p:sp>
        <p:nvSpPr>
          <p:cNvPr id="13" name="Shape 11"/>
          <p:cNvSpPr/>
          <p:nvPr/>
        </p:nvSpPr>
        <p:spPr>
          <a:xfrm>
            <a:off x="5961888" y="1225296"/>
            <a:ext cx="2816352" cy="384048"/>
          </a:xfrm>
          <a:prstGeom prst="rect">
            <a:avLst/>
          </a:prstGeom>
          <a:solidFill>
            <a:srgbClr val="F0FFF4"/>
          </a:solidFill>
          <a:ln/>
        </p:spPr>
      </p:sp>
      <p:sp>
        <p:nvSpPr>
          <p:cNvPr id="14" name="Text 12"/>
          <p:cNvSpPr/>
          <p:nvPr/>
        </p:nvSpPr>
        <p:spPr>
          <a:xfrm>
            <a:off x="5980176" y="1225296"/>
            <a:ext cx="2779776"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Propre et isolé</a:t>
            </a:r>
            <a:endParaRPr lang="en-US" sz="1000" dirty="0"/>
          </a:p>
        </p:txBody>
      </p:sp>
      <p:sp>
        <p:nvSpPr>
          <p:cNvPr id="15" name="Shape 13"/>
          <p:cNvSpPr/>
          <p:nvPr/>
        </p:nvSpPr>
        <p:spPr>
          <a:xfrm>
            <a:off x="274320" y="1737360"/>
            <a:ext cx="8595360" cy="502920"/>
          </a:xfrm>
          <a:prstGeom prst="rect">
            <a:avLst/>
          </a:prstGeom>
          <a:solidFill>
            <a:srgbClr val="F0F4F8"/>
          </a:solidFill>
          <a:ln/>
        </p:spPr>
      </p:sp>
      <p:sp>
        <p:nvSpPr>
          <p:cNvPr id="16" name="Text 14"/>
          <p:cNvSpPr/>
          <p:nvPr/>
        </p:nvSpPr>
        <p:spPr>
          <a:xfrm>
            <a:off x="347472" y="1737360"/>
            <a:ext cx="2788920" cy="502920"/>
          </a:xfrm>
          <a:prstGeom prst="rect">
            <a:avLst/>
          </a:prstGeom>
          <a:noFill/>
          <a:ln/>
        </p:spPr>
        <p:txBody>
          <a:bodyPr wrap="square" lIns="50800" tIns="50800" rIns="50800" bIns="5080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Débogage</a:t>
            </a:r>
            <a:endParaRPr lang="en-US" sz="1100" dirty="0"/>
          </a:p>
        </p:txBody>
      </p:sp>
      <p:sp>
        <p:nvSpPr>
          <p:cNvPr id="17" name="Shape 15"/>
          <p:cNvSpPr/>
          <p:nvPr/>
        </p:nvSpPr>
        <p:spPr>
          <a:xfrm>
            <a:off x="3182112" y="1792224"/>
            <a:ext cx="2697480" cy="384048"/>
          </a:xfrm>
          <a:prstGeom prst="rect">
            <a:avLst/>
          </a:prstGeom>
          <a:solidFill>
            <a:srgbClr val="FFF5F5"/>
          </a:solidFill>
          <a:ln/>
        </p:spPr>
      </p:sp>
      <p:sp>
        <p:nvSpPr>
          <p:cNvPr id="18" name="Text 16"/>
          <p:cNvSpPr/>
          <p:nvPr/>
        </p:nvSpPr>
        <p:spPr>
          <a:xfrm>
            <a:off x="3200400" y="1792224"/>
            <a:ext cx="2660904"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30-60 min minimum</a:t>
            </a:r>
            <a:endParaRPr lang="en-US" sz="1000" dirty="0"/>
          </a:p>
        </p:txBody>
      </p:sp>
      <p:sp>
        <p:nvSpPr>
          <p:cNvPr id="19" name="Shape 17"/>
          <p:cNvSpPr/>
          <p:nvPr/>
        </p:nvSpPr>
        <p:spPr>
          <a:xfrm>
            <a:off x="5961888" y="1792224"/>
            <a:ext cx="2816352" cy="384048"/>
          </a:xfrm>
          <a:prstGeom prst="rect">
            <a:avLst/>
          </a:prstGeom>
          <a:solidFill>
            <a:srgbClr val="F0FFF4"/>
          </a:solidFill>
          <a:ln/>
        </p:spPr>
      </p:sp>
      <p:sp>
        <p:nvSpPr>
          <p:cNvPr id="20" name="Text 18"/>
          <p:cNvSpPr/>
          <p:nvPr/>
        </p:nvSpPr>
        <p:spPr>
          <a:xfrm>
            <a:off x="5980176" y="1792224"/>
            <a:ext cx="2779776"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2-5 min ciblé</a:t>
            </a:r>
            <a:endParaRPr lang="en-US" sz="1000" dirty="0"/>
          </a:p>
        </p:txBody>
      </p:sp>
      <p:sp>
        <p:nvSpPr>
          <p:cNvPr id="21" name="Shape 19"/>
          <p:cNvSpPr/>
          <p:nvPr/>
        </p:nvSpPr>
        <p:spPr>
          <a:xfrm>
            <a:off x="274320" y="2304288"/>
            <a:ext cx="8595360" cy="502920"/>
          </a:xfrm>
          <a:prstGeom prst="rect">
            <a:avLst/>
          </a:prstGeom>
          <a:solidFill>
            <a:srgbClr val="FFFFFF"/>
          </a:solidFill>
          <a:ln/>
        </p:spPr>
      </p:sp>
      <p:sp>
        <p:nvSpPr>
          <p:cNvPr id="22" name="Text 20"/>
          <p:cNvSpPr/>
          <p:nvPr/>
        </p:nvSpPr>
        <p:spPr>
          <a:xfrm>
            <a:off x="347472" y="2304288"/>
            <a:ext cx="2788920" cy="502920"/>
          </a:xfrm>
          <a:prstGeom prst="rect">
            <a:avLst/>
          </a:prstGeom>
          <a:noFill/>
          <a:ln/>
        </p:spPr>
        <p:txBody>
          <a:bodyPr wrap="square" lIns="50800" tIns="50800" rIns="50800" bIns="5080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Déploiement</a:t>
            </a:r>
            <a:endParaRPr lang="en-US" sz="1100" dirty="0"/>
          </a:p>
        </p:txBody>
      </p:sp>
      <p:sp>
        <p:nvSpPr>
          <p:cNvPr id="23" name="Shape 21"/>
          <p:cNvSpPr/>
          <p:nvPr/>
        </p:nvSpPr>
        <p:spPr>
          <a:xfrm>
            <a:off x="3182112" y="2359152"/>
            <a:ext cx="2697480" cy="384048"/>
          </a:xfrm>
          <a:prstGeom prst="rect">
            <a:avLst/>
          </a:prstGeom>
          <a:solidFill>
            <a:srgbClr val="FFF5F5"/>
          </a:solidFill>
          <a:ln/>
        </p:spPr>
      </p:sp>
      <p:sp>
        <p:nvSpPr>
          <p:cNvPr id="24" name="Text 22"/>
          <p:cNvSpPr/>
          <p:nvPr/>
        </p:nvSpPr>
        <p:spPr>
          <a:xfrm>
            <a:off x="3200400" y="2359152"/>
            <a:ext cx="2660904"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Impact global</a:t>
            </a:r>
            <a:endParaRPr lang="en-US" sz="1000" dirty="0"/>
          </a:p>
        </p:txBody>
      </p:sp>
      <p:sp>
        <p:nvSpPr>
          <p:cNvPr id="25" name="Shape 23"/>
          <p:cNvSpPr/>
          <p:nvPr/>
        </p:nvSpPr>
        <p:spPr>
          <a:xfrm>
            <a:off x="5961888" y="2359152"/>
            <a:ext cx="2816352" cy="384048"/>
          </a:xfrm>
          <a:prstGeom prst="rect">
            <a:avLst/>
          </a:prstGeom>
          <a:solidFill>
            <a:srgbClr val="F0FFF4"/>
          </a:solidFill>
          <a:ln/>
        </p:spPr>
      </p:sp>
      <p:sp>
        <p:nvSpPr>
          <p:cNvPr id="26" name="Text 24"/>
          <p:cNvSpPr/>
          <p:nvPr/>
        </p:nvSpPr>
        <p:spPr>
          <a:xfrm>
            <a:off x="5980176" y="2359152"/>
            <a:ext cx="2779776"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Chirurgical</a:t>
            </a:r>
            <a:endParaRPr lang="en-US" sz="1000" dirty="0"/>
          </a:p>
        </p:txBody>
      </p:sp>
      <p:sp>
        <p:nvSpPr>
          <p:cNvPr id="27" name="Shape 25"/>
          <p:cNvSpPr/>
          <p:nvPr/>
        </p:nvSpPr>
        <p:spPr>
          <a:xfrm>
            <a:off x="274320" y="2871216"/>
            <a:ext cx="8595360" cy="502920"/>
          </a:xfrm>
          <a:prstGeom prst="rect">
            <a:avLst/>
          </a:prstGeom>
          <a:solidFill>
            <a:srgbClr val="F0F4F8"/>
          </a:solidFill>
          <a:ln/>
        </p:spPr>
      </p:sp>
      <p:sp>
        <p:nvSpPr>
          <p:cNvPr id="28" name="Text 26"/>
          <p:cNvSpPr/>
          <p:nvPr/>
        </p:nvSpPr>
        <p:spPr>
          <a:xfrm>
            <a:off x="347472" y="2871216"/>
            <a:ext cx="2788920" cy="502920"/>
          </a:xfrm>
          <a:prstGeom prst="rect">
            <a:avLst/>
          </a:prstGeom>
          <a:noFill/>
          <a:ln/>
        </p:spPr>
        <p:txBody>
          <a:bodyPr wrap="square" lIns="50800" tIns="50800" rIns="50800" bIns="5080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Isolation des pannes</a:t>
            </a:r>
            <a:endParaRPr lang="en-US" sz="1100" dirty="0"/>
          </a:p>
        </p:txBody>
      </p:sp>
      <p:sp>
        <p:nvSpPr>
          <p:cNvPr id="29" name="Shape 27"/>
          <p:cNvSpPr/>
          <p:nvPr/>
        </p:nvSpPr>
        <p:spPr>
          <a:xfrm>
            <a:off x="3182112" y="2926080"/>
            <a:ext cx="2697480" cy="384048"/>
          </a:xfrm>
          <a:prstGeom prst="rect">
            <a:avLst/>
          </a:prstGeom>
          <a:solidFill>
            <a:srgbClr val="FFF5F5"/>
          </a:solidFill>
          <a:ln/>
        </p:spPr>
      </p:sp>
      <p:sp>
        <p:nvSpPr>
          <p:cNvPr id="30" name="Text 28"/>
          <p:cNvSpPr/>
          <p:nvPr/>
        </p:nvSpPr>
        <p:spPr>
          <a:xfrm>
            <a:off x="3200400" y="2926080"/>
            <a:ext cx="2660904"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Blast radius total</a:t>
            </a:r>
            <a:endParaRPr lang="en-US" sz="1000" dirty="0"/>
          </a:p>
        </p:txBody>
      </p:sp>
      <p:sp>
        <p:nvSpPr>
          <p:cNvPr id="31" name="Shape 29"/>
          <p:cNvSpPr/>
          <p:nvPr/>
        </p:nvSpPr>
        <p:spPr>
          <a:xfrm>
            <a:off x="5961888" y="2926080"/>
            <a:ext cx="2816352" cy="384048"/>
          </a:xfrm>
          <a:prstGeom prst="rect">
            <a:avLst/>
          </a:prstGeom>
          <a:solidFill>
            <a:srgbClr val="F0FFF4"/>
          </a:solidFill>
          <a:ln/>
        </p:spPr>
      </p:sp>
      <p:sp>
        <p:nvSpPr>
          <p:cNvPr id="32" name="Text 30"/>
          <p:cNvSpPr/>
          <p:nvPr/>
        </p:nvSpPr>
        <p:spPr>
          <a:xfrm>
            <a:off x="5980176" y="2926080"/>
            <a:ext cx="2779776"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Limité au pipeline</a:t>
            </a:r>
            <a:endParaRPr lang="en-US" sz="1000" dirty="0"/>
          </a:p>
        </p:txBody>
      </p:sp>
      <p:sp>
        <p:nvSpPr>
          <p:cNvPr id="33" name="Shape 31"/>
          <p:cNvSpPr/>
          <p:nvPr/>
        </p:nvSpPr>
        <p:spPr>
          <a:xfrm>
            <a:off x="274320" y="3438144"/>
            <a:ext cx="8595360" cy="502920"/>
          </a:xfrm>
          <a:prstGeom prst="rect">
            <a:avLst/>
          </a:prstGeom>
          <a:solidFill>
            <a:srgbClr val="FFFFFF"/>
          </a:solidFill>
          <a:ln/>
        </p:spPr>
      </p:sp>
      <p:sp>
        <p:nvSpPr>
          <p:cNvPr id="34" name="Text 32"/>
          <p:cNvSpPr/>
          <p:nvPr/>
        </p:nvSpPr>
        <p:spPr>
          <a:xfrm>
            <a:off x="347472" y="3438144"/>
            <a:ext cx="2788920" cy="502920"/>
          </a:xfrm>
          <a:prstGeom prst="rect">
            <a:avLst/>
          </a:prstGeom>
          <a:noFill/>
          <a:ln/>
        </p:spPr>
        <p:txBody>
          <a:bodyPr wrap="square" lIns="50800" tIns="50800" rIns="50800" bIns="5080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Scalabilité</a:t>
            </a:r>
            <a:endParaRPr lang="en-US" sz="1100" dirty="0"/>
          </a:p>
        </p:txBody>
      </p:sp>
      <p:sp>
        <p:nvSpPr>
          <p:cNvPr id="35" name="Shape 33"/>
          <p:cNvSpPr/>
          <p:nvPr/>
        </p:nvSpPr>
        <p:spPr>
          <a:xfrm>
            <a:off x="3182112" y="3493008"/>
            <a:ext cx="2697480" cy="384048"/>
          </a:xfrm>
          <a:prstGeom prst="rect">
            <a:avLst/>
          </a:prstGeom>
          <a:solidFill>
            <a:srgbClr val="FFF5F5"/>
          </a:solidFill>
          <a:ln/>
        </p:spPr>
      </p:sp>
      <p:sp>
        <p:nvSpPr>
          <p:cNvPr id="36" name="Text 34"/>
          <p:cNvSpPr/>
          <p:nvPr/>
        </p:nvSpPr>
        <p:spPr>
          <a:xfrm>
            <a:off x="3200400" y="3493008"/>
            <a:ext cx="2660904"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Threads partagés</a:t>
            </a:r>
            <a:endParaRPr lang="en-US" sz="1000" dirty="0"/>
          </a:p>
        </p:txBody>
      </p:sp>
      <p:sp>
        <p:nvSpPr>
          <p:cNvPr id="37" name="Shape 35"/>
          <p:cNvSpPr/>
          <p:nvPr/>
        </p:nvSpPr>
        <p:spPr>
          <a:xfrm>
            <a:off x="5961888" y="3493008"/>
            <a:ext cx="2816352" cy="384048"/>
          </a:xfrm>
          <a:prstGeom prst="rect">
            <a:avLst/>
          </a:prstGeom>
          <a:solidFill>
            <a:srgbClr val="F0FFF4"/>
          </a:solidFill>
          <a:ln/>
        </p:spPr>
      </p:sp>
      <p:sp>
        <p:nvSpPr>
          <p:cNvPr id="38" name="Text 36"/>
          <p:cNvSpPr/>
          <p:nvPr/>
        </p:nvSpPr>
        <p:spPr>
          <a:xfrm>
            <a:off x="5980176" y="3493008"/>
            <a:ext cx="2779776"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Indépendante</a:t>
            </a:r>
            <a:endParaRPr lang="en-US" sz="1000" dirty="0"/>
          </a:p>
        </p:txBody>
      </p:sp>
      <p:sp>
        <p:nvSpPr>
          <p:cNvPr id="39" name="Shape 37"/>
          <p:cNvSpPr/>
          <p:nvPr/>
        </p:nvSpPr>
        <p:spPr>
          <a:xfrm>
            <a:off x="274320" y="4005072"/>
            <a:ext cx="8595360" cy="502920"/>
          </a:xfrm>
          <a:prstGeom prst="rect">
            <a:avLst/>
          </a:prstGeom>
          <a:solidFill>
            <a:srgbClr val="F0F4F8"/>
          </a:solidFill>
          <a:ln/>
        </p:spPr>
      </p:sp>
      <p:sp>
        <p:nvSpPr>
          <p:cNvPr id="40" name="Text 38"/>
          <p:cNvSpPr/>
          <p:nvPr/>
        </p:nvSpPr>
        <p:spPr>
          <a:xfrm>
            <a:off x="347472" y="4005072"/>
            <a:ext cx="2788920" cy="502920"/>
          </a:xfrm>
          <a:prstGeom prst="rect">
            <a:avLst/>
          </a:prstGeom>
          <a:noFill/>
          <a:ln/>
        </p:spPr>
        <p:txBody>
          <a:bodyPr wrap="square" lIns="50800" tIns="50800" rIns="50800" bIns="5080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Mise à jour logique</a:t>
            </a:r>
            <a:endParaRPr lang="en-US" sz="1100" dirty="0"/>
          </a:p>
        </p:txBody>
      </p:sp>
      <p:sp>
        <p:nvSpPr>
          <p:cNvPr id="41" name="Shape 39"/>
          <p:cNvSpPr/>
          <p:nvPr/>
        </p:nvSpPr>
        <p:spPr>
          <a:xfrm>
            <a:off x="3182112" y="4059936"/>
            <a:ext cx="2697480" cy="384048"/>
          </a:xfrm>
          <a:prstGeom prst="rect">
            <a:avLst/>
          </a:prstGeom>
          <a:solidFill>
            <a:srgbClr val="F0FFF4"/>
          </a:solidFill>
          <a:ln/>
        </p:spPr>
      </p:sp>
      <p:sp>
        <p:nvSpPr>
          <p:cNvPr id="42" name="Text 40"/>
          <p:cNvSpPr/>
          <p:nvPr/>
        </p:nvSpPr>
        <p:spPr>
          <a:xfrm>
            <a:off x="3200400" y="4059936"/>
            <a:ext cx="2660904"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Une seule fois</a:t>
            </a:r>
            <a:endParaRPr lang="en-US" sz="1000" dirty="0"/>
          </a:p>
        </p:txBody>
      </p:sp>
      <p:sp>
        <p:nvSpPr>
          <p:cNvPr id="43" name="Shape 41"/>
          <p:cNvSpPr/>
          <p:nvPr/>
        </p:nvSpPr>
        <p:spPr>
          <a:xfrm>
            <a:off x="5961888" y="4059936"/>
            <a:ext cx="2816352" cy="384048"/>
          </a:xfrm>
          <a:prstGeom prst="rect">
            <a:avLst/>
          </a:prstGeom>
          <a:solidFill>
            <a:srgbClr val="FFFAF0"/>
          </a:solidFill>
          <a:ln/>
        </p:spPr>
      </p:sp>
      <p:sp>
        <p:nvSpPr>
          <p:cNvPr id="44" name="Text 42"/>
          <p:cNvSpPr/>
          <p:nvPr/>
        </p:nvSpPr>
        <p:spPr>
          <a:xfrm>
            <a:off x="5980176" y="4059936"/>
            <a:ext cx="2779776" cy="384048"/>
          </a:xfrm>
          <a:prstGeom prst="rect">
            <a:avLst/>
          </a:prstGeom>
          <a:noFill/>
          <a:ln/>
        </p:spPr>
        <p:txBody>
          <a:bodyPr wrap="square" lIns="25400" tIns="25400" rIns="25400" bIns="25400" rtlCol="0" anchor="ctr"/>
          <a:lstStyle/>
          <a:p>
            <a:pPr algn="ctr" indent="0" marL="0">
              <a:buNone/>
            </a:pPr>
            <a:r>
              <a:rPr lang="en-US" sz="1000" dirty="0">
                <a:solidFill>
                  <a:srgbClr val="021B3A"/>
                </a:solidFill>
                <a:latin typeface="Calibri" pitchFamily="34" charset="0"/>
                <a:ea typeface="Calibri" pitchFamily="34" charset="-122"/>
                <a:cs typeface="Calibri" pitchFamily="34" charset="-120"/>
              </a:rPr>
              <a:t>⚠️  Via NiFi Registry</a:t>
            </a:r>
            <a:endParaRPr lang="en-US" sz="1000" dirty="0"/>
          </a:p>
        </p:txBody>
      </p:sp>
      <p:sp>
        <p:nvSpPr>
          <p:cNvPr id="45" name="Shape 43"/>
          <p:cNvSpPr/>
          <p:nvPr/>
        </p:nvSpPr>
        <p:spPr>
          <a:xfrm>
            <a:off x="274320" y="4617720"/>
            <a:ext cx="8595360" cy="347472"/>
          </a:xfrm>
          <a:prstGeom prst="rect">
            <a:avLst/>
          </a:prstGeom>
          <a:solidFill>
            <a:srgbClr val="021B3A"/>
          </a:solidFill>
          <a:ln/>
        </p:spPr>
      </p:sp>
      <p:sp>
        <p:nvSpPr>
          <p:cNvPr id="46" name="Text 44"/>
          <p:cNvSpPr/>
          <p:nvPr/>
        </p:nvSpPr>
        <p:spPr>
          <a:xfrm>
            <a:off x="347472" y="4617720"/>
            <a:ext cx="2788920" cy="347472"/>
          </a:xfrm>
          <a:prstGeom prst="rect">
            <a:avLst/>
          </a:prstGeom>
          <a:noFill/>
          <a:ln/>
        </p:spPr>
        <p:txBody>
          <a:bodyPr wrap="square" lIns="50800" tIns="50800" rIns="50800" bIns="5080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Score Final</a:t>
            </a:r>
            <a:endParaRPr lang="en-US" sz="1200" dirty="0"/>
          </a:p>
        </p:txBody>
      </p:sp>
      <p:sp>
        <p:nvSpPr>
          <p:cNvPr id="47" name="Text 45"/>
          <p:cNvSpPr/>
          <p:nvPr/>
        </p:nvSpPr>
        <p:spPr>
          <a:xfrm>
            <a:off x="3182112" y="4617720"/>
            <a:ext cx="2697480" cy="347472"/>
          </a:xfrm>
          <a:prstGeom prst="rect">
            <a:avLst/>
          </a:prstGeom>
          <a:noFill/>
          <a:ln/>
        </p:spPr>
        <p:txBody>
          <a:bodyPr wrap="square" lIns="50800" tIns="50800" rIns="50800" bIns="50800" rtlCol="0" anchor="ctr"/>
          <a:lstStyle/>
          <a:p>
            <a:pPr algn="ctr" indent="0" marL="0">
              <a:buNone/>
            </a:pPr>
            <a:r>
              <a:rPr lang="en-US" sz="1400" b="1" dirty="0">
                <a:solidFill>
                  <a:srgbClr val="DD6B20"/>
                </a:solidFill>
                <a:latin typeface="Calibri" pitchFamily="34" charset="0"/>
                <a:ea typeface="Calibri" pitchFamily="34" charset="-122"/>
                <a:cs typeface="Calibri" pitchFamily="34" charset="-120"/>
              </a:rPr>
              <a:t>1 / 6</a:t>
            </a:r>
            <a:endParaRPr lang="en-US" sz="1400" dirty="0"/>
          </a:p>
        </p:txBody>
      </p:sp>
      <p:sp>
        <p:nvSpPr>
          <p:cNvPr id="48" name="Text 46"/>
          <p:cNvSpPr/>
          <p:nvPr/>
        </p:nvSpPr>
        <p:spPr>
          <a:xfrm>
            <a:off x="5961888" y="4617720"/>
            <a:ext cx="2816352" cy="347472"/>
          </a:xfrm>
          <a:prstGeom prst="rect">
            <a:avLst/>
          </a:prstGeom>
          <a:noFill/>
          <a:ln/>
        </p:spPr>
        <p:txBody>
          <a:bodyPr wrap="square" lIns="50800" tIns="50800" rIns="50800" bIns="50800"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5 / 6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B3A"/>
          </a:solidFill>
          <a:ln/>
        </p:spPr>
      </p:sp>
      <p:sp>
        <p:nvSpPr>
          <p:cNvPr id="3" name="Shape 1"/>
          <p:cNvSpPr/>
          <p:nvPr/>
        </p:nvSpPr>
        <p:spPr>
          <a:xfrm>
            <a:off x="0" y="0"/>
            <a:ext cx="164592" cy="658368"/>
          </a:xfrm>
          <a:prstGeom prst="rect">
            <a:avLst/>
          </a:prstGeom>
          <a:solidFill>
            <a:srgbClr val="028090"/>
          </a:solidFill>
          <a:ln/>
        </p:spPr>
      </p:sp>
      <p:sp>
        <p:nvSpPr>
          <p:cNvPr id="4" name="Text 2"/>
          <p:cNvSpPr/>
          <p:nvPr/>
        </p:nvSpPr>
        <p:spPr>
          <a:xfrm>
            <a:off x="347472" y="54864"/>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02  |  Lisibilité Canvas &amp; Débogage — Exemples concrets</a:t>
            </a:r>
            <a:endParaRPr lang="en-US" sz="2200" dirty="0"/>
          </a:p>
        </p:txBody>
      </p:sp>
      <p:sp>
        <p:nvSpPr>
          <p:cNvPr id="5" name="Shape 3"/>
          <p:cNvSpPr/>
          <p:nvPr/>
        </p:nvSpPr>
        <p:spPr>
          <a:xfrm>
            <a:off x="274320" y="749808"/>
            <a:ext cx="3977640" cy="1993392"/>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74320" y="749808"/>
            <a:ext cx="3977640" cy="292608"/>
          </a:xfrm>
          <a:prstGeom prst="rect">
            <a:avLst/>
          </a:prstGeom>
          <a:solidFill>
            <a:srgbClr val="E53E3E"/>
          </a:solidFill>
          <a:ln/>
        </p:spPr>
      </p:sp>
      <p:sp>
        <p:nvSpPr>
          <p:cNvPr id="7" name="Text 5"/>
          <p:cNvSpPr/>
          <p:nvPr/>
        </p:nvSpPr>
        <p:spPr>
          <a:xfrm>
            <a:off x="320040" y="749808"/>
            <a:ext cx="38862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Canvas Partagé</a:t>
            </a:r>
            <a:endParaRPr lang="en-US" sz="1100" dirty="0"/>
          </a:p>
        </p:txBody>
      </p:sp>
      <p:sp>
        <p:nvSpPr>
          <p:cNvPr id="8" name="Text 6"/>
          <p:cNvSpPr/>
          <p:nvPr/>
        </p:nvSpPr>
        <p:spPr>
          <a:xfrm>
            <a:off x="365760" y="1097280"/>
            <a:ext cx="3794760" cy="1508760"/>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Tu ouvres NiFi un lundi matin pour investiguer un incident. Tu vois 50 flèches qui se croisent dans tous les sens. Tu passes 20 minutes juste à comprendre quel flux appartient à quel pipeline avant même de commencer le vrai diagnostic.</a:t>
            </a:r>
            <a:endParaRPr lang="en-US" sz="1000" dirty="0"/>
          </a:p>
        </p:txBody>
      </p:sp>
      <p:sp>
        <p:nvSpPr>
          <p:cNvPr id="9" name="Shape 7"/>
          <p:cNvSpPr/>
          <p:nvPr/>
        </p:nvSpPr>
        <p:spPr>
          <a:xfrm>
            <a:off x="4617720" y="749808"/>
            <a:ext cx="4251960" cy="1993392"/>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0" name="Shape 8"/>
          <p:cNvSpPr/>
          <p:nvPr/>
        </p:nvSpPr>
        <p:spPr>
          <a:xfrm>
            <a:off x="4617720" y="749808"/>
            <a:ext cx="4251960" cy="292608"/>
          </a:xfrm>
          <a:prstGeom prst="rect">
            <a:avLst/>
          </a:prstGeom>
          <a:solidFill>
            <a:srgbClr val="38A169"/>
          </a:solidFill>
          <a:ln/>
        </p:spPr>
      </p:sp>
      <p:sp>
        <p:nvSpPr>
          <p:cNvPr id="11" name="Text 9"/>
          <p:cNvSpPr/>
          <p:nvPr/>
        </p:nvSpPr>
        <p:spPr>
          <a:xfrm>
            <a:off x="4663440" y="749808"/>
            <a:ext cx="41605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Canvas Copie par Pipeline</a:t>
            </a:r>
            <a:endParaRPr lang="en-US" sz="1100" dirty="0"/>
          </a:p>
        </p:txBody>
      </p:sp>
      <p:sp>
        <p:nvSpPr>
          <p:cNvPr id="12" name="Text 10"/>
          <p:cNvSpPr/>
          <p:nvPr/>
        </p:nvSpPr>
        <p:spPr>
          <a:xfrm>
            <a:off x="4709160" y="1097280"/>
            <a:ext cx="4069080" cy="1508760"/>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Même incident. Tu cliques directement sur Pipeline A. Tu vois son flux complet de bout en bout, sans aucune dépendance externe visible. Tu identifies le processeur en rouge en quelques secondes.</a:t>
            </a:r>
            <a:endParaRPr lang="en-US" sz="1000" dirty="0"/>
          </a:p>
        </p:txBody>
      </p:sp>
      <p:sp>
        <p:nvSpPr>
          <p:cNvPr id="13" name="Shape 11"/>
          <p:cNvSpPr/>
          <p:nvPr/>
        </p:nvSpPr>
        <p:spPr>
          <a:xfrm>
            <a:off x="274320" y="2834640"/>
            <a:ext cx="3977640" cy="2029968"/>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4" name="Shape 12"/>
          <p:cNvSpPr/>
          <p:nvPr/>
        </p:nvSpPr>
        <p:spPr>
          <a:xfrm>
            <a:off x="274320" y="2834640"/>
            <a:ext cx="3977640" cy="292608"/>
          </a:xfrm>
          <a:prstGeom prst="rect">
            <a:avLst/>
          </a:prstGeom>
          <a:solidFill>
            <a:srgbClr val="E53E3E"/>
          </a:solidFill>
          <a:ln/>
        </p:spPr>
      </p:sp>
      <p:sp>
        <p:nvSpPr>
          <p:cNvPr id="15" name="Text 13"/>
          <p:cNvSpPr/>
          <p:nvPr/>
        </p:nvSpPr>
        <p:spPr>
          <a:xfrm>
            <a:off x="320040" y="2834640"/>
            <a:ext cx="38862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Débogage Partagé</a:t>
            </a:r>
            <a:endParaRPr lang="en-US" sz="1100" dirty="0"/>
          </a:p>
        </p:txBody>
      </p:sp>
      <p:sp>
        <p:nvSpPr>
          <p:cNvPr id="16" name="Text 14"/>
          <p:cNvSpPr/>
          <p:nvPr/>
        </p:nvSpPr>
        <p:spPr>
          <a:xfrm>
            <a:off x="365760" y="3182112"/>
            <a:ext cx="3794760" cy="566928"/>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PG Enrichissement en back-pressure. Est-ce A ? B ? C ?</a:t>
            </a:r>
            <a:endParaRPr lang="en-US" sz="1000" dirty="0"/>
          </a:p>
          <a:p>
            <a:pPr indent="0" marL="0">
              <a:buNone/>
            </a:pPr>
            <a:r>
              <a:rPr lang="en-US" sz="1000" dirty="0">
                <a:solidFill>
                  <a:srgbClr val="021B3A"/>
                </a:solidFill>
                <a:latin typeface="Calibri" pitchFamily="34" charset="0"/>
                <a:ea typeface="Calibri" pitchFamily="34" charset="-122"/>
                <a:cs typeface="Calibri" pitchFamily="34" charset="-120"/>
              </a:rPr>
              <a:t>Analyse simultanée des 3 pipelines pendant que TOUT est bloqué.</a:t>
            </a:r>
            <a:endParaRPr lang="en-US" sz="1000" dirty="0"/>
          </a:p>
        </p:txBody>
      </p:sp>
      <p:sp>
        <p:nvSpPr>
          <p:cNvPr id="17" name="Shape 15"/>
          <p:cNvSpPr/>
          <p:nvPr/>
        </p:nvSpPr>
        <p:spPr>
          <a:xfrm>
            <a:off x="365760" y="3794760"/>
            <a:ext cx="3794760" cy="237744"/>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18" name="Shape 16"/>
          <p:cNvSpPr/>
          <p:nvPr/>
        </p:nvSpPr>
        <p:spPr>
          <a:xfrm>
            <a:off x="365760" y="3794760"/>
            <a:ext cx="64008" cy="237744"/>
          </a:xfrm>
          <a:prstGeom prst="rect">
            <a:avLst/>
          </a:prstGeom>
          <a:solidFill>
            <a:srgbClr val="DD6B20"/>
          </a:solidFill>
          <a:ln/>
        </p:spPr>
      </p:sp>
      <p:sp>
        <p:nvSpPr>
          <p:cNvPr id="19" name="Text 17"/>
          <p:cNvSpPr/>
          <p:nvPr/>
        </p:nvSpPr>
        <p:spPr>
          <a:xfrm>
            <a:off x="502920" y="3794760"/>
            <a:ext cx="3611880" cy="237744"/>
          </a:xfrm>
          <a:prstGeom prst="rect">
            <a:avLst/>
          </a:prstGeom>
          <a:noFill/>
          <a:ln/>
        </p:spPr>
        <p:txBody>
          <a:bodyPr wrap="square" lIns="50800" tIns="50800" rIns="50800" bIns="50800" rtlCol="0" anchor="ctr"/>
          <a:lstStyle/>
          <a:p>
            <a:pPr indent="0" marL="0">
              <a:buNone/>
            </a:pPr>
            <a:r>
              <a:rPr lang="en-US" sz="900" dirty="0">
                <a:solidFill>
                  <a:srgbClr val="021B3A"/>
                </a:solidFill>
                <a:latin typeface="Calibri" pitchFamily="34" charset="0"/>
                <a:ea typeface="Calibri" pitchFamily="34" charset="-122"/>
                <a:cs typeface="Calibri" pitchFamily="34" charset="-120"/>
              </a:rPr>
              <a:t>? Pipeline A envoie trop de données ?</a:t>
            </a:r>
            <a:endParaRPr lang="en-US" sz="900" dirty="0"/>
          </a:p>
        </p:txBody>
      </p:sp>
      <p:sp>
        <p:nvSpPr>
          <p:cNvPr id="20" name="Shape 18"/>
          <p:cNvSpPr/>
          <p:nvPr/>
        </p:nvSpPr>
        <p:spPr>
          <a:xfrm>
            <a:off x="365760" y="4069080"/>
            <a:ext cx="3794760" cy="237744"/>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21" name="Shape 19"/>
          <p:cNvSpPr/>
          <p:nvPr/>
        </p:nvSpPr>
        <p:spPr>
          <a:xfrm>
            <a:off x="365760" y="4069080"/>
            <a:ext cx="64008" cy="237744"/>
          </a:xfrm>
          <a:prstGeom prst="rect">
            <a:avLst/>
          </a:prstGeom>
          <a:solidFill>
            <a:srgbClr val="DD6B20"/>
          </a:solidFill>
          <a:ln/>
        </p:spPr>
      </p:sp>
      <p:sp>
        <p:nvSpPr>
          <p:cNvPr id="22" name="Text 20"/>
          <p:cNvSpPr/>
          <p:nvPr/>
        </p:nvSpPr>
        <p:spPr>
          <a:xfrm>
            <a:off x="502920" y="4069080"/>
            <a:ext cx="3611880" cy="237744"/>
          </a:xfrm>
          <a:prstGeom prst="rect">
            <a:avLst/>
          </a:prstGeom>
          <a:noFill/>
          <a:ln/>
        </p:spPr>
        <p:txBody>
          <a:bodyPr wrap="square" lIns="50800" tIns="50800" rIns="50800" bIns="50800" rtlCol="0" anchor="ctr"/>
          <a:lstStyle/>
          <a:p>
            <a:pPr indent="0" marL="0">
              <a:buNone/>
            </a:pPr>
            <a:r>
              <a:rPr lang="en-US" sz="900" dirty="0">
                <a:solidFill>
                  <a:srgbClr val="021B3A"/>
                </a:solidFill>
                <a:latin typeface="Calibri" pitchFamily="34" charset="0"/>
                <a:ea typeface="Calibri" pitchFamily="34" charset="-122"/>
                <a:cs typeface="Calibri" pitchFamily="34" charset="-120"/>
              </a:rPr>
              <a:t>? Pipeline B a un mauvais format ?</a:t>
            </a:r>
            <a:endParaRPr lang="en-US" sz="900" dirty="0"/>
          </a:p>
        </p:txBody>
      </p:sp>
      <p:sp>
        <p:nvSpPr>
          <p:cNvPr id="23" name="Shape 21"/>
          <p:cNvSpPr/>
          <p:nvPr/>
        </p:nvSpPr>
        <p:spPr>
          <a:xfrm>
            <a:off x="365760" y="4343400"/>
            <a:ext cx="3794760" cy="237744"/>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24" name="Shape 22"/>
          <p:cNvSpPr/>
          <p:nvPr/>
        </p:nvSpPr>
        <p:spPr>
          <a:xfrm>
            <a:off x="365760" y="4343400"/>
            <a:ext cx="64008" cy="237744"/>
          </a:xfrm>
          <a:prstGeom prst="rect">
            <a:avLst/>
          </a:prstGeom>
          <a:solidFill>
            <a:srgbClr val="DD6B20"/>
          </a:solidFill>
          <a:ln/>
        </p:spPr>
      </p:sp>
      <p:sp>
        <p:nvSpPr>
          <p:cNvPr id="25" name="Text 23"/>
          <p:cNvSpPr/>
          <p:nvPr/>
        </p:nvSpPr>
        <p:spPr>
          <a:xfrm>
            <a:off x="502920" y="4343400"/>
            <a:ext cx="3611880" cy="237744"/>
          </a:xfrm>
          <a:prstGeom prst="rect">
            <a:avLst/>
          </a:prstGeom>
          <a:noFill/>
          <a:ln/>
        </p:spPr>
        <p:txBody>
          <a:bodyPr wrap="square" lIns="50800" tIns="50800" rIns="50800" bIns="50800" rtlCol="0" anchor="ctr"/>
          <a:lstStyle/>
          <a:p>
            <a:pPr indent="0" marL="0">
              <a:buNone/>
            </a:pPr>
            <a:r>
              <a:rPr lang="en-US" sz="900" dirty="0">
                <a:solidFill>
                  <a:srgbClr val="021B3A"/>
                </a:solidFill>
                <a:latin typeface="Calibri" pitchFamily="34" charset="0"/>
                <a:ea typeface="Calibri" pitchFamily="34" charset="-122"/>
                <a:cs typeface="Calibri" pitchFamily="34" charset="-120"/>
              </a:rPr>
              <a:t>? Pipeline C attend une API externe ?</a:t>
            </a:r>
            <a:endParaRPr lang="en-US" sz="900" dirty="0"/>
          </a:p>
        </p:txBody>
      </p:sp>
      <p:sp>
        <p:nvSpPr>
          <p:cNvPr id="26" name="Text 24"/>
          <p:cNvSpPr/>
          <p:nvPr/>
        </p:nvSpPr>
        <p:spPr>
          <a:xfrm>
            <a:off x="365760" y="4645152"/>
            <a:ext cx="3794760" cy="182880"/>
          </a:xfrm>
          <a:prstGeom prst="rect">
            <a:avLst/>
          </a:prstGeom>
          <a:noFill/>
          <a:ln/>
        </p:spPr>
        <p:txBody>
          <a:bodyPr wrap="square" lIns="0" tIns="0" rIns="0" bIns="0" rtlCol="0" anchor="ctr"/>
          <a:lstStyle/>
          <a:p>
            <a:pPr indent="0" marL="0">
              <a:buNone/>
            </a:pPr>
            <a:r>
              <a:rPr lang="en-US" sz="900" i="1" dirty="0">
                <a:solidFill>
                  <a:srgbClr val="E53E3E"/>
                </a:solidFill>
                <a:latin typeface="Calibri" pitchFamily="34" charset="0"/>
                <a:ea typeface="Calibri" pitchFamily="34" charset="-122"/>
                <a:cs typeface="Calibri" pitchFamily="34" charset="-120"/>
              </a:rPr>
              <a:t>Temps de résolution : 30-60 min minimum</a:t>
            </a:r>
            <a:endParaRPr lang="en-US" sz="900" dirty="0"/>
          </a:p>
        </p:txBody>
      </p:sp>
      <p:sp>
        <p:nvSpPr>
          <p:cNvPr id="27" name="Shape 25"/>
          <p:cNvSpPr/>
          <p:nvPr/>
        </p:nvSpPr>
        <p:spPr>
          <a:xfrm>
            <a:off x="4617720" y="2834640"/>
            <a:ext cx="4251960" cy="2029968"/>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8" name="Shape 26"/>
          <p:cNvSpPr/>
          <p:nvPr/>
        </p:nvSpPr>
        <p:spPr>
          <a:xfrm>
            <a:off x="4617720" y="2834640"/>
            <a:ext cx="4251960" cy="292608"/>
          </a:xfrm>
          <a:prstGeom prst="rect">
            <a:avLst/>
          </a:prstGeom>
          <a:solidFill>
            <a:srgbClr val="38A169"/>
          </a:solidFill>
          <a:ln/>
        </p:spPr>
      </p:sp>
      <p:sp>
        <p:nvSpPr>
          <p:cNvPr id="29" name="Text 27"/>
          <p:cNvSpPr/>
          <p:nvPr/>
        </p:nvSpPr>
        <p:spPr>
          <a:xfrm>
            <a:off x="4663440" y="2834640"/>
            <a:ext cx="41605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Débogage Copie par Pipeline</a:t>
            </a:r>
            <a:endParaRPr lang="en-US" sz="1100" dirty="0"/>
          </a:p>
        </p:txBody>
      </p:sp>
      <p:sp>
        <p:nvSpPr>
          <p:cNvPr id="30" name="Text 28"/>
          <p:cNvSpPr/>
          <p:nvPr/>
        </p:nvSpPr>
        <p:spPr>
          <a:xfrm>
            <a:off x="4709160" y="3182112"/>
            <a:ext cx="4069080" cy="457200"/>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PG Enrichissement du Pipeline B en back-pressure. Cause immédiatement connue.</a:t>
            </a:r>
            <a:endParaRPr lang="en-US" sz="1000" dirty="0"/>
          </a:p>
        </p:txBody>
      </p:sp>
      <p:sp>
        <p:nvSpPr>
          <p:cNvPr id="31" name="Shape 29"/>
          <p:cNvSpPr/>
          <p:nvPr/>
        </p:nvSpPr>
        <p:spPr>
          <a:xfrm>
            <a:off x="4709160" y="3703320"/>
            <a:ext cx="4069080" cy="256032"/>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32" name="Shape 30"/>
          <p:cNvSpPr/>
          <p:nvPr/>
        </p:nvSpPr>
        <p:spPr>
          <a:xfrm>
            <a:off x="4709160" y="3703320"/>
            <a:ext cx="64008" cy="256032"/>
          </a:xfrm>
          <a:prstGeom prst="rect">
            <a:avLst/>
          </a:prstGeom>
          <a:solidFill>
            <a:srgbClr val="02C39A"/>
          </a:solidFill>
          <a:ln/>
        </p:spPr>
      </p:sp>
      <p:sp>
        <p:nvSpPr>
          <p:cNvPr id="33" name="Text 31"/>
          <p:cNvSpPr/>
          <p:nvPr/>
        </p:nvSpPr>
        <p:spPr>
          <a:xfrm>
            <a:off x="4846320" y="3703320"/>
            <a:ext cx="3886200" cy="256032"/>
          </a:xfrm>
          <a:prstGeom prst="rect">
            <a:avLst/>
          </a:prstGeom>
          <a:noFill/>
          <a:ln/>
        </p:spPr>
        <p:txBody>
          <a:bodyPr wrap="square" lIns="50800" tIns="50800" rIns="50800" bIns="5080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1  Entrer dans Pipeline B uniquement</a:t>
            </a:r>
            <a:endParaRPr lang="en-US" sz="1000" dirty="0"/>
          </a:p>
        </p:txBody>
      </p:sp>
      <p:sp>
        <p:nvSpPr>
          <p:cNvPr id="34" name="Shape 32"/>
          <p:cNvSpPr/>
          <p:nvPr/>
        </p:nvSpPr>
        <p:spPr>
          <a:xfrm>
            <a:off x="4709160" y="3995928"/>
            <a:ext cx="4069080" cy="256032"/>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35" name="Shape 33"/>
          <p:cNvSpPr/>
          <p:nvPr/>
        </p:nvSpPr>
        <p:spPr>
          <a:xfrm>
            <a:off x="4709160" y="3995928"/>
            <a:ext cx="64008" cy="256032"/>
          </a:xfrm>
          <a:prstGeom prst="rect">
            <a:avLst/>
          </a:prstGeom>
          <a:solidFill>
            <a:srgbClr val="02C39A"/>
          </a:solidFill>
          <a:ln/>
        </p:spPr>
      </p:sp>
      <p:sp>
        <p:nvSpPr>
          <p:cNvPr id="36" name="Text 34"/>
          <p:cNvSpPr/>
          <p:nvPr/>
        </p:nvSpPr>
        <p:spPr>
          <a:xfrm>
            <a:off x="4846320" y="3995928"/>
            <a:ext cx="3886200" cy="256032"/>
          </a:xfrm>
          <a:prstGeom prst="rect">
            <a:avLst/>
          </a:prstGeom>
          <a:noFill/>
          <a:ln/>
        </p:spPr>
        <p:txBody>
          <a:bodyPr wrap="square" lIns="50800" tIns="50800" rIns="50800" bIns="5080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2  Fichier malformé identifié en 2 min</a:t>
            </a:r>
            <a:endParaRPr lang="en-US" sz="1000" dirty="0"/>
          </a:p>
        </p:txBody>
      </p:sp>
      <p:sp>
        <p:nvSpPr>
          <p:cNvPr id="37" name="Shape 35"/>
          <p:cNvSpPr/>
          <p:nvPr/>
        </p:nvSpPr>
        <p:spPr>
          <a:xfrm>
            <a:off x="4709160" y="4288536"/>
            <a:ext cx="4069080" cy="256032"/>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38" name="Shape 36"/>
          <p:cNvSpPr/>
          <p:nvPr/>
        </p:nvSpPr>
        <p:spPr>
          <a:xfrm>
            <a:off x="4709160" y="4288536"/>
            <a:ext cx="64008" cy="256032"/>
          </a:xfrm>
          <a:prstGeom prst="rect">
            <a:avLst/>
          </a:prstGeom>
          <a:solidFill>
            <a:srgbClr val="02C39A"/>
          </a:solidFill>
          <a:ln/>
        </p:spPr>
      </p:sp>
      <p:sp>
        <p:nvSpPr>
          <p:cNvPr id="39" name="Text 37"/>
          <p:cNvSpPr/>
          <p:nvPr/>
        </p:nvSpPr>
        <p:spPr>
          <a:xfrm>
            <a:off x="4846320" y="4288536"/>
            <a:ext cx="3886200" cy="256032"/>
          </a:xfrm>
          <a:prstGeom prst="rect">
            <a:avLst/>
          </a:prstGeom>
          <a:noFill/>
          <a:ln/>
        </p:spPr>
        <p:txBody>
          <a:bodyPr wrap="square" lIns="50800" tIns="50800" rIns="50800" bIns="5080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3  Correction → A et C continuent ✓</a:t>
            </a:r>
            <a:endParaRPr lang="en-US" sz="1000" dirty="0"/>
          </a:p>
        </p:txBody>
      </p:sp>
      <p:sp>
        <p:nvSpPr>
          <p:cNvPr id="40" name="Text 38"/>
          <p:cNvSpPr/>
          <p:nvPr/>
        </p:nvSpPr>
        <p:spPr>
          <a:xfrm>
            <a:off x="4709160" y="4645152"/>
            <a:ext cx="4069080" cy="182880"/>
          </a:xfrm>
          <a:prstGeom prst="rect">
            <a:avLst/>
          </a:prstGeom>
          <a:noFill/>
          <a:ln/>
        </p:spPr>
        <p:txBody>
          <a:bodyPr wrap="square" lIns="0" tIns="0" rIns="0" bIns="0" rtlCol="0" anchor="ctr"/>
          <a:lstStyle/>
          <a:p>
            <a:pPr indent="0" marL="0">
              <a:buNone/>
            </a:pPr>
            <a:r>
              <a:rPr lang="en-US" sz="900" i="1" dirty="0">
                <a:solidFill>
                  <a:srgbClr val="38A169"/>
                </a:solidFill>
                <a:latin typeface="Calibri" pitchFamily="34" charset="0"/>
                <a:ea typeface="Calibri" pitchFamily="34" charset="-122"/>
                <a:cs typeface="Calibri" pitchFamily="34" charset="-120"/>
              </a:rPr>
              <a:t>Temps de résolution : 2-5 min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B3A"/>
          </a:solidFill>
          <a:ln/>
        </p:spPr>
      </p:sp>
      <p:sp>
        <p:nvSpPr>
          <p:cNvPr id="3" name="Shape 1"/>
          <p:cNvSpPr/>
          <p:nvPr/>
        </p:nvSpPr>
        <p:spPr>
          <a:xfrm>
            <a:off x="0" y="0"/>
            <a:ext cx="164592" cy="658368"/>
          </a:xfrm>
          <a:prstGeom prst="rect">
            <a:avLst/>
          </a:prstGeom>
          <a:solidFill>
            <a:srgbClr val="028090"/>
          </a:solidFill>
          <a:ln/>
        </p:spPr>
      </p:sp>
      <p:sp>
        <p:nvSpPr>
          <p:cNvPr id="4" name="Text 2"/>
          <p:cNvSpPr/>
          <p:nvPr/>
        </p:nvSpPr>
        <p:spPr>
          <a:xfrm>
            <a:off x="347472" y="54864"/>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02  |  Déploiement &amp; Isolation des Pannes — Exemples concrets</a:t>
            </a:r>
            <a:endParaRPr lang="en-US" sz="2200" dirty="0"/>
          </a:p>
        </p:txBody>
      </p:sp>
      <p:sp>
        <p:nvSpPr>
          <p:cNvPr id="5" name="Shape 3"/>
          <p:cNvSpPr/>
          <p:nvPr/>
        </p:nvSpPr>
        <p:spPr>
          <a:xfrm>
            <a:off x="274320" y="749808"/>
            <a:ext cx="3977640" cy="21031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74320" y="749808"/>
            <a:ext cx="3977640" cy="292608"/>
          </a:xfrm>
          <a:prstGeom prst="rect">
            <a:avLst/>
          </a:prstGeom>
          <a:solidFill>
            <a:srgbClr val="E53E3E"/>
          </a:solidFill>
          <a:ln/>
        </p:spPr>
      </p:sp>
      <p:sp>
        <p:nvSpPr>
          <p:cNvPr id="7" name="Text 5"/>
          <p:cNvSpPr/>
          <p:nvPr/>
        </p:nvSpPr>
        <p:spPr>
          <a:xfrm>
            <a:off x="320040" y="749808"/>
            <a:ext cx="38862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Déploiement Partagé</a:t>
            </a:r>
            <a:endParaRPr lang="en-US" sz="1100" dirty="0"/>
          </a:p>
        </p:txBody>
      </p:sp>
      <p:sp>
        <p:nvSpPr>
          <p:cNvPr id="8" name="Text 6"/>
          <p:cNvSpPr/>
          <p:nvPr/>
        </p:nvSpPr>
        <p:spPr>
          <a:xfrm>
            <a:off x="365760" y="1097280"/>
            <a:ext cx="3794760" cy="274320"/>
          </a:xfrm>
          <a:prstGeom prst="rect">
            <a:avLst/>
          </a:prstGeom>
          <a:noFill/>
          <a:ln/>
        </p:spPr>
        <p:txBody>
          <a:bodyPr wrap="square" lIns="0" tIns="0" rIns="0" bIns="0" rtlCol="0" anchor="ctr"/>
          <a:lstStyle/>
          <a:p>
            <a:pPr indent="0" marL="0">
              <a:buNone/>
            </a:pPr>
            <a:r>
              <a:rPr lang="en-US" sz="1000" b="1" dirty="0">
                <a:solidFill>
                  <a:srgbClr val="021B3A"/>
                </a:solidFill>
                <a:latin typeface="Calibri" pitchFamily="34" charset="0"/>
                <a:ea typeface="Calibri" pitchFamily="34" charset="-122"/>
                <a:cs typeface="Calibri" pitchFamily="34" charset="-120"/>
              </a:rPr>
              <a:t>Modifier PG Logging pour Pipeline A uniquement :</a:t>
            </a:r>
            <a:endParaRPr lang="en-US" sz="1000" dirty="0"/>
          </a:p>
        </p:txBody>
      </p:sp>
      <p:sp>
        <p:nvSpPr>
          <p:cNvPr id="9" name="Shape 7"/>
          <p:cNvSpPr/>
          <p:nvPr/>
        </p:nvSpPr>
        <p:spPr>
          <a:xfrm>
            <a:off x="365760" y="1417320"/>
            <a:ext cx="3794760" cy="274320"/>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10" name="Shape 8"/>
          <p:cNvSpPr/>
          <p:nvPr/>
        </p:nvSpPr>
        <p:spPr>
          <a:xfrm>
            <a:off x="365760" y="1417320"/>
            <a:ext cx="64008" cy="274320"/>
          </a:xfrm>
          <a:prstGeom prst="rect">
            <a:avLst/>
          </a:prstGeom>
          <a:solidFill>
            <a:srgbClr val="E53E3E"/>
          </a:solidFill>
          <a:ln/>
        </p:spPr>
      </p:sp>
      <p:sp>
        <p:nvSpPr>
          <p:cNvPr id="11" name="Text 9"/>
          <p:cNvSpPr/>
          <p:nvPr/>
        </p:nvSpPr>
        <p:spPr>
          <a:xfrm>
            <a:off x="502920" y="1417320"/>
            <a:ext cx="3611880" cy="274320"/>
          </a:xfrm>
          <a:prstGeom prst="rect">
            <a:avLst/>
          </a:prstGeom>
          <a:noFill/>
          <a:ln/>
        </p:spPr>
        <p:txBody>
          <a:bodyPr wrap="square" lIns="50800" tIns="50800" rIns="50800" bIns="50800" rtlCol="0" anchor="ctr"/>
          <a:lstStyle/>
          <a:p>
            <a:pPr indent="0" marL="0">
              <a:buNone/>
            </a:pPr>
            <a:r>
              <a:rPr lang="en-US" sz="900" dirty="0">
                <a:solidFill>
                  <a:srgbClr val="021B3A"/>
                </a:solidFill>
                <a:latin typeface="Calibri" pitchFamily="34" charset="0"/>
                <a:ea typeface="Calibri" pitchFamily="34" charset="-122"/>
                <a:cs typeface="Calibri" pitchFamily="34" charset="-120"/>
              </a:rPr>
              <a:t>⚠ Arrêt du PG Logging partagé</a:t>
            </a:r>
            <a:endParaRPr lang="en-US" sz="900" dirty="0"/>
          </a:p>
        </p:txBody>
      </p:sp>
      <p:sp>
        <p:nvSpPr>
          <p:cNvPr id="12" name="Shape 10"/>
          <p:cNvSpPr/>
          <p:nvPr/>
        </p:nvSpPr>
        <p:spPr>
          <a:xfrm>
            <a:off x="365760" y="1737360"/>
            <a:ext cx="3794760" cy="274320"/>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13" name="Shape 11"/>
          <p:cNvSpPr/>
          <p:nvPr/>
        </p:nvSpPr>
        <p:spPr>
          <a:xfrm>
            <a:off x="365760" y="1737360"/>
            <a:ext cx="64008" cy="274320"/>
          </a:xfrm>
          <a:prstGeom prst="rect">
            <a:avLst/>
          </a:prstGeom>
          <a:solidFill>
            <a:srgbClr val="E53E3E"/>
          </a:solidFill>
          <a:ln/>
        </p:spPr>
      </p:sp>
      <p:sp>
        <p:nvSpPr>
          <p:cNvPr id="14" name="Text 12"/>
          <p:cNvSpPr/>
          <p:nvPr/>
        </p:nvSpPr>
        <p:spPr>
          <a:xfrm>
            <a:off x="502920" y="1737360"/>
            <a:ext cx="3611880" cy="274320"/>
          </a:xfrm>
          <a:prstGeom prst="rect">
            <a:avLst/>
          </a:prstGeom>
          <a:noFill/>
          <a:ln/>
        </p:spPr>
        <p:txBody>
          <a:bodyPr wrap="square" lIns="50800" tIns="50800" rIns="50800" bIns="50800" rtlCol="0" anchor="ctr"/>
          <a:lstStyle/>
          <a:p>
            <a:pPr indent="0" marL="0">
              <a:buNone/>
            </a:pPr>
            <a:r>
              <a:rPr lang="en-US" sz="900" dirty="0">
                <a:solidFill>
                  <a:srgbClr val="021B3A"/>
                </a:solidFill>
                <a:latin typeface="Calibri" pitchFamily="34" charset="0"/>
                <a:ea typeface="Calibri" pitchFamily="34" charset="-122"/>
                <a:cs typeface="Calibri" pitchFamily="34" charset="-120"/>
              </a:rPr>
              <a:t>⚠ Pipeline B perd son logging</a:t>
            </a:r>
            <a:endParaRPr lang="en-US" sz="900" dirty="0"/>
          </a:p>
        </p:txBody>
      </p:sp>
      <p:sp>
        <p:nvSpPr>
          <p:cNvPr id="15" name="Shape 13"/>
          <p:cNvSpPr/>
          <p:nvPr/>
        </p:nvSpPr>
        <p:spPr>
          <a:xfrm>
            <a:off x="365760" y="2057400"/>
            <a:ext cx="3794760" cy="274320"/>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16" name="Shape 14"/>
          <p:cNvSpPr/>
          <p:nvPr/>
        </p:nvSpPr>
        <p:spPr>
          <a:xfrm>
            <a:off x="365760" y="2057400"/>
            <a:ext cx="64008" cy="274320"/>
          </a:xfrm>
          <a:prstGeom prst="rect">
            <a:avLst/>
          </a:prstGeom>
          <a:solidFill>
            <a:srgbClr val="E53E3E"/>
          </a:solidFill>
          <a:ln/>
        </p:spPr>
      </p:sp>
      <p:sp>
        <p:nvSpPr>
          <p:cNvPr id="17" name="Text 15"/>
          <p:cNvSpPr/>
          <p:nvPr/>
        </p:nvSpPr>
        <p:spPr>
          <a:xfrm>
            <a:off x="502920" y="2057400"/>
            <a:ext cx="3611880" cy="274320"/>
          </a:xfrm>
          <a:prstGeom prst="rect">
            <a:avLst/>
          </a:prstGeom>
          <a:noFill/>
          <a:ln/>
        </p:spPr>
        <p:txBody>
          <a:bodyPr wrap="square" lIns="50800" tIns="50800" rIns="50800" bIns="50800" rtlCol="0" anchor="ctr"/>
          <a:lstStyle/>
          <a:p>
            <a:pPr indent="0" marL="0">
              <a:buNone/>
            </a:pPr>
            <a:r>
              <a:rPr lang="en-US" sz="900" dirty="0">
                <a:solidFill>
                  <a:srgbClr val="021B3A"/>
                </a:solidFill>
                <a:latin typeface="Calibri" pitchFamily="34" charset="0"/>
                <a:ea typeface="Calibri" pitchFamily="34" charset="-122"/>
                <a:cs typeface="Calibri" pitchFamily="34" charset="-120"/>
              </a:rPr>
              <a:t>⚠ Pipeline C perd son logging</a:t>
            </a:r>
            <a:endParaRPr lang="en-US" sz="900" dirty="0"/>
          </a:p>
        </p:txBody>
      </p:sp>
      <p:sp>
        <p:nvSpPr>
          <p:cNvPr id="18" name="Shape 16"/>
          <p:cNvSpPr/>
          <p:nvPr/>
        </p:nvSpPr>
        <p:spPr>
          <a:xfrm>
            <a:off x="365760" y="2377440"/>
            <a:ext cx="3794760" cy="274320"/>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19" name="Shape 17"/>
          <p:cNvSpPr/>
          <p:nvPr/>
        </p:nvSpPr>
        <p:spPr>
          <a:xfrm>
            <a:off x="365760" y="2377440"/>
            <a:ext cx="64008" cy="274320"/>
          </a:xfrm>
          <a:prstGeom prst="rect">
            <a:avLst/>
          </a:prstGeom>
          <a:solidFill>
            <a:srgbClr val="E53E3E"/>
          </a:solidFill>
          <a:ln/>
        </p:spPr>
      </p:sp>
      <p:sp>
        <p:nvSpPr>
          <p:cNvPr id="20" name="Text 18"/>
          <p:cNvSpPr/>
          <p:nvPr/>
        </p:nvSpPr>
        <p:spPr>
          <a:xfrm>
            <a:off x="502920" y="2377440"/>
            <a:ext cx="3611880" cy="274320"/>
          </a:xfrm>
          <a:prstGeom prst="rect">
            <a:avLst/>
          </a:prstGeom>
          <a:noFill/>
          <a:ln/>
        </p:spPr>
        <p:txBody>
          <a:bodyPr wrap="square" lIns="50800" tIns="50800" rIns="50800" bIns="50800" rtlCol="0" anchor="ctr"/>
          <a:lstStyle/>
          <a:p>
            <a:pPr indent="0" marL="0">
              <a:buNone/>
            </a:pPr>
            <a:r>
              <a:rPr lang="en-US" sz="900" dirty="0">
                <a:solidFill>
                  <a:srgbClr val="021B3A"/>
                </a:solidFill>
                <a:latin typeface="Calibri" pitchFamily="34" charset="0"/>
                <a:ea typeface="Calibri" pitchFamily="34" charset="-122"/>
                <a:cs typeface="Calibri" pitchFamily="34" charset="-120"/>
              </a:rPr>
              <a:t>⚠ Risque de perte de données en prod</a:t>
            </a:r>
            <a:endParaRPr lang="en-US" sz="900" dirty="0"/>
          </a:p>
        </p:txBody>
      </p:sp>
      <p:sp>
        <p:nvSpPr>
          <p:cNvPr id="21" name="Shape 19"/>
          <p:cNvSpPr/>
          <p:nvPr/>
        </p:nvSpPr>
        <p:spPr>
          <a:xfrm>
            <a:off x="4617720" y="749808"/>
            <a:ext cx="4251960" cy="21031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2" name="Shape 20"/>
          <p:cNvSpPr/>
          <p:nvPr/>
        </p:nvSpPr>
        <p:spPr>
          <a:xfrm>
            <a:off x="4617720" y="749808"/>
            <a:ext cx="4251960" cy="292608"/>
          </a:xfrm>
          <a:prstGeom prst="rect">
            <a:avLst/>
          </a:prstGeom>
          <a:solidFill>
            <a:srgbClr val="38A169"/>
          </a:solidFill>
          <a:ln/>
        </p:spPr>
      </p:sp>
      <p:sp>
        <p:nvSpPr>
          <p:cNvPr id="23" name="Text 21"/>
          <p:cNvSpPr/>
          <p:nvPr/>
        </p:nvSpPr>
        <p:spPr>
          <a:xfrm>
            <a:off x="4663440" y="749808"/>
            <a:ext cx="41605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Déploiement Copie par Pipeline</a:t>
            </a:r>
            <a:endParaRPr lang="en-US" sz="1100" dirty="0"/>
          </a:p>
        </p:txBody>
      </p:sp>
      <p:sp>
        <p:nvSpPr>
          <p:cNvPr id="24" name="Text 22"/>
          <p:cNvSpPr/>
          <p:nvPr/>
        </p:nvSpPr>
        <p:spPr>
          <a:xfrm>
            <a:off x="4709160" y="1097280"/>
            <a:ext cx="4069080" cy="274320"/>
          </a:xfrm>
          <a:prstGeom prst="rect">
            <a:avLst/>
          </a:prstGeom>
          <a:noFill/>
          <a:ln/>
        </p:spPr>
        <p:txBody>
          <a:bodyPr wrap="square" lIns="0" tIns="0" rIns="0" bIns="0" rtlCol="0" anchor="ctr"/>
          <a:lstStyle/>
          <a:p>
            <a:pPr indent="0" marL="0">
              <a:buNone/>
            </a:pPr>
            <a:r>
              <a:rPr lang="en-US" sz="1000" b="1" dirty="0">
                <a:solidFill>
                  <a:srgbClr val="021B3A"/>
                </a:solidFill>
                <a:latin typeface="Calibri" pitchFamily="34" charset="0"/>
                <a:ea typeface="Calibri" pitchFamily="34" charset="-122"/>
                <a:cs typeface="Calibri" pitchFamily="34" charset="-120"/>
              </a:rPr>
              <a:t>Même modification, uniquement sur la copie de Pipeline A :</a:t>
            </a:r>
            <a:endParaRPr lang="en-US" sz="1000" dirty="0"/>
          </a:p>
        </p:txBody>
      </p:sp>
      <p:sp>
        <p:nvSpPr>
          <p:cNvPr id="25" name="Shape 23"/>
          <p:cNvSpPr/>
          <p:nvPr/>
        </p:nvSpPr>
        <p:spPr>
          <a:xfrm>
            <a:off x="4709160" y="1417320"/>
            <a:ext cx="4069080" cy="274320"/>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26" name="Shape 24"/>
          <p:cNvSpPr/>
          <p:nvPr/>
        </p:nvSpPr>
        <p:spPr>
          <a:xfrm>
            <a:off x="4709160" y="1417320"/>
            <a:ext cx="64008" cy="274320"/>
          </a:xfrm>
          <a:prstGeom prst="rect">
            <a:avLst/>
          </a:prstGeom>
          <a:solidFill>
            <a:srgbClr val="065A82"/>
          </a:solidFill>
          <a:ln/>
        </p:spPr>
      </p:sp>
      <p:sp>
        <p:nvSpPr>
          <p:cNvPr id="27" name="Text 25"/>
          <p:cNvSpPr/>
          <p:nvPr/>
        </p:nvSpPr>
        <p:spPr>
          <a:xfrm>
            <a:off x="4846320" y="1417320"/>
            <a:ext cx="3886200" cy="274320"/>
          </a:xfrm>
          <a:prstGeom prst="rect">
            <a:avLst/>
          </a:prstGeom>
          <a:noFill/>
          <a:ln/>
        </p:spPr>
        <p:txBody>
          <a:bodyPr wrap="square" lIns="50800" tIns="50800" rIns="50800" bIns="50800" rtlCol="0" anchor="ctr"/>
          <a:lstStyle/>
          <a:p>
            <a:pPr indent="0" marL="0">
              <a:buNone/>
            </a:pPr>
            <a:r>
              <a:rPr lang="en-US" sz="900" dirty="0">
                <a:solidFill>
                  <a:srgbClr val="021B3A"/>
                </a:solidFill>
                <a:latin typeface="Calibri" pitchFamily="34" charset="0"/>
                <a:ea typeface="Calibri" pitchFamily="34" charset="-122"/>
                <a:cs typeface="Calibri" pitchFamily="34" charset="-120"/>
              </a:rPr>
              <a:t>Pipeline A — Arrêté, modifié, redémarré ✓</a:t>
            </a:r>
            <a:endParaRPr lang="en-US" sz="900" dirty="0"/>
          </a:p>
        </p:txBody>
      </p:sp>
      <p:sp>
        <p:nvSpPr>
          <p:cNvPr id="28" name="Shape 26"/>
          <p:cNvSpPr/>
          <p:nvPr/>
        </p:nvSpPr>
        <p:spPr>
          <a:xfrm>
            <a:off x="4709160" y="1737360"/>
            <a:ext cx="4069080" cy="274320"/>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29" name="Shape 27"/>
          <p:cNvSpPr/>
          <p:nvPr/>
        </p:nvSpPr>
        <p:spPr>
          <a:xfrm>
            <a:off x="4709160" y="1737360"/>
            <a:ext cx="64008" cy="274320"/>
          </a:xfrm>
          <a:prstGeom prst="rect">
            <a:avLst/>
          </a:prstGeom>
          <a:solidFill>
            <a:srgbClr val="028090"/>
          </a:solidFill>
          <a:ln/>
        </p:spPr>
      </p:sp>
      <p:sp>
        <p:nvSpPr>
          <p:cNvPr id="30" name="Text 28"/>
          <p:cNvSpPr/>
          <p:nvPr/>
        </p:nvSpPr>
        <p:spPr>
          <a:xfrm>
            <a:off x="4846320" y="1737360"/>
            <a:ext cx="3886200" cy="274320"/>
          </a:xfrm>
          <a:prstGeom prst="rect">
            <a:avLst/>
          </a:prstGeom>
          <a:noFill/>
          <a:ln/>
        </p:spPr>
        <p:txBody>
          <a:bodyPr wrap="square" lIns="50800" tIns="50800" rIns="50800" bIns="50800" rtlCol="0" anchor="ctr"/>
          <a:lstStyle/>
          <a:p>
            <a:pPr indent="0" marL="0">
              <a:buNone/>
            </a:pPr>
            <a:r>
              <a:rPr lang="en-US" sz="900" dirty="0">
                <a:solidFill>
                  <a:srgbClr val="021B3A"/>
                </a:solidFill>
                <a:latin typeface="Calibri" pitchFamily="34" charset="0"/>
                <a:ea typeface="Calibri" pitchFamily="34" charset="-122"/>
                <a:cs typeface="Calibri" pitchFamily="34" charset="-120"/>
              </a:rPr>
              <a:t>Pipeline B — Fonctionne normalement ✓</a:t>
            </a:r>
            <a:endParaRPr lang="en-US" sz="900" dirty="0"/>
          </a:p>
        </p:txBody>
      </p:sp>
      <p:sp>
        <p:nvSpPr>
          <p:cNvPr id="31" name="Shape 29"/>
          <p:cNvSpPr/>
          <p:nvPr/>
        </p:nvSpPr>
        <p:spPr>
          <a:xfrm>
            <a:off x="4709160" y="2057400"/>
            <a:ext cx="4069080" cy="274320"/>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32" name="Shape 30"/>
          <p:cNvSpPr/>
          <p:nvPr/>
        </p:nvSpPr>
        <p:spPr>
          <a:xfrm>
            <a:off x="4709160" y="2057400"/>
            <a:ext cx="64008" cy="274320"/>
          </a:xfrm>
          <a:prstGeom prst="rect">
            <a:avLst/>
          </a:prstGeom>
          <a:solidFill>
            <a:srgbClr val="6B46C1"/>
          </a:solidFill>
          <a:ln/>
        </p:spPr>
      </p:sp>
      <p:sp>
        <p:nvSpPr>
          <p:cNvPr id="33" name="Text 31"/>
          <p:cNvSpPr/>
          <p:nvPr/>
        </p:nvSpPr>
        <p:spPr>
          <a:xfrm>
            <a:off x="4846320" y="2057400"/>
            <a:ext cx="3886200" cy="274320"/>
          </a:xfrm>
          <a:prstGeom prst="rect">
            <a:avLst/>
          </a:prstGeom>
          <a:noFill/>
          <a:ln/>
        </p:spPr>
        <p:txBody>
          <a:bodyPr wrap="square" lIns="50800" tIns="50800" rIns="50800" bIns="50800" rtlCol="0" anchor="ctr"/>
          <a:lstStyle/>
          <a:p>
            <a:pPr indent="0" marL="0">
              <a:buNone/>
            </a:pPr>
            <a:r>
              <a:rPr lang="en-US" sz="900" dirty="0">
                <a:solidFill>
                  <a:srgbClr val="021B3A"/>
                </a:solidFill>
                <a:latin typeface="Calibri" pitchFamily="34" charset="0"/>
                <a:ea typeface="Calibri" pitchFamily="34" charset="-122"/>
                <a:cs typeface="Calibri" pitchFamily="34" charset="-120"/>
              </a:rPr>
              <a:t>Pipeline C — Fonctionne normalement ✓</a:t>
            </a:r>
            <a:endParaRPr lang="en-US" sz="900" dirty="0"/>
          </a:p>
        </p:txBody>
      </p:sp>
      <p:sp>
        <p:nvSpPr>
          <p:cNvPr id="34" name="Shape 32"/>
          <p:cNvSpPr/>
          <p:nvPr/>
        </p:nvSpPr>
        <p:spPr>
          <a:xfrm>
            <a:off x="274320" y="2944368"/>
            <a:ext cx="3977640" cy="19202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35" name="Shape 33"/>
          <p:cNvSpPr/>
          <p:nvPr/>
        </p:nvSpPr>
        <p:spPr>
          <a:xfrm>
            <a:off x="274320" y="2944368"/>
            <a:ext cx="3977640" cy="292608"/>
          </a:xfrm>
          <a:prstGeom prst="rect">
            <a:avLst/>
          </a:prstGeom>
          <a:solidFill>
            <a:srgbClr val="E53E3E"/>
          </a:solidFill>
          <a:ln/>
        </p:spPr>
      </p:sp>
      <p:sp>
        <p:nvSpPr>
          <p:cNvPr id="36" name="Text 34"/>
          <p:cNvSpPr/>
          <p:nvPr/>
        </p:nvSpPr>
        <p:spPr>
          <a:xfrm>
            <a:off x="320040" y="2944368"/>
            <a:ext cx="38862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Blast Radius — PG Partagé</a:t>
            </a:r>
            <a:endParaRPr lang="en-US" sz="1100" dirty="0"/>
          </a:p>
        </p:txBody>
      </p:sp>
      <p:sp>
        <p:nvSpPr>
          <p:cNvPr id="37" name="Text 35"/>
          <p:cNvSpPr/>
          <p:nvPr/>
        </p:nvSpPr>
        <p:spPr>
          <a:xfrm>
            <a:off x="365760" y="3291840"/>
            <a:ext cx="3794760" cy="274320"/>
          </a:xfrm>
          <a:prstGeom prst="rect">
            <a:avLst/>
          </a:prstGeom>
          <a:noFill/>
          <a:ln/>
        </p:spPr>
        <p:txBody>
          <a:bodyPr wrap="square" lIns="0" tIns="0" rIns="0" bIns="0" rtlCol="0" anchor="ctr"/>
          <a:lstStyle/>
          <a:p>
            <a:pPr indent="0" marL="0">
              <a:buNone/>
            </a:pPr>
            <a:r>
              <a:rPr lang="en-US" sz="1000" b="1" dirty="0">
                <a:solidFill>
                  <a:srgbClr val="021B3A"/>
                </a:solidFill>
                <a:latin typeface="Calibri" pitchFamily="34" charset="0"/>
                <a:ea typeface="Calibri" pitchFamily="34" charset="-122"/>
                <a:cs typeface="Calibri" pitchFamily="34" charset="-120"/>
              </a:rPr>
              <a:t>Script Groovy défaillant dans PG Validation partagé :</a:t>
            </a:r>
            <a:endParaRPr lang="en-US" sz="1000" dirty="0"/>
          </a:p>
        </p:txBody>
      </p:sp>
      <p:sp>
        <p:nvSpPr>
          <p:cNvPr id="38" name="Shape 36"/>
          <p:cNvSpPr/>
          <p:nvPr/>
        </p:nvSpPr>
        <p:spPr>
          <a:xfrm>
            <a:off x="365760" y="3611880"/>
            <a:ext cx="3794760" cy="292608"/>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39" name="Shape 37"/>
          <p:cNvSpPr/>
          <p:nvPr/>
        </p:nvSpPr>
        <p:spPr>
          <a:xfrm>
            <a:off x="365760" y="3611880"/>
            <a:ext cx="64008" cy="292608"/>
          </a:xfrm>
          <a:prstGeom prst="rect">
            <a:avLst/>
          </a:prstGeom>
          <a:solidFill>
            <a:srgbClr val="E53E3E"/>
          </a:solidFill>
          <a:ln/>
        </p:spPr>
      </p:sp>
      <p:sp>
        <p:nvSpPr>
          <p:cNvPr id="40" name="Text 38"/>
          <p:cNvSpPr/>
          <p:nvPr/>
        </p:nvSpPr>
        <p:spPr>
          <a:xfrm>
            <a:off x="502920" y="3611880"/>
            <a:ext cx="3611880" cy="292608"/>
          </a:xfrm>
          <a:prstGeom prst="rect">
            <a:avLst/>
          </a:prstGeom>
          <a:noFill/>
          <a:ln/>
        </p:spPr>
        <p:txBody>
          <a:bodyPr wrap="square" lIns="50800" tIns="50800" rIns="50800" bIns="5080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Pipeline A — Commandes  →  BLOQUÉ</a:t>
            </a:r>
            <a:endParaRPr lang="en-US" sz="1000" dirty="0"/>
          </a:p>
        </p:txBody>
      </p:sp>
      <p:sp>
        <p:nvSpPr>
          <p:cNvPr id="41" name="Shape 39"/>
          <p:cNvSpPr/>
          <p:nvPr/>
        </p:nvSpPr>
        <p:spPr>
          <a:xfrm>
            <a:off x="365760" y="3959352"/>
            <a:ext cx="3794760" cy="292608"/>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42" name="Shape 40"/>
          <p:cNvSpPr/>
          <p:nvPr/>
        </p:nvSpPr>
        <p:spPr>
          <a:xfrm>
            <a:off x="365760" y="3959352"/>
            <a:ext cx="64008" cy="292608"/>
          </a:xfrm>
          <a:prstGeom prst="rect">
            <a:avLst/>
          </a:prstGeom>
          <a:solidFill>
            <a:srgbClr val="E53E3E"/>
          </a:solidFill>
          <a:ln/>
        </p:spPr>
      </p:sp>
      <p:sp>
        <p:nvSpPr>
          <p:cNvPr id="43" name="Text 41"/>
          <p:cNvSpPr/>
          <p:nvPr/>
        </p:nvSpPr>
        <p:spPr>
          <a:xfrm>
            <a:off x="502920" y="3959352"/>
            <a:ext cx="3611880" cy="292608"/>
          </a:xfrm>
          <a:prstGeom prst="rect">
            <a:avLst/>
          </a:prstGeom>
          <a:noFill/>
          <a:ln/>
        </p:spPr>
        <p:txBody>
          <a:bodyPr wrap="square" lIns="50800" tIns="50800" rIns="50800" bIns="5080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Pipeline B — Facturation →  BLOQUÉ</a:t>
            </a:r>
            <a:endParaRPr lang="en-US" sz="1000" dirty="0"/>
          </a:p>
        </p:txBody>
      </p:sp>
      <p:sp>
        <p:nvSpPr>
          <p:cNvPr id="44" name="Shape 42"/>
          <p:cNvSpPr/>
          <p:nvPr/>
        </p:nvSpPr>
        <p:spPr>
          <a:xfrm>
            <a:off x="365760" y="4306824"/>
            <a:ext cx="3794760" cy="292608"/>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45" name="Shape 43"/>
          <p:cNvSpPr/>
          <p:nvPr/>
        </p:nvSpPr>
        <p:spPr>
          <a:xfrm>
            <a:off x="365760" y="4306824"/>
            <a:ext cx="64008" cy="292608"/>
          </a:xfrm>
          <a:prstGeom prst="rect">
            <a:avLst/>
          </a:prstGeom>
          <a:solidFill>
            <a:srgbClr val="E53E3E"/>
          </a:solidFill>
          <a:ln/>
        </p:spPr>
      </p:sp>
      <p:sp>
        <p:nvSpPr>
          <p:cNvPr id="46" name="Text 44"/>
          <p:cNvSpPr/>
          <p:nvPr/>
        </p:nvSpPr>
        <p:spPr>
          <a:xfrm>
            <a:off x="502920" y="4306824"/>
            <a:ext cx="3611880" cy="292608"/>
          </a:xfrm>
          <a:prstGeom prst="rect">
            <a:avLst/>
          </a:prstGeom>
          <a:noFill/>
          <a:ln/>
        </p:spPr>
        <p:txBody>
          <a:bodyPr wrap="square" lIns="50800" tIns="50800" rIns="50800" bIns="5080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Pipeline C — Reporting  →  BLOQUÉ</a:t>
            </a:r>
            <a:endParaRPr lang="en-US" sz="1000" dirty="0"/>
          </a:p>
        </p:txBody>
      </p:sp>
      <p:sp>
        <p:nvSpPr>
          <p:cNvPr id="47" name="Text 45"/>
          <p:cNvSpPr/>
          <p:nvPr/>
        </p:nvSpPr>
        <p:spPr>
          <a:xfrm>
            <a:off x="365760" y="4663440"/>
            <a:ext cx="3794760" cy="182880"/>
          </a:xfrm>
          <a:prstGeom prst="rect">
            <a:avLst/>
          </a:prstGeom>
          <a:noFill/>
          <a:ln/>
        </p:spPr>
        <p:txBody>
          <a:bodyPr wrap="square" lIns="0" tIns="0" rIns="0" bIns="0" rtlCol="0" anchor="ctr"/>
          <a:lstStyle/>
          <a:p>
            <a:pPr indent="0" marL="0">
              <a:buNone/>
            </a:pPr>
            <a:r>
              <a:rPr lang="en-US" sz="900" i="1" dirty="0">
                <a:solidFill>
                  <a:srgbClr val="E53E3E"/>
                </a:solidFill>
                <a:latin typeface="Calibri" pitchFamily="34" charset="0"/>
                <a:ea typeface="Calibri" pitchFamily="34" charset="-122"/>
                <a:cs typeface="Calibri" pitchFamily="34" charset="-120"/>
              </a:rPr>
              <a:t>1 composant → 3 systèmes métier tombés</a:t>
            </a:r>
            <a:endParaRPr lang="en-US" sz="900" dirty="0"/>
          </a:p>
        </p:txBody>
      </p:sp>
      <p:sp>
        <p:nvSpPr>
          <p:cNvPr id="48" name="Shape 46"/>
          <p:cNvSpPr/>
          <p:nvPr/>
        </p:nvSpPr>
        <p:spPr>
          <a:xfrm>
            <a:off x="4617720" y="2944368"/>
            <a:ext cx="4251960" cy="19202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9" name="Shape 47"/>
          <p:cNvSpPr/>
          <p:nvPr/>
        </p:nvSpPr>
        <p:spPr>
          <a:xfrm>
            <a:off x="4617720" y="2944368"/>
            <a:ext cx="4251960" cy="292608"/>
          </a:xfrm>
          <a:prstGeom prst="rect">
            <a:avLst/>
          </a:prstGeom>
          <a:solidFill>
            <a:srgbClr val="38A169"/>
          </a:solidFill>
          <a:ln/>
        </p:spPr>
      </p:sp>
      <p:sp>
        <p:nvSpPr>
          <p:cNvPr id="50" name="Text 48"/>
          <p:cNvSpPr/>
          <p:nvPr/>
        </p:nvSpPr>
        <p:spPr>
          <a:xfrm>
            <a:off x="4663440" y="2944368"/>
            <a:ext cx="41605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Blast Radius — Copie par Pipeline</a:t>
            </a:r>
            <a:endParaRPr lang="en-US" sz="1100" dirty="0"/>
          </a:p>
        </p:txBody>
      </p:sp>
      <p:sp>
        <p:nvSpPr>
          <p:cNvPr id="51" name="Text 49"/>
          <p:cNvSpPr/>
          <p:nvPr/>
        </p:nvSpPr>
        <p:spPr>
          <a:xfrm>
            <a:off x="4709160" y="3291840"/>
            <a:ext cx="4069080" cy="274320"/>
          </a:xfrm>
          <a:prstGeom prst="rect">
            <a:avLst/>
          </a:prstGeom>
          <a:noFill/>
          <a:ln/>
        </p:spPr>
        <p:txBody>
          <a:bodyPr wrap="square" lIns="0" tIns="0" rIns="0" bIns="0" rtlCol="0" anchor="ctr"/>
          <a:lstStyle/>
          <a:p>
            <a:pPr indent="0" marL="0">
              <a:buNone/>
            </a:pPr>
            <a:r>
              <a:rPr lang="en-US" sz="1000" b="1" dirty="0">
                <a:solidFill>
                  <a:srgbClr val="021B3A"/>
                </a:solidFill>
                <a:latin typeface="Calibri" pitchFamily="34" charset="0"/>
                <a:ea typeface="Calibri" pitchFamily="34" charset="-122"/>
                <a:cs typeface="Calibri" pitchFamily="34" charset="-120"/>
              </a:rPr>
              <a:t>Même script défaillant, dans la copie de Pipeline A seulement :</a:t>
            </a:r>
            <a:endParaRPr lang="en-US" sz="1000" dirty="0"/>
          </a:p>
        </p:txBody>
      </p:sp>
      <p:sp>
        <p:nvSpPr>
          <p:cNvPr id="52" name="Shape 50"/>
          <p:cNvSpPr/>
          <p:nvPr/>
        </p:nvSpPr>
        <p:spPr>
          <a:xfrm>
            <a:off x="4709160" y="3611880"/>
            <a:ext cx="4069080" cy="292608"/>
          </a:xfrm>
          <a:prstGeom prst="rect">
            <a:avLst/>
          </a:prstGeom>
          <a:solidFill>
            <a:srgbClr val="FFFAF0"/>
          </a:solidFill>
          <a:ln/>
          <a:effectLst>
            <a:outerShdw sx="100000" sy="100000" kx="0" ky="0" algn="bl" rotWithShape="0" blurRad="101600" dist="38100" dir="8100000">
              <a:srgbClr val="000000">
                <a:alpha val="10000"/>
              </a:srgbClr>
            </a:outerShdw>
          </a:effectLst>
        </p:spPr>
      </p:sp>
      <p:sp>
        <p:nvSpPr>
          <p:cNvPr id="53" name="Shape 51"/>
          <p:cNvSpPr/>
          <p:nvPr/>
        </p:nvSpPr>
        <p:spPr>
          <a:xfrm>
            <a:off x="4709160" y="3611880"/>
            <a:ext cx="64008" cy="292608"/>
          </a:xfrm>
          <a:prstGeom prst="rect">
            <a:avLst/>
          </a:prstGeom>
          <a:solidFill>
            <a:srgbClr val="DD6B20"/>
          </a:solidFill>
          <a:ln/>
        </p:spPr>
      </p:sp>
      <p:sp>
        <p:nvSpPr>
          <p:cNvPr id="54" name="Text 52"/>
          <p:cNvSpPr/>
          <p:nvPr/>
        </p:nvSpPr>
        <p:spPr>
          <a:xfrm>
            <a:off x="4846320" y="3611880"/>
            <a:ext cx="3886200" cy="292608"/>
          </a:xfrm>
          <a:prstGeom prst="rect">
            <a:avLst/>
          </a:prstGeom>
          <a:noFill/>
          <a:ln/>
        </p:spPr>
        <p:txBody>
          <a:bodyPr wrap="square" lIns="50800" tIns="50800" rIns="50800" bIns="5080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Pipeline A — Commandes  →  IMPACTÉ</a:t>
            </a:r>
            <a:endParaRPr lang="en-US" sz="1000" dirty="0"/>
          </a:p>
        </p:txBody>
      </p:sp>
      <p:sp>
        <p:nvSpPr>
          <p:cNvPr id="55" name="Shape 53"/>
          <p:cNvSpPr/>
          <p:nvPr/>
        </p:nvSpPr>
        <p:spPr>
          <a:xfrm>
            <a:off x="4709160" y="3959352"/>
            <a:ext cx="4069080" cy="292608"/>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56" name="Shape 54"/>
          <p:cNvSpPr/>
          <p:nvPr/>
        </p:nvSpPr>
        <p:spPr>
          <a:xfrm>
            <a:off x="4709160" y="3959352"/>
            <a:ext cx="64008" cy="292608"/>
          </a:xfrm>
          <a:prstGeom prst="rect">
            <a:avLst/>
          </a:prstGeom>
          <a:solidFill>
            <a:srgbClr val="38A169"/>
          </a:solidFill>
          <a:ln/>
        </p:spPr>
      </p:sp>
      <p:sp>
        <p:nvSpPr>
          <p:cNvPr id="57" name="Text 55"/>
          <p:cNvSpPr/>
          <p:nvPr/>
        </p:nvSpPr>
        <p:spPr>
          <a:xfrm>
            <a:off x="4846320" y="3959352"/>
            <a:ext cx="3886200" cy="292608"/>
          </a:xfrm>
          <a:prstGeom prst="rect">
            <a:avLst/>
          </a:prstGeom>
          <a:noFill/>
          <a:ln/>
        </p:spPr>
        <p:txBody>
          <a:bodyPr wrap="square" lIns="50800" tIns="50800" rIns="50800" bIns="5080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Pipeline B — Facturation →  OK ✓</a:t>
            </a:r>
            <a:endParaRPr lang="en-US" sz="1000" dirty="0"/>
          </a:p>
        </p:txBody>
      </p:sp>
      <p:sp>
        <p:nvSpPr>
          <p:cNvPr id="58" name="Shape 56"/>
          <p:cNvSpPr/>
          <p:nvPr/>
        </p:nvSpPr>
        <p:spPr>
          <a:xfrm>
            <a:off x="4709160" y="4306824"/>
            <a:ext cx="4069080" cy="292608"/>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59" name="Shape 57"/>
          <p:cNvSpPr/>
          <p:nvPr/>
        </p:nvSpPr>
        <p:spPr>
          <a:xfrm>
            <a:off x="4709160" y="4306824"/>
            <a:ext cx="64008" cy="292608"/>
          </a:xfrm>
          <a:prstGeom prst="rect">
            <a:avLst/>
          </a:prstGeom>
          <a:solidFill>
            <a:srgbClr val="38A169"/>
          </a:solidFill>
          <a:ln/>
        </p:spPr>
      </p:sp>
      <p:sp>
        <p:nvSpPr>
          <p:cNvPr id="60" name="Text 58"/>
          <p:cNvSpPr/>
          <p:nvPr/>
        </p:nvSpPr>
        <p:spPr>
          <a:xfrm>
            <a:off x="4846320" y="4306824"/>
            <a:ext cx="3886200" cy="292608"/>
          </a:xfrm>
          <a:prstGeom prst="rect">
            <a:avLst/>
          </a:prstGeom>
          <a:noFill/>
          <a:ln/>
        </p:spPr>
        <p:txBody>
          <a:bodyPr wrap="square" lIns="50800" tIns="50800" rIns="50800" bIns="5080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Pipeline C — Reporting  →  OK ✓</a:t>
            </a:r>
            <a:endParaRPr lang="en-US" sz="1000" dirty="0"/>
          </a:p>
        </p:txBody>
      </p:sp>
      <p:sp>
        <p:nvSpPr>
          <p:cNvPr id="61" name="Text 59"/>
          <p:cNvSpPr/>
          <p:nvPr/>
        </p:nvSpPr>
        <p:spPr>
          <a:xfrm>
            <a:off x="4709160" y="4663440"/>
            <a:ext cx="4069080" cy="182880"/>
          </a:xfrm>
          <a:prstGeom prst="rect">
            <a:avLst/>
          </a:prstGeom>
          <a:noFill/>
          <a:ln/>
        </p:spPr>
        <p:txBody>
          <a:bodyPr wrap="square" lIns="0" tIns="0" rIns="0" bIns="0" rtlCol="0" anchor="ctr"/>
          <a:lstStyle/>
          <a:p>
            <a:pPr indent="0" marL="0">
              <a:buNone/>
            </a:pPr>
            <a:r>
              <a:rPr lang="en-US" sz="900" i="1" dirty="0">
                <a:solidFill>
                  <a:srgbClr val="38A169"/>
                </a:solidFill>
                <a:latin typeface="Calibri" pitchFamily="34" charset="0"/>
                <a:ea typeface="Calibri" pitchFamily="34" charset="-122"/>
                <a:cs typeface="Calibri" pitchFamily="34" charset="-120"/>
              </a:rPr>
              <a:t>Correction sereine — B et C n'ont jamais été interrompus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B3A"/>
          </a:solidFill>
          <a:ln/>
        </p:spPr>
      </p:sp>
      <p:sp>
        <p:nvSpPr>
          <p:cNvPr id="3" name="Shape 1"/>
          <p:cNvSpPr/>
          <p:nvPr/>
        </p:nvSpPr>
        <p:spPr>
          <a:xfrm>
            <a:off x="0" y="0"/>
            <a:ext cx="164592" cy="658368"/>
          </a:xfrm>
          <a:prstGeom prst="rect">
            <a:avLst/>
          </a:prstGeom>
          <a:solidFill>
            <a:srgbClr val="DD6B20"/>
          </a:solidFill>
          <a:ln/>
        </p:spPr>
      </p:sp>
      <p:sp>
        <p:nvSpPr>
          <p:cNvPr id="4" name="Text 2"/>
          <p:cNvSpPr/>
          <p:nvPr/>
        </p:nvSpPr>
        <p:spPr>
          <a:xfrm>
            <a:off x="347472" y="54864"/>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03  |  Exposer les PG Communs en API ?</a:t>
            </a:r>
            <a:endParaRPr lang="en-US" sz="2200" dirty="0"/>
          </a:p>
        </p:txBody>
      </p:sp>
      <p:sp>
        <p:nvSpPr>
          <p:cNvPr id="5" name="Shape 3"/>
          <p:cNvSpPr/>
          <p:nvPr/>
        </p:nvSpPr>
        <p:spPr>
          <a:xfrm>
            <a:off x="274320" y="749808"/>
            <a:ext cx="8595360" cy="18745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74320" y="749808"/>
            <a:ext cx="8595360" cy="292608"/>
          </a:xfrm>
          <a:prstGeom prst="rect">
            <a:avLst/>
          </a:prstGeom>
          <a:solidFill>
            <a:srgbClr val="021B3A"/>
          </a:solidFill>
          <a:ln/>
        </p:spPr>
      </p:sp>
      <p:sp>
        <p:nvSpPr>
          <p:cNvPr id="7" name="Text 5"/>
          <p:cNvSpPr/>
          <p:nvPr/>
        </p:nvSpPr>
        <p:spPr>
          <a:xfrm>
            <a:off x="320040" y="749808"/>
            <a:ext cx="85039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L'idée en théorie — Style Microservices</a:t>
            </a:r>
            <a:endParaRPr lang="en-US" sz="1100" dirty="0"/>
          </a:p>
        </p:txBody>
      </p:sp>
      <p:sp>
        <p:nvSpPr>
          <p:cNvPr id="8" name="Shape 6"/>
          <p:cNvSpPr/>
          <p:nvPr/>
        </p:nvSpPr>
        <p:spPr>
          <a:xfrm>
            <a:off x="411480" y="1143000"/>
            <a:ext cx="1371600" cy="256032"/>
          </a:xfrm>
          <a:prstGeom prst="rect">
            <a:avLst/>
          </a:prstGeom>
          <a:solidFill>
            <a:srgbClr val="065A82"/>
          </a:solidFill>
          <a:ln/>
          <a:effectLst>
            <a:outerShdw sx="100000" sy="100000" kx="0" ky="0" algn="bl" rotWithShape="0" blurRad="101600" dist="38100" dir="8100000">
              <a:srgbClr val="000000">
                <a:alpha val="10000"/>
              </a:srgbClr>
            </a:outerShdw>
          </a:effectLst>
        </p:spPr>
      </p:sp>
      <p:sp>
        <p:nvSpPr>
          <p:cNvPr id="9" name="Text 7"/>
          <p:cNvSpPr/>
          <p:nvPr/>
        </p:nvSpPr>
        <p:spPr>
          <a:xfrm>
            <a:off x="411480" y="1143000"/>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Pipeline A</a:t>
            </a:r>
            <a:endParaRPr lang="en-US" sz="1000" dirty="0"/>
          </a:p>
        </p:txBody>
      </p:sp>
      <p:sp>
        <p:nvSpPr>
          <p:cNvPr id="10" name="Shape 8"/>
          <p:cNvSpPr/>
          <p:nvPr/>
        </p:nvSpPr>
        <p:spPr>
          <a:xfrm>
            <a:off x="1783080" y="1271016"/>
            <a:ext cx="1005840" cy="0"/>
          </a:xfrm>
          <a:prstGeom prst="line">
            <a:avLst/>
          </a:prstGeom>
          <a:noFill/>
          <a:ln w="25400">
            <a:solidFill>
              <a:srgbClr val="DD6B20"/>
            </a:solidFill>
            <a:prstDash val="solid"/>
          </a:ln>
        </p:spPr>
      </p:sp>
      <p:sp>
        <p:nvSpPr>
          <p:cNvPr id="11" name="Text 9"/>
          <p:cNvSpPr/>
          <p:nvPr/>
        </p:nvSpPr>
        <p:spPr>
          <a:xfrm>
            <a:off x="1801368" y="1143000"/>
            <a:ext cx="969264" cy="237744"/>
          </a:xfrm>
          <a:prstGeom prst="rect">
            <a:avLst/>
          </a:prstGeom>
          <a:noFill/>
          <a:ln/>
        </p:spPr>
        <p:txBody>
          <a:bodyPr wrap="square" lIns="0" tIns="0" rIns="0" bIns="0" rtlCol="0" anchor="ctr"/>
          <a:lstStyle/>
          <a:p>
            <a:pPr algn="ctr" indent="0" marL="0">
              <a:buNone/>
            </a:pPr>
            <a:r>
              <a:rPr lang="en-US" sz="700" dirty="0">
                <a:solidFill>
                  <a:srgbClr val="DD6B20"/>
                </a:solidFill>
                <a:latin typeface="Calibri" pitchFamily="34" charset="0"/>
                <a:ea typeface="Calibri" pitchFamily="34" charset="-122"/>
                <a:cs typeface="Calibri" pitchFamily="34" charset="-120"/>
              </a:rPr>
              <a:t>HTTP POST</a:t>
            </a:r>
            <a:endParaRPr lang="en-US" sz="700" dirty="0"/>
          </a:p>
        </p:txBody>
      </p:sp>
      <p:sp>
        <p:nvSpPr>
          <p:cNvPr id="12" name="Shape 10"/>
          <p:cNvSpPr/>
          <p:nvPr/>
        </p:nvSpPr>
        <p:spPr>
          <a:xfrm>
            <a:off x="411480" y="1481328"/>
            <a:ext cx="1371600" cy="256032"/>
          </a:xfrm>
          <a:prstGeom prst="rect">
            <a:avLst/>
          </a:prstGeom>
          <a:solidFill>
            <a:srgbClr val="028090"/>
          </a:solidFill>
          <a:ln/>
          <a:effectLst>
            <a:outerShdw sx="100000" sy="100000" kx="0" ky="0" algn="bl" rotWithShape="0" blurRad="101600" dist="38100" dir="8100000">
              <a:srgbClr val="000000">
                <a:alpha val="10000"/>
              </a:srgbClr>
            </a:outerShdw>
          </a:effectLst>
        </p:spPr>
      </p:sp>
      <p:sp>
        <p:nvSpPr>
          <p:cNvPr id="13" name="Text 11"/>
          <p:cNvSpPr/>
          <p:nvPr/>
        </p:nvSpPr>
        <p:spPr>
          <a:xfrm>
            <a:off x="411480" y="1481328"/>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Pipeline B</a:t>
            </a:r>
            <a:endParaRPr lang="en-US" sz="1000" dirty="0"/>
          </a:p>
        </p:txBody>
      </p:sp>
      <p:sp>
        <p:nvSpPr>
          <p:cNvPr id="14" name="Shape 12"/>
          <p:cNvSpPr/>
          <p:nvPr/>
        </p:nvSpPr>
        <p:spPr>
          <a:xfrm>
            <a:off x="1783080" y="1609344"/>
            <a:ext cx="1005840" cy="0"/>
          </a:xfrm>
          <a:prstGeom prst="line">
            <a:avLst/>
          </a:prstGeom>
          <a:noFill/>
          <a:ln w="25400">
            <a:solidFill>
              <a:srgbClr val="DD6B20"/>
            </a:solidFill>
            <a:prstDash val="solid"/>
          </a:ln>
        </p:spPr>
      </p:sp>
      <p:sp>
        <p:nvSpPr>
          <p:cNvPr id="15" name="Text 13"/>
          <p:cNvSpPr/>
          <p:nvPr/>
        </p:nvSpPr>
        <p:spPr>
          <a:xfrm>
            <a:off x="1801368" y="1481328"/>
            <a:ext cx="969264" cy="237744"/>
          </a:xfrm>
          <a:prstGeom prst="rect">
            <a:avLst/>
          </a:prstGeom>
          <a:noFill/>
          <a:ln/>
        </p:spPr>
        <p:txBody>
          <a:bodyPr wrap="square" lIns="0" tIns="0" rIns="0" bIns="0" rtlCol="0" anchor="ctr"/>
          <a:lstStyle/>
          <a:p>
            <a:pPr algn="ctr" indent="0" marL="0">
              <a:buNone/>
            </a:pPr>
            <a:r>
              <a:rPr lang="en-US" sz="700" dirty="0">
                <a:solidFill>
                  <a:srgbClr val="DD6B20"/>
                </a:solidFill>
                <a:latin typeface="Calibri" pitchFamily="34" charset="0"/>
                <a:ea typeface="Calibri" pitchFamily="34" charset="-122"/>
                <a:cs typeface="Calibri" pitchFamily="34" charset="-120"/>
              </a:rPr>
              <a:t>HTTP POST</a:t>
            </a:r>
            <a:endParaRPr lang="en-US" sz="700" dirty="0"/>
          </a:p>
        </p:txBody>
      </p:sp>
      <p:sp>
        <p:nvSpPr>
          <p:cNvPr id="16" name="Shape 14"/>
          <p:cNvSpPr/>
          <p:nvPr/>
        </p:nvSpPr>
        <p:spPr>
          <a:xfrm>
            <a:off x="411480" y="1819656"/>
            <a:ext cx="1371600" cy="256032"/>
          </a:xfrm>
          <a:prstGeom prst="rect">
            <a:avLst/>
          </a:prstGeom>
          <a:solidFill>
            <a:srgbClr val="6B46C1"/>
          </a:solidFill>
          <a:ln/>
          <a:effectLst>
            <a:outerShdw sx="100000" sy="100000" kx="0" ky="0" algn="bl" rotWithShape="0" blurRad="101600" dist="38100" dir="8100000">
              <a:srgbClr val="000000">
                <a:alpha val="10000"/>
              </a:srgbClr>
            </a:outerShdw>
          </a:effectLst>
        </p:spPr>
      </p:sp>
      <p:sp>
        <p:nvSpPr>
          <p:cNvPr id="17" name="Text 15"/>
          <p:cNvSpPr/>
          <p:nvPr/>
        </p:nvSpPr>
        <p:spPr>
          <a:xfrm>
            <a:off x="411480" y="1819656"/>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Pipeline C</a:t>
            </a:r>
            <a:endParaRPr lang="en-US" sz="1000" dirty="0"/>
          </a:p>
        </p:txBody>
      </p:sp>
      <p:sp>
        <p:nvSpPr>
          <p:cNvPr id="18" name="Shape 16"/>
          <p:cNvSpPr/>
          <p:nvPr/>
        </p:nvSpPr>
        <p:spPr>
          <a:xfrm>
            <a:off x="1783080" y="1947672"/>
            <a:ext cx="1005840" cy="0"/>
          </a:xfrm>
          <a:prstGeom prst="line">
            <a:avLst/>
          </a:prstGeom>
          <a:noFill/>
          <a:ln w="25400">
            <a:solidFill>
              <a:srgbClr val="DD6B20"/>
            </a:solidFill>
            <a:prstDash val="solid"/>
          </a:ln>
        </p:spPr>
      </p:sp>
      <p:sp>
        <p:nvSpPr>
          <p:cNvPr id="19" name="Text 17"/>
          <p:cNvSpPr/>
          <p:nvPr/>
        </p:nvSpPr>
        <p:spPr>
          <a:xfrm>
            <a:off x="1801368" y="1819656"/>
            <a:ext cx="969264" cy="237744"/>
          </a:xfrm>
          <a:prstGeom prst="rect">
            <a:avLst/>
          </a:prstGeom>
          <a:noFill/>
          <a:ln/>
        </p:spPr>
        <p:txBody>
          <a:bodyPr wrap="square" lIns="0" tIns="0" rIns="0" bIns="0" rtlCol="0" anchor="ctr"/>
          <a:lstStyle/>
          <a:p>
            <a:pPr algn="ctr" indent="0" marL="0">
              <a:buNone/>
            </a:pPr>
            <a:r>
              <a:rPr lang="en-US" sz="700" dirty="0">
                <a:solidFill>
                  <a:srgbClr val="DD6B20"/>
                </a:solidFill>
                <a:latin typeface="Calibri" pitchFamily="34" charset="0"/>
                <a:ea typeface="Calibri" pitchFamily="34" charset="-122"/>
                <a:cs typeface="Calibri" pitchFamily="34" charset="-120"/>
              </a:rPr>
              <a:t>HTTP POST</a:t>
            </a:r>
            <a:endParaRPr lang="en-US" sz="700" dirty="0"/>
          </a:p>
        </p:txBody>
      </p:sp>
      <p:sp>
        <p:nvSpPr>
          <p:cNvPr id="20" name="Shape 18"/>
          <p:cNvSpPr/>
          <p:nvPr/>
        </p:nvSpPr>
        <p:spPr>
          <a:xfrm>
            <a:off x="2834640" y="1097280"/>
            <a:ext cx="2286000" cy="1024128"/>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21" name="Shape 19"/>
          <p:cNvSpPr/>
          <p:nvPr/>
        </p:nvSpPr>
        <p:spPr>
          <a:xfrm>
            <a:off x="2834640" y="1097280"/>
            <a:ext cx="2286000" cy="256032"/>
          </a:xfrm>
          <a:prstGeom prst="rect">
            <a:avLst/>
          </a:prstGeom>
          <a:solidFill>
            <a:srgbClr val="DD6B20"/>
          </a:solidFill>
          <a:ln/>
        </p:spPr>
      </p:sp>
      <p:sp>
        <p:nvSpPr>
          <p:cNvPr id="22" name="Text 20"/>
          <p:cNvSpPr/>
          <p:nvPr/>
        </p:nvSpPr>
        <p:spPr>
          <a:xfrm>
            <a:off x="2852928" y="1097280"/>
            <a:ext cx="224942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PG Commun (API)</a:t>
            </a:r>
            <a:endParaRPr lang="en-US" sz="1000" dirty="0"/>
          </a:p>
        </p:txBody>
      </p:sp>
      <p:sp>
        <p:nvSpPr>
          <p:cNvPr id="23" name="Text 21"/>
          <p:cNvSpPr/>
          <p:nvPr/>
        </p:nvSpPr>
        <p:spPr>
          <a:xfrm>
            <a:off x="2852928" y="1371600"/>
            <a:ext cx="2249424" cy="685800"/>
          </a:xfrm>
          <a:prstGeom prst="rect">
            <a:avLst/>
          </a:prstGeom>
          <a:noFill/>
          <a:ln/>
        </p:spPr>
        <p:txBody>
          <a:bodyPr wrap="square" lIns="0" tIns="0" rIns="0" bIns="0" rtlCol="0" anchor="ctr"/>
          <a:lstStyle/>
          <a:p>
            <a:pPr algn="ctr" indent="0" marL="0">
              <a:buNone/>
            </a:pPr>
            <a:r>
              <a:rPr lang="en-US" sz="900" dirty="0">
                <a:solidFill>
                  <a:srgbClr val="021B3A"/>
                </a:solidFill>
                <a:latin typeface="Calibri" pitchFamily="34" charset="0"/>
                <a:ea typeface="Calibri" pitchFamily="34" charset="-122"/>
                <a:cs typeface="Calibri" pitchFamily="34" charset="-120"/>
              </a:rPr>
              <a:t>ListenHTTP</a:t>
            </a:r>
            <a:endParaRPr lang="en-US" sz="900" dirty="0"/>
          </a:p>
          <a:p>
            <a:pPr algn="ctr" indent="0" marL="0">
              <a:buNone/>
            </a:pPr>
            <a:r>
              <a:rPr lang="en-US" sz="900" dirty="0">
                <a:solidFill>
                  <a:srgbClr val="021B3A"/>
                </a:solidFill>
                <a:latin typeface="Calibri" pitchFamily="34" charset="0"/>
                <a:ea typeface="Calibri" pitchFamily="34" charset="-122"/>
                <a:cs typeface="Calibri" pitchFamily="34" charset="-120"/>
              </a:rPr>
              <a:t>Enrichissement</a:t>
            </a:r>
            <a:endParaRPr lang="en-US" sz="900" dirty="0"/>
          </a:p>
          <a:p>
            <a:pPr algn="ctr" indent="0" marL="0">
              <a:buNone/>
            </a:pPr>
            <a:r>
              <a:rPr lang="en-US" sz="900" dirty="0">
                <a:solidFill>
                  <a:srgbClr val="021B3A"/>
                </a:solidFill>
                <a:latin typeface="Calibri" pitchFamily="34" charset="0"/>
                <a:ea typeface="Calibri" pitchFamily="34" charset="-122"/>
                <a:cs typeface="Calibri" pitchFamily="34" charset="-120"/>
              </a:rPr>
              <a:t>Gestion Erreurs</a:t>
            </a:r>
            <a:endParaRPr lang="en-US" sz="900" dirty="0"/>
          </a:p>
        </p:txBody>
      </p:sp>
      <p:sp>
        <p:nvSpPr>
          <p:cNvPr id="24" name="Shape 22"/>
          <p:cNvSpPr/>
          <p:nvPr/>
        </p:nvSpPr>
        <p:spPr>
          <a:xfrm>
            <a:off x="5120640" y="1271016"/>
            <a:ext cx="731520" cy="0"/>
          </a:xfrm>
          <a:prstGeom prst="line">
            <a:avLst/>
          </a:prstGeom>
          <a:noFill/>
          <a:ln w="25400">
            <a:solidFill>
              <a:srgbClr val="64748B"/>
            </a:solidFill>
            <a:prstDash val="solid"/>
          </a:ln>
        </p:spPr>
      </p:sp>
      <p:sp>
        <p:nvSpPr>
          <p:cNvPr id="25" name="Text 23"/>
          <p:cNvSpPr/>
          <p:nvPr/>
        </p:nvSpPr>
        <p:spPr>
          <a:xfrm>
            <a:off x="5138928" y="1143000"/>
            <a:ext cx="694944" cy="237744"/>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réponse ?</a:t>
            </a:r>
            <a:endParaRPr lang="en-US" sz="700" dirty="0"/>
          </a:p>
        </p:txBody>
      </p:sp>
      <p:sp>
        <p:nvSpPr>
          <p:cNvPr id="26" name="Shape 24"/>
          <p:cNvSpPr/>
          <p:nvPr/>
        </p:nvSpPr>
        <p:spPr>
          <a:xfrm>
            <a:off x="5870448" y="1143000"/>
            <a:ext cx="1280160" cy="256032"/>
          </a:xfrm>
          <a:prstGeom prst="rect">
            <a:avLst/>
          </a:prstGeom>
          <a:solidFill>
            <a:srgbClr val="065A82"/>
          </a:solidFill>
          <a:ln/>
          <a:effectLst>
            <a:outerShdw sx="100000" sy="100000" kx="0" ky="0" algn="bl" rotWithShape="0" blurRad="101600" dist="38100" dir="8100000">
              <a:srgbClr val="000000">
                <a:alpha val="10000"/>
              </a:srgbClr>
            </a:outerShdw>
          </a:effectLst>
        </p:spPr>
      </p:sp>
      <p:sp>
        <p:nvSpPr>
          <p:cNvPr id="27" name="Text 25"/>
          <p:cNvSpPr/>
          <p:nvPr/>
        </p:nvSpPr>
        <p:spPr>
          <a:xfrm>
            <a:off x="5870448" y="1143000"/>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Pipeline A ▶</a:t>
            </a:r>
            <a:endParaRPr lang="en-US" sz="1000" dirty="0"/>
          </a:p>
        </p:txBody>
      </p:sp>
      <p:sp>
        <p:nvSpPr>
          <p:cNvPr id="28" name="Shape 26"/>
          <p:cNvSpPr/>
          <p:nvPr/>
        </p:nvSpPr>
        <p:spPr>
          <a:xfrm>
            <a:off x="5120640" y="1609344"/>
            <a:ext cx="731520" cy="0"/>
          </a:xfrm>
          <a:prstGeom prst="line">
            <a:avLst/>
          </a:prstGeom>
          <a:noFill/>
          <a:ln w="25400">
            <a:solidFill>
              <a:srgbClr val="64748B"/>
            </a:solidFill>
            <a:prstDash val="solid"/>
          </a:ln>
        </p:spPr>
      </p:sp>
      <p:sp>
        <p:nvSpPr>
          <p:cNvPr id="29" name="Text 27"/>
          <p:cNvSpPr/>
          <p:nvPr/>
        </p:nvSpPr>
        <p:spPr>
          <a:xfrm>
            <a:off x="5138928" y="1481328"/>
            <a:ext cx="694944" cy="237744"/>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réponse ?</a:t>
            </a:r>
            <a:endParaRPr lang="en-US" sz="700" dirty="0"/>
          </a:p>
        </p:txBody>
      </p:sp>
      <p:sp>
        <p:nvSpPr>
          <p:cNvPr id="30" name="Shape 28"/>
          <p:cNvSpPr/>
          <p:nvPr/>
        </p:nvSpPr>
        <p:spPr>
          <a:xfrm>
            <a:off x="5870448" y="1481328"/>
            <a:ext cx="1280160" cy="256032"/>
          </a:xfrm>
          <a:prstGeom prst="rect">
            <a:avLst/>
          </a:prstGeom>
          <a:solidFill>
            <a:srgbClr val="028090"/>
          </a:solidFill>
          <a:ln/>
          <a:effectLst>
            <a:outerShdw sx="100000" sy="100000" kx="0" ky="0" algn="bl" rotWithShape="0" blurRad="101600" dist="38100" dir="8100000">
              <a:srgbClr val="000000">
                <a:alpha val="10000"/>
              </a:srgbClr>
            </a:outerShdw>
          </a:effectLst>
        </p:spPr>
      </p:sp>
      <p:sp>
        <p:nvSpPr>
          <p:cNvPr id="31" name="Text 29"/>
          <p:cNvSpPr/>
          <p:nvPr/>
        </p:nvSpPr>
        <p:spPr>
          <a:xfrm>
            <a:off x="5870448" y="1481328"/>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Pipeline B ▶</a:t>
            </a:r>
            <a:endParaRPr lang="en-US" sz="1000" dirty="0"/>
          </a:p>
        </p:txBody>
      </p:sp>
      <p:sp>
        <p:nvSpPr>
          <p:cNvPr id="32" name="Shape 30"/>
          <p:cNvSpPr/>
          <p:nvPr/>
        </p:nvSpPr>
        <p:spPr>
          <a:xfrm>
            <a:off x="5120640" y="1947672"/>
            <a:ext cx="731520" cy="0"/>
          </a:xfrm>
          <a:prstGeom prst="line">
            <a:avLst/>
          </a:prstGeom>
          <a:noFill/>
          <a:ln w="25400">
            <a:solidFill>
              <a:srgbClr val="64748B"/>
            </a:solidFill>
            <a:prstDash val="solid"/>
          </a:ln>
        </p:spPr>
      </p:sp>
      <p:sp>
        <p:nvSpPr>
          <p:cNvPr id="33" name="Text 31"/>
          <p:cNvSpPr/>
          <p:nvPr/>
        </p:nvSpPr>
        <p:spPr>
          <a:xfrm>
            <a:off x="5138928" y="1819656"/>
            <a:ext cx="694944" cy="237744"/>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réponse ?</a:t>
            </a:r>
            <a:endParaRPr lang="en-US" sz="700" dirty="0"/>
          </a:p>
        </p:txBody>
      </p:sp>
      <p:sp>
        <p:nvSpPr>
          <p:cNvPr id="34" name="Shape 32"/>
          <p:cNvSpPr/>
          <p:nvPr/>
        </p:nvSpPr>
        <p:spPr>
          <a:xfrm>
            <a:off x="5870448" y="1819656"/>
            <a:ext cx="1280160" cy="256032"/>
          </a:xfrm>
          <a:prstGeom prst="rect">
            <a:avLst/>
          </a:prstGeom>
          <a:solidFill>
            <a:srgbClr val="6B46C1"/>
          </a:solidFill>
          <a:ln/>
          <a:effectLst>
            <a:outerShdw sx="100000" sy="100000" kx="0" ky="0" algn="bl" rotWithShape="0" blurRad="101600" dist="38100" dir="8100000">
              <a:srgbClr val="000000">
                <a:alpha val="10000"/>
              </a:srgbClr>
            </a:outerShdw>
          </a:effectLst>
        </p:spPr>
      </p:sp>
      <p:sp>
        <p:nvSpPr>
          <p:cNvPr id="35" name="Text 33"/>
          <p:cNvSpPr/>
          <p:nvPr/>
        </p:nvSpPr>
        <p:spPr>
          <a:xfrm>
            <a:off x="5870448" y="1819656"/>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Pipeline C ▶</a:t>
            </a:r>
            <a:endParaRPr lang="en-US" sz="1000" dirty="0"/>
          </a:p>
        </p:txBody>
      </p:sp>
      <p:sp>
        <p:nvSpPr>
          <p:cNvPr id="36" name="Shape 34"/>
          <p:cNvSpPr/>
          <p:nvPr/>
        </p:nvSpPr>
        <p:spPr>
          <a:xfrm>
            <a:off x="274320" y="2724912"/>
            <a:ext cx="8595360" cy="347472"/>
          </a:xfrm>
          <a:prstGeom prst="rect">
            <a:avLst/>
          </a:prstGeom>
          <a:solidFill>
            <a:srgbClr val="E53E3E"/>
          </a:solidFill>
          <a:ln/>
        </p:spPr>
      </p:sp>
      <p:sp>
        <p:nvSpPr>
          <p:cNvPr id="37" name="Text 35"/>
          <p:cNvSpPr/>
          <p:nvPr/>
        </p:nvSpPr>
        <p:spPr>
          <a:xfrm>
            <a:off x="320040" y="2724912"/>
            <a:ext cx="8503920" cy="347472"/>
          </a:xfrm>
          <a:prstGeom prst="rect">
            <a:avLst/>
          </a:prstGeom>
          <a:noFill/>
          <a:ln/>
        </p:spPr>
        <p:txBody>
          <a:bodyPr wrap="square" lIns="50800" tIns="50800" rIns="50800" bIns="5080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Verdict : Mauvaise idée — NiFi est un moteur de flux asynchrone, pas un serveur d'API synchrone</a:t>
            </a:r>
            <a:endParaRPr lang="en-US" sz="1100" dirty="0"/>
          </a:p>
        </p:txBody>
      </p:sp>
      <p:sp>
        <p:nvSpPr>
          <p:cNvPr id="38" name="Shape 36"/>
          <p:cNvSpPr/>
          <p:nvPr/>
        </p:nvSpPr>
        <p:spPr>
          <a:xfrm>
            <a:off x="274320" y="3154680"/>
            <a:ext cx="3977640" cy="5486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39" name="Shape 37"/>
          <p:cNvSpPr/>
          <p:nvPr/>
        </p:nvSpPr>
        <p:spPr>
          <a:xfrm>
            <a:off x="274320" y="3154680"/>
            <a:ext cx="64008" cy="548640"/>
          </a:xfrm>
          <a:prstGeom prst="rect">
            <a:avLst/>
          </a:prstGeom>
          <a:solidFill>
            <a:srgbClr val="E53E3E"/>
          </a:solidFill>
          <a:ln/>
        </p:spPr>
      </p:sp>
      <p:sp>
        <p:nvSpPr>
          <p:cNvPr id="40" name="Shape 38"/>
          <p:cNvSpPr/>
          <p:nvPr/>
        </p:nvSpPr>
        <p:spPr>
          <a:xfrm>
            <a:off x="384048" y="3246120"/>
            <a:ext cx="347472" cy="347472"/>
          </a:xfrm>
          <a:prstGeom prst="ellipse">
            <a:avLst/>
          </a:prstGeom>
          <a:solidFill>
            <a:srgbClr val="E53E3E"/>
          </a:solidFill>
          <a:ln/>
        </p:spPr>
      </p:sp>
      <p:sp>
        <p:nvSpPr>
          <p:cNvPr id="41" name="Text 39"/>
          <p:cNvSpPr/>
          <p:nvPr/>
        </p:nvSpPr>
        <p:spPr>
          <a:xfrm>
            <a:off x="384048" y="32461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2" name="Text 40"/>
          <p:cNvSpPr/>
          <p:nvPr/>
        </p:nvSpPr>
        <p:spPr>
          <a:xfrm>
            <a:off x="822960" y="3191256"/>
            <a:ext cx="3337560" cy="228600"/>
          </a:xfrm>
          <a:prstGeom prst="rect">
            <a:avLst/>
          </a:prstGeom>
          <a:noFill/>
          <a:ln/>
        </p:spPr>
        <p:txBody>
          <a:bodyPr wrap="square" lIns="0" tIns="0" rIns="0" bIns="0" rtlCol="0" anchor="ctr"/>
          <a:lstStyle/>
          <a:p>
            <a:pPr indent="0" marL="0">
              <a:buNone/>
            </a:pPr>
            <a:r>
              <a:rPr lang="en-US" sz="1000" b="1" dirty="0">
                <a:solidFill>
                  <a:srgbClr val="021B3A"/>
                </a:solidFill>
                <a:latin typeface="Calibri" pitchFamily="34" charset="0"/>
                <a:ea typeface="Calibri" pitchFamily="34" charset="-122"/>
                <a:cs typeface="Calibri" pitchFamily="34" charset="-120"/>
              </a:rPr>
              <a:t>NiFi est asynchrone</a:t>
            </a:r>
            <a:endParaRPr lang="en-US" sz="1000" dirty="0"/>
          </a:p>
        </p:txBody>
      </p:sp>
      <p:sp>
        <p:nvSpPr>
          <p:cNvPr id="43" name="Text 41"/>
          <p:cNvSpPr/>
          <p:nvPr/>
        </p:nvSpPr>
        <p:spPr>
          <a:xfrm>
            <a:off x="822960" y="3429000"/>
            <a:ext cx="3337560"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ListenHTTP répond HTTP 200 immédiatement — pas quand le traitement est terminé. Le client ne sait jamais si ça a réussi.</a:t>
            </a:r>
            <a:endParaRPr lang="en-US" sz="800" dirty="0"/>
          </a:p>
        </p:txBody>
      </p:sp>
      <p:sp>
        <p:nvSpPr>
          <p:cNvPr id="44" name="Shape 42"/>
          <p:cNvSpPr/>
          <p:nvPr/>
        </p:nvSpPr>
        <p:spPr>
          <a:xfrm>
            <a:off x="274320" y="3776472"/>
            <a:ext cx="3977640" cy="5486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5" name="Shape 43"/>
          <p:cNvSpPr/>
          <p:nvPr/>
        </p:nvSpPr>
        <p:spPr>
          <a:xfrm>
            <a:off x="274320" y="3776472"/>
            <a:ext cx="64008" cy="548640"/>
          </a:xfrm>
          <a:prstGeom prst="rect">
            <a:avLst/>
          </a:prstGeom>
          <a:solidFill>
            <a:srgbClr val="DD6B20"/>
          </a:solidFill>
          <a:ln/>
        </p:spPr>
      </p:sp>
      <p:sp>
        <p:nvSpPr>
          <p:cNvPr id="46" name="Shape 44"/>
          <p:cNvSpPr/>
          <p:nvPr/>
        </p:nvSpPr>
        <p:spPr>
          <a:xfrm>
            <a:off x="384048" y="3867912"/>
            <a:ext cx="347472" cy="347472"/>
          </a:xfrm>
          <a:prstGeom prst="ellipse">
            <a:avLst/>
          </a:prstGeom>
          <a:solidFill>
            <a:srgbClr val="DD6B20"/>
          </a:solidFill>
          <a:ln/>
        </p:spPr>
      </p:sp>
      <p:sp>
        <p:nvSpPr>
          <p:cNvPr id="47" name="Text 45"/>
          <p:cNvSpPr/>
          <p:nvPr/>
        </p:nvSpPr>
        <p:spPr>
          <a:xfrm>
            <a:off x="384048" y="3867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8" name="Text 46"/>
          <p:cNvSpPr/>
          <p:nvPr/>
        </p:nvSpPr>
        <p:spPr>
          <a:xfrm>
            <a:off x="822960" y="3813048"/>
            <a:ext cx="3337560" cy="228600"/>
          </a:xfrm>
          <a:prstGeom prst="rect">
            <a:avLst/>
          </a:prstGeom>
          <a:noFill/>
          <a:ln/>
        </p:spPr>
        <p:txBody>
          <a:bodyPr wrap="square" lIns="0" tIns="0" rIns="0" bIns="0" rtlCol="0" anchor="ctr"/>
          <a:lstStyle/>
          <a:p>
            <a:pPr indent="0" marL="0">
              <a:buNone/>
            </a:pPr>
            <a:r>
              <a:rPr lang="en-US" sz="1000" b="1" dirty="0">
                <a:solidFill>
                  <a:srgbClr val="021B3A"/>
                </a:solidFill>
                <a:latin typeface="Calibri" pitchFamily="34" charset="0"/>
                <a:ea typeface="Calibri" pitchFamily="34" charset="-122"/>
                <a:cs typeface="Calibri" pitchFamily="34" charset="-120"/>
              </a:rPr>
              <a:t>Mêmes problèmes que le PG partagé</a:t>
            </a:r>
            <a:endParaRPr lang="en-US" sz="1000" dirty="0"/>
          </a:p>
        </p:txBody>
      </p:sp>
      <p:sp>
        <p:nvSpPr>
          <p:cNvPr id="49" name="Text 47"/>
          <p:cNvSpPr/>
          <p:nvPr/>
        </p:nvSpPr>
        <p:spPr>
          <a:xfrm>
            <a:off x="822960" y="4050792"/>
            <a:ext cx="3337560"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Un seul point de défaillance, back-pressure commun, déploiement risqué. Tu réintroduis exactement ce que tu voulais éviter.</a:t>
            </a:r>
            <a:endParaRPr lang="en-US" sz="800" dirty="0"/>
          </a:p>
        </p:txBody>
      </p:sp>
      <p:sp>
        <p:nvSpPr>
          <p:cNvPr id="50" name="Shape 48"/>
          <p:cNvSpPr/>
          <p:nvPr/>
        </p:nvSpPr>
        <p:spPr>
          <a:xfrm>
            <a:off x="274320" y="4398264"/>
            <a:ext cx="3977640" cy="5486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51" name="Shape 49"/>
          <p:cNvSpPr/>
          <p:nvPr/>
        </p:nvSpPr>
        <p:spPr>
          <a:xfrm>
            <a:off x="274320" y="4398264"/>
            <a:ext cx="64008" cy="548640"/>
          </a:xfrm>
          <a:prstGeom prst="rect">
            <a:avLst/>
          </a:prstGeom>
          <a:solidFill>
            <a:srgbClr val="D69E2E"/>
          </a:solidFill>
          <a:ln/>
        </p:spPr>
      </p:sp>
      <p:sp>
        <p:nvSpPr>
          <p:cNvPr id="52" name="Shape 50"/>
          <p:cNvSpPr/>
          <p:nvPr/>
        </p:nvSpPr>
        <p:spPr>
          <a:xfrm>
            <a:off x="384048" y="4489704"/>
            <a:ext cx="347472" cy="347472"/>
          </a:xfrm>
          <a:prstGeom prst="ellipse">
            <a:avLst/>
          </a:prstGeom>
          <a:solidFill>
            <a:srgbClr val="D69E2E"/>
          </a:solidFill>
          <a:ln/>
        </p:spPr>
      </p:sp>
      <p:sp>
        <p:nvSpPr>
          <p:cNvPr id="53" name="Text 51"/>
          <p:cNvSpPr/>
          <p:nvPr/>
        </p:nvSpPr>
        <p:spPr>
          <a:xfrm>
            <a:off x="384048" y="448970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4" name="Text 52"/>
          <p:cNvSpPr/>
          <p:nvPr/>
        </p:nvSpPr>
        <p:spPr>
          <a:xfrm>
            <a:off x="822960" y="4434840"/>
            <a:ext cx="3337560" cy="228600"/>
          </a:xfrm>
          <a:prstGeom prst="rect">
            <a:avLst/>
          </a:prstGeom>
          <a:noFill/>
          <a:ln/>
        </p:spPr>
        <p:txBody>
          <a:bodyPr wrap="square" lIns="0" tIns="0" rIns="0" bIns="0" rtlCol="0" anchor="ctr"/>
          <a:lstStyle/>
          <a:p>
            <a:pPr indent="0" marL="0">
              <a:buNone/>
            </a:pPr>
            <a:r>
              <a:rPr lang="en-US" sz="1000" b="1" dirty="0">
                <a:solidFill>
                  <a:srgbClr val="021B3A"/>
                </a:solidFill>
                <a:latin typeface="Calibri" pitchFamily="34" charset="0"/>
                <a:ea typeface="Calibri" pitchFamily="34" charset="-122"/>
                <a:cs typeface="Calibri" pitchFamily="34" charset="-120"/>
              </a:rPr>
              <a:t>Latence réseau inutile</a:t>
            </a:r>
            <a:endParaRPr lang="en-US" sz="1000" dirty="0"/>
          </a:p>
        </p:txBody>
      </p:sp>
      <p:sp>
        <p:nvSpPr>
          <p:cNvPr id="55" name="Text 53"/>
          <p:cNvSpPr/>
          <p:nvPr/>
        </p:nvSpPr>
        <p:spPr>
          <a:xfrm>
            <a:off x="822960" y="4672584"/>
            <a:ext cx="3337560"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Sérialisation + connexion + timeout HTTP entre composants du MÊME processus NiFi. Coût réseau pour rien.</a:t>
            </a:r>
            <a:endParaRPr lang="en-US" sz="800" dirty="0"/>
          </a:p>
        </p:txBody>
      </p:sp>
      <p:sp>
        <p:nvSpPr>
          <p:cNvPr id="56" name="Shape 54"/>
          <p:cNvSpPr/>
          <p:nvPr/>
        </p:nvSpPr>
        <p:spPr>
          <a:xfrm>
            <a:off x="4617720" y="3154680"/>
            <a:ext cx="4251960" cy="5486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57" name="Shape 55"/>
          <p:cNvSpPr/>
          <p:nvPr/>
        </p:nvSpPr>
        <p:spPr>
          <a:xfrm>
            <a:off x="4617720" y="3154680"/>
            <a:ext cx="64008" cy="548640"/>
          </a:xfrm>
          <a:prstGeom prst="rect">
            <a:avLst/>
          </a:prstGeom>
          <a:solidFill>
            <a:srgbClr val="028090"/>
          </a:solidFill>
          <a:ln/>
        </p:spPr>
      </p:sp>
      <p:sp>
        <p:nvSpPr>
          <p:cNvPr id="58" name="Shape 56"/>
          <p:cNvSpPr/>
          <p:nvPr/>
        </p:nvSpPr>
        <p:spPr>
          <a:xfrm>
            <a:off x="4727448" y="3246120"/>
            <a:ext cx="347472" cy="347472"/>
          </a:xfrm>
          <a:prstGeom prst="ellipse">
            <a:avLst/>
          </a:prstGeom>
          <a:solidFill>
            <a:srgbClr val="028090"/>
          </a:solidFill>
          <a:ln/>
        </p:spPr>
      </p:sp>
      <p:sp>
        <p:nvSpPr>
          <p:cNvPr id="59" name="Text 57"/>
          <p:cNvSpPr/>
          <p:nvPr/>
        </p:nvSpPr>
        <p:spPr>
          <a:xfrm>
            <a:off x="4727448" y="32461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0" name="Text 58"/>
          <p:cNvSpPr/>
          <p:nvPr/>
        </p:nvSpPr>
        <p:spPr>
          <a:xfrm>
            <a:off x="5166360" y="3191256"/>
            <a:ext cx="3611880" cy="228600"/>
          </a:xfrm>
          <a:prstGeom prst="rect">
            <a:avLst/>
          </a:prstGeom>
          <a:noFill/>
          <a:ln/>
        </p:spPr>
        <p:txBody>
          <a:bodyPr wrap="square" lIns="0" tIns="0" rIns="0" bIns="0" rtlCol="0" anchor="ctr"/>
          <a:lstStyle/>
          <a:p>
            <a:pPr indent="0" marL="0">
              <a:buNone/>
            </a:pPr>
            <a:r>
              <a:rPr lang="en-US" sz="1000" b="1" dirty="0">
                <a:solidFill>
                  <a:srgbClr val="021B3A"/>
                </a:solidFill>
                <a:latin typeface="Calibri" pitchFamily="34" charset="0"/>
                <a:ea typeface="Calibri" pitchFamily="34" charset="-122"/>
                <a:cs typeface="Calibri" pitchFamily="34" charset="-120"/>
              </a:rPr>
              <a:t>Complexité explosive</a:t>
            </a:r>
            <a:endParaRPr lang="en-US" sz="1000" dirty="0"/>
          </a:p>
        </p:txBody>
      </p:sp>
      <p:sp>
        <p:nvSpPr>
          <p:cNvPr id="61" name="Text 59"/>
          <p:cNvSpPr/>
          <p:nvPr/>
        </p:nvSpPr>
        <p:spPr>
          <a:xfrm>
            <a:off x="5166360" y="3429000"/>
            <a:ext cx="3611880"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Timeouts, erreurs réseau, versioning d'API interne... Tous les problèmes des microservices dans un outil pas fait pour ça.</a:t>
            </a:r>
            <a:endParaRPr lang="en-US" sz="800" dirty="0"/>
          </a:p>
        </p:txBody>
      </p:sp>
      <p:sp>
        <p:nvSpPr>
          <p:cNvPr id="62" name="Shape 60"/>
          <p:cNvSpPr/>
          <p:nvPr/>
        </p:nvSpPr>
        <p:spPr>
          <a:xfrm>
            <a:off x="4617720" y="3776472"/>
            <a:ext cx="4251960" cy="5486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3" name="Shape 61"/>
          <p:cNvSpPr/>
          <p:nvPr/>
        </p:nvSpPr>
        <p:spPr>
          <a:xfrm>
            <a:off x="4617720" y="3776472"/>
            <a:ext cx="64008" cy="548640"/>
          </a:xfrm>
          <a:prstGeom prst="rect">
            <a:avLst/>
          </a:prstGeom>
          <a:solidFill>
            <a:srgbClr val="065A82"/>
          </a:solidFill>
          <a:ln/>
        </p:spPr>
      </p:sp>
      <p:sp>
        <p:nvSpPr>
          <p:cNvPr id="64" name="Shape 62"/>
          <p:cNvSpPr/>
          <p:nvPr/>
        </p:nvSpPr>
        <p:spPr>
          <a:xfrm>
            <a:off x="4727448" y="3867912"/>
            <a:ext cx="347472" cy="347472"/>
          </a:xfrm>
          <a:prstGeom prst="ellipse">
            <a:avLst/>
          </a:prstGeom>
          <a:solidFill>
            <a:srgbClr val="065A82"/>
          </a:solidFill>
          <a:ln/>
        </p:spPr>
      </p:sp>
      <p:sp>
        <p:nvSpPr>
          <p:cNvPr id="65" name="Text 63"/>
          <p:cNvSpPr/>
          <p:nvPr/>
        </p:nvSpPr>
        <p:spPr>
          <a:xfrm>
            <a:off x="4727448" y="3867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66" name="Text 64"/>
          <p:cNvSpPr/>
          <p:nvPr/>
        </p:nvSpPr>
        <p:spPr>
          <a:xfrm>
            <a:off x="5166360" y="3813048"/>
            <a:ext cx="3611880" cy="228600"/>
          </a:xfrm>
          <a:prstGeom prst="rect">
            <a:avLst/>
          </a:prstGeom>
          <a:noFill/>
          <a:ln/>
        </p:spPr>
        <p:txBody>
          <a:bodyPr wrap="square" lIns="0" tIns="0" rIns="0" bIns="0" rtlCol="0" anchor="ctr"/>
          <a:lstStyle/>
          <a:p>
            <a:pPr indent="0" marL="0">
              <a:buNone/>
            </a:pPr>
            <a:r>
              <a:rPr lang="en-US" sz="1000" b="1" dirty="0">
                <a:solidFill>
                  <a:srgbClr val="021B3A"/>
                </a:solidFill>
                <a:latin typeface="Calibri" pitchFamily="34" charset="0"/>
                <a:ea typeface="Calibri" pitchFamily="34" charset="-122"/>
                <a:cs typeface="Calibri" pitchFamily="34" charset="-120"/>
              </a:rPr>
              <a:t>Perte de traçabilité FlowFiles</a:t>
            </a:r>
            <a:endParaRPr lang="en-US" sz="1000" dirty="0"/>
          </a:p>
        </p:txBody>
      </p:sp>
      <p:sp>
        <p:nvSpPr>
          <p:cNvPr id="67" name="Text 65"/>
          <p:cNvSpPr/>
          <p:nvPr/>
        </p:nvSpPr>
        <p:spPr>
          <a:xfrm>
            <a:off x="5166360" y="4050792"/>
            <a:ext cx="3611880"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Le FlowFile disparaît d'un côté, réapparaît de l'autre — sans lien visible sur le canvas NiFi.</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B3A"/>
          </a:solidFill>
          <a:ln/>
        </p:spPr>
      </p:sp>
      <p:sp>
        <p:nvSpPr>
          <p:cNvPr id="3" name="Shape 1"/>
          <p:cNvSpPr/>
          <p:nvPr/>
        </p:nvSpPr>
        <p:spPr>
          <a:xfrm>
            <a:off x="0" y="0"/>
            <a:ext cx="164592" cy="658368"/>
          </a:xfrm>
          <a:prstGeom prst="rect">
            <a:avLst/>
          </a:prstGeom>
          <a:solidFill>
            <a:srgbClr val="6B46C1"/>
          </a:solidFill>
          <a:ln/>
        </p:spPr>
      </p:sp>
      <p:sp>
        <p:nvSpPr>
          <p:cNvPr id="4" name="Text 2"/>
          <p:cNvSpPr/>
          <p:nvPr/>
        </p:nvSpPr>
        <p:spPr>
          <a:xfrm>
            <a:off x="347472" y="54864"/>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04  |  Pourquoi NiFi est Fondamentalement Asynchrone</a:t>
            </a:r>
            <a:endParaRPr lang="en-US" sz="2200" dirty="0"/>
          </a:p>
        </p:txBody>
      </p:sp>
      <p:sp>
        <p:nvSpPr>
          <p:cNvPr id="5" name="Shape 3"/>
          <p:cNvSpPr/>
          <p:nvPr/>
        </p:nvSpPr>
        <p:spPr>
          <a:xfrm>
            <a:off x="274320" y="749808"/>
            <a:ext cx="8595360" cy="1261872"/>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74320" y="749808"/>
            <a:ext cx="8595360" cy="292608"/>
          </a:xfrm>
          <a:prstGeom prst="rect">
            <a:avLst/>
          </a:prstGeom>
          <a:solidFill>
            <a:srgbClr val="021B3A"/>
          </a:solidFill>
          <a:ln/>
        </p:spPr>
      </p:sp>
      <p:sp>
        <p:nvSpPr>
          <p:cNvPr id="7" name="Text 5"/>
          <p:cNvSpPr/>
          <p:nvPr/>
        </p:nvSpPr>
        <p:spPr>
          <a:xfrm>
            <a:off x="320040" y="749808"/>
            <a:ext cx="850392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Le FlowFile — Unité de base : "Fire and Forget"</a:t>
            </a:r>
            <a:endParaRPr lang="en-US" sz="1200" dirty="0"/>
          </a:p>
        </p:txBody>
      </p:sp>
      <p:sp>
        <p:nvSpPr>
          <p:cNvPr id="8" name="Text 6"/>
          <p:cNvSpPr/>
          <p:nvPr/>
        </p:nvSpPr>
        <p:spPr>
          <a:xfrm>
            <a:off x="365760" y="1097280"/>
            <a:ext cx="5303520" cy="411480"/>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Un FlowFile voyage à travers les processeurs sans attendre de réponse. Il entre dans un processeur, est traité, repart immédiatement vers le suivant.</a:t>
            </a:r>
            <a:endParaRPr lang="en-US" sz="1000" dirty="0"/>
          </a:p>
        </p:txBody>
      </p:sp>
      <p:sp>
        <p:nvSpPr>
          <p:cNvPr id="9" name="Text 7"/>
          <p:cNvSpPr/>
          <p:nvPr/>
        </p:nvSpPr>
        <p:spPr>
          <a:xfrm>
            <a:off x="5852160" y="914400"/>
            <a:ext cx="2834640" cy="777240"/>
          </a:xfrm>
          <a:prstGeom prst="rect">
            <a:avLst/>
          </a:prstGeom>
          <a:noFill/>
          <a:ln/>
        </p:spPr>
        <p:txBody>
          <a:bodyPr wrap="square" lIns="50800" tIns="50800" rIns="50800" bIns="50800" rtlCol="0" anchor="ctr"/>
          <a:lstStyle/>
          <a:p>
            <a:pPr indent="0" marL="0">
              <a:buNone/>
            </a:pPr>
            <a:r>
              <a:rPr lang="en-US" sz="1000" dirty="0">
                <a:solidFill>
                  <a:srgbClr val="028090"/>
                </a:solidFill>
                <a:latin typeface="Calibri" pitchFamily="34" charset="0"/>
                <a:ea typeface="Calibri" pitchFamily="34" charset="-122"/>
                <a:cs typeface="Calibri" pitchFamily="34" charset="-120"/>
              </a:rPr>
              <a:t>Contenu (données)</a:t>
            </a:r>
            <a:endParaRPr lang="en-US" sz="1000" dirty="0"/>
          </a:p>
          <a:p>
            <a:pPr indent="0" marL="0">
              <a:buNone/>
            </a:pPr>
            <a:r>
              <a:rPr lang="en-US" sz="1000" dirty="0">
                <a:solidFill>
                  <a:srgbClr val="028090"/>
                </a:solidFill>
                <a:latin typeface="Calibri" pitchFamily="34" charset="0"/>
                <a:ea typeface="Calibri" pitchFamily="34" charset="-122"/>
                <a:cs typeface="Calibri" pitchFamily="34" charset="-120"/>
              </a:rPr>
              <a:t>Attributs (métadonnées)</a:t>
            </a:r>
            <a:endParaRPr lang="en-US" sz="1000" dirty="0"/>
          </a:p>
          <a:p>
            <a:pPr indent="0" marL="0">
              <a:buNone/>
            </a:pPr>
            <a:r>
              <a:rPr lang="en-US" sz="1000" dirty="0">
                <a:solidFill>
                  <a:srgbClr val="028090"/>
                </a:solidFill>
                <a:latin typeface="Calibri" pitchFamily="34" charset="0"/>
                <a:ea typeface="Calibri" pitchFamily="34" charset="-122"/>
                <a:cs typeface="Calibri" pitchFamily="34" charset="-120"/>
              </a:rPr>
              <a:t>Pas de mécanisme de retour natif</a:t>
            </a:r>
            <a:endParaRPr lang="en-US" sz="1000" dirty="0"/>
          </a:p>
        </p:txBody>
      </p:sp>
      <p:sp>
        <p:nvSpPr>
          <p:cNvPr id="10" name="Shape 8"/>
          <p:cNvSpPr/>
          <p:nvPr/>
        </p:nvSpPr>
        <p:spPr>
          <a:xfrm>
            <a:off x="274320" y="2121408"/>
            <a:ext cx="8595360" cy="1664208"/>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1" name="Shape 9"/>
          <p:cNvSpPr/>
          <p:nvPr/>
        </p:nvSpPr>
        <p:spPr>
          <a:xfrm>
            <a:off x="274320" y="2121408"/>
            <a:ext cx="8595360" cy="292608"/>
          </a:xfrm>
          <a:prstGeom prst="rect">
            <a:avLst/>
          </a:prstGeom>
          <a:solidFill>
            <a:srgbClr val="021B3A"/>
          </a:solidFill>
          <a:ln/>
        </p:spPr>
      </p:sp>
      <p:sp>
        <p:nvSpPr>
          <p:cNvPr id="12" name="Text 10"/>
          <p:cNvSpPr/>
          <p:nvPr/>
        </p:nvSpPr>
        <p:spPr>
          <a:xfrm>
            <a:off x="320040" y="2121408"/>
            <a:ext cx="850392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Ce qui se passe dans NiFi — Chaque processeur tourne dans son propre thread</a:t>
            </a:r>
            <a:endParaRPr lang="en-US" sz="1200" dirty="0"/>
          </a:p>
        </p:txBody>
      </p:sp>
      <p:sp>
        <p:nvSpPr>
          <p:cNvPr id="13" name="Shape 11"/>
          <p:cNvSpPr/>
          <p:nvPr/>
        </p:nvSpPr>
        <p:spPr>
          <a:xfrm>
            <a:off x="457200" y="2542032"/>
            <a:ext cx="1371600" cy="594360"/>
          </a:xfrm>
          <a:prstGeom prst="rect">
            <a:avLst/>
          </a:prstGeom>
          <a:solidFill>
            <a:srgbClr val="065A82"/>
          </a:solidFill>
          <a:ln/>
          <a:effectLst>
            <a:outerShdw sx="100000" sy="100000" kx="0" ky="0" algn="bl" rotWithShape="0" blurRad="101600" dist="38100" dir="8100000">
              <a:srgbClr val="000000">
                <a:alpha val="10000"/>
              </a:srgbClr>
            </a:outerShdw>
          </a:effectLst>
        </p:spPr>
      </p:sp>
      <p:sp>
        <p:nvSpPr>
          <p:cNvPr id="14" name="Text 12"/>
          <p:cNvSpPr/>
          <p:nvPr/>
        </p:nvSpPr>
        <p:spPr>
          <a:xfrm>
            <a:off x="457200" y="2542032"/>
            <a:ext cx="1371600" cy="5943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Source</a:t>
            </a:r>
            <a:endParaRPr lang="en-US" sz="1000" dirty="0"/>
          </a:p>
        </p:txBody>
      </p:sp>
      <p:sp>
        <p:nvSpPr>
          <p:cNvPr id="15" name="Shape 13"/>
          <p:cNvSpPr/>
          <p:nvPr/>
        </p:nvSpPr>
        <p:spPr>
          <a:xfrm>
            <a:off x="2194560" y="2542032"/>
            <a:ext cx="1371600" cy="594360"/>
          </a:xfrm>
          <a:prstGeom prst="rect">
            <a:avLst/>
          </a:prstGeom>
          <a:solidFill>
            <a:srgbClr val="028090"/>
          </a:solidFill>
          <a:ln/>
          <a:effectLst>
            <a:outerShdw sx="100000" sy="100000" kx="0" ky="0" algn="bl" rotWithShape="0" blurRad="101600" dist="38100" dir="8100000">
              <a:srgbClr val="000000">
                <a:alpha val="10000"/>
              </a:srgbClr>
            </a:outerShdw>
          </a:effectLst>
        </p:spPr>
      </p:sp>
      <p:sp>
        <p:nvSpPr>
          <p:cNvPr id="16" name="Text 14"/>
          <p:cNvSpPr/>
          <p:nvPr/>
        </p:nvSpPr>
        <p:spPr>
          <a:xfrm>
            <a:off x="2194560" y="2542032"/>
            <a:ext cx="1371600" cy="5943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Proc A</a:t>
            </a:r>
            <a:endParaRPr lang="en-US" sz="1000" dirty="0"/>
          </a:p>
        </p:txBody>
      </p:sp>
      <p:sp>
        <p:nvSpPr>
          <p:cNvPr id="17" name="Shape 15"/>
          <p:cNvSpPr/>
          <p:nvPr/>
        </p:nvSpPr>
        <p:spPr>
          <a:xfrm>
            <a:off x="4389120" y="2542032"/>
            <a:ext cx="1371600" cy="594360"/>
          </a:xfrm>
          <a:prstGeom prst="rect">
            <a:avLst/>
          </a:prstGeom>
          <a:solidFill>
            <a:srgbClr val="028090"/>
          </a:solidFill>
          <a:ln/>
          <a:effectLst>
            <a:outerShdw sx="100000" sy="100000" kx="0" ky="0" algn="bl" rotWithShape="0" blurRad="101600" dist="38100" dir="8100000">
              <a:srgbClr val="000000">
                <a:alpha val="10000"/>
              </a:srgbClr>
            </a:outerShdw>
          </a:effectLst>
        </p:spPr>
      </p:sp>
      <p:sp>
        <p:nvSpPr>
          <p:cNvPr id="18" name="Text 16"/>
          <p:cNvSpPr/>
          <p:nvPr/>
        </p:nvSpPr>
        <p:spPr>
          <a:xfrm>
            <a:off x="4389120" y="2542032"/>
            <a:ext cx="1371600" cy="5943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Proc B</a:t>
            </a:r>
            <a:endParaRPr lang="en-US" sz="1000" dirty="0"/>
          </a:p>
        </p:txBody>
      </p:sp>
      <p:sp>
        <p:nvSpPr>
          <p:cNvPr id="19" name="Shape 17"/>
          <p:cNvSpPr/>
          <p:nvPr/>
        </p:nvSpPr>
        <p:spPr>
          <a:xfrm>
            <a:off x="6583680" y="2542032"/>
            <a:ext cx="1371600" cy="594360"/>
          </a:xfrm>
          <a:prstGeom prst="rect">
            <a:avLst/>
          </a:prstGeom>
          <a:solidFill>
            <a:srgbClr val="028090"/>
          </a:solidFill>
          <a:ln/>
          <a:effectLst>
            <a:outerShdw sx="100000" sy="100000" kx="0" ky="0" algn="bl" rotWithShape="0" blurRad="101600" dist="38100" dir="8100000">
              <a:srgbClr val="000000">
                <a:alpha val="10000"/>
              </a:srgbClr>
            </a:outerShdw>
          </a:effectLst>
        </p:spPr>
      </p:sp>
      <p:sp>
        <p:nvSpPr>
          <p:cNvPr id="20" name="Text 18"/>
          <p:cNvSpPr/>
          <p:nvPr/>
        </p:nvSpPr>
        <p:spPr>
          <a:xfrm>
            <a:off x="6583680" y="2542032"/>
            <a:ext cx="1371600" cy="5943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Proc C</a:t>
            </a:r>
            <a:endParaRPr lang="en-US" sz="1000" dirty="0"/>
          </a:p>
        </p:txBody>
      </p:sp>
      <p:sp>
        <p:nvSpPr>
          <p:cNvPr id="21" name="Shape 19"/>
          <p:cNvSpPr/>
          <p:nvPr/>
        </p:nvSpPr>
        <p:spPr>
          <a:xfrm>
            <a:off x="1828800" y="2834640"/>
            <a:ext cx="274320" cy="0"/>
          </a:xfrm>
          <a:prstGeom prst="line">
            <a:avLst/>
          </a:prstGeom>
          <a:noFill/>
          <a:ln w="25400">
            <a:solidFill>
              <a:srgbClr val="64748B"/>
            </a:solidFill>
            <a:prstDash val="solid"/>
          </a:ln>
        </p:spPr>
      </p:sp>
      <p:sp>
        <p:nvSpPr>
          <p:cNvPr id="22" name="Shape 20"/>
          <p:cNvSpPr/>
          <p:nvPr/>
        </p:nvSpPr>
        <p:spPr>
          <a:xfrm>
            <a:off x="2103120" y="2651760"/>
            <a:ext cx="457200" cy="384048"/>
          </a:xfrm>
          <a:prstGeom prst="rect">
            <a:avLst/>
          </a:prstGeom>
          <a:solidFill>
            <a:srgbClr val="D69E2E">
              <a:alpha val="80000"/>
            </a:srgbClr>
          </a:solidFill>
          <a:ln/>
          <a:effectLst>
            <a:outerShdw sx="100000" sy="100000" kx="0" ky="0" algn="bl" rotWithShape="0" blurRad="101600" dist="38100" dir="8100000">
              <a:srgbClr val="000000">
                <a:alpha val="10000"/>
              </a:srgbClr>
            </a:outerShdw>
          </a:effectLst>
        </p:spPr>
      </p:sp>
      <p:sp>
        <p:nvSpPr>
          <p:cNvPr id="23" name="Text 21"/>
          <p:cNvSpPr/>
          <p:nvPr/>
        </p:nvSpPr>
        <p:spPr>
          <a:xfrm>
            <a:off x="2103120" y="2651760"/>
            <a:ext cx="457200" cy="384048"/>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2560320" y="2834640"/>
            <a:ext cx="274320" cy="0"/>
          </a:xfrm>
          <a:prstGeom prst="line">
            <a:avLst/>
          </a:prstGeom>
          <a:noFill/>
          <a:ln w="25400">
            <a:solidFill>
              <a:srgbClr val="64748B"/>
            </a:solidFill>
            <a:prstDash val="solid"/>
          </a:ln>
        </p:spPr>
      </p:sp>
      <p:sp>
        <p:nvSpPr>
          <p:cNvPr id="25" name="Text 23"/>
          <p:cNvSpPr/>
          <p:nvPr/>
        </p:nvSpPr>
        <p:spPr>
          <a:xfrm>
            <a:off x="2103120" y="3054096"/>
            <a:ext cx="457200" cy="182880"/>
          </a:xfrm>
          <a:prstGeom prst="rect">
            <a:avLst/>
          </a:prstGeom>
          <a:noFill/>
          <a:ln/>
        </p:spPr>
        <p:txBody>
          <a:bodyPr wrap="square" lIns="0" tIns="0" rIns="0" bIns="0" rtlCol="0" anchor="ctr"/>
          <a:lstStyle/>
          <a:p>
            <a:pPr algn="ctr" indent="0" marL="0">
              <a:buNone/>
            </a:pPr>
            <a:r>
              <a:rPr lang="en-US" sz="700" dirty="0">
                <a:solidFill>
                  <a:srgbClr val="DD6B20"/>
                </a:solidFill>
                <a:latin typeface="Calibri" pitchFamily="34" charset="0"/>
                <a:ea typeface="Calibri" pitchFamily="34" charset="-122"/>
                <a:cs typeface="Calibri" pitchFamily="34" charset="-120"/>
              </a:rPr>
              <a:t>file</a:t>
            </a:r>
            <a:endParaRPr lang="en-US" sz="700" dirty="0"/>
          </a:p>
        </p:txBody>
      </p:sp>
      <p:sp>
        <p:nvSpPr>
          <p:cNvPr id="26" name="Shape 24"/>
          <p:cNvSpPr/>
          <p:nvPr/>
        </p:nvSpPr>
        <p:spPr>
          <a:xfrm>
            <a:off x="4023360" y="2834640"/>
            <a:ext cx="274320" cy="0"/>
          </a:xfrm>
          <a:prstGeom prst="line">
            <a:avLst/>
          </a:prstGeom>
          <a:noFill/>
          <a:ln w="25400">
            <a:solidFill>
              <a:srgbClr val="64748B"/>
            </a:solidFill>
            <a:prstDash val="solid"/>
          </a:ln>
        </p:spPr>
      </p:sp>
      <p:sp>
        <p:nvSpPr>
          <p:cNvPr id="27" name="Shape 25"/>
          <p:cNvSpPr/>
          <p:nvPr/>
        </p:nvSpPr>
        <p:spPr>
          <a:xfrm>
            <a:off x="4297680" y="2651760"/>
            <a:ext cx="457200" cy="384048"/>
          </a:xfrm>
          <a:prstGeom prst="rect">
            <a:avLst/>
          </a:prstGeom>
          <a:solidFill>
            <a:srgbClr val="D69E2E">
              <a:alpha val="80000"/>
            </a:srgbClr>
          </a:solidFill>
          <a:ln/>
          <a:effectLst>
            <a:outerShdw sx="100000" sy="100000" kx="0" ky="0" algn="bl" rotWithShape="0" blurRad="101600" dist="38100" dir="8100000">
              <a:srgbClr val="000000">
                <a:alpha val="10000"/>
              </a:srgbClr>
            </a:outerShdw>
          </a:effectLst>
        </p:spPr>
      </p:sp>
      <p:sp>
        <p:nvSpPr>
          <p:cNvPr id="28" name="Text 26"/>
          <p:cNvSpPr/>
          <p:nvPr/>
        </p:nvSpPr>
        <p:spPr>
          <a:xfrm>
            <a:off x="4297680" y="2651760"/>
            <a:ext cx="457200" cy="384048"/>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9" name="Shape 27"/>
          <p:cNvSpPr/>
          <p:nvPr/>
        </p:nvSpPr>
        <p:spPr>
          <a:xfrm>
            <a:off x="4754880" y="2834640"/>
            <a:ext cx="274320" cy="0"/>
          </a:xfrm>
          <a:prstGeom prst="line">
            <a:avLst/>
          </a:prstGeom>
          <a:noFill/>
          <a:ln w="25400">
            <a:solidFill>
              <a:srgbClr val="64748B"/>
            </a:solidFill>
            <a:prstDash val="solid"/>
          </a:ln>
        </p:spPr>
      </p:sp>
      <p:sp>
        <p:nvSpPr>
          <p:cNvPr id="30" name="Text 28"/>
          <p:cNvSpPr/>
          <p:nvPr/>
        </p:nvSpPr>
        <p:spPr>
          <a:xfrm>
            <a:off x="4297680" y="3054096"/>
            <a:ext cx="457200" cy="182880"/>
          </a:xfrm>
          <a:prstGeom prst="rect">
            <a:avLst/>
          </a:prstGeom>
          <a:noFill/>
          <a:ln/>
        </p:spPr>
        <p:txBody>
          <a:bodyPr wrap="square" lIns="0" tIns="0" rIns="0" bIns="0" rtlCol="0" anchor="ctr"/>
          <a:lstStyle/>
          <a:p>
            <a:pPr algn="ctr" indent="0" marL="0">
              <a:buNone/>
            </a:pPr>
            <a:r>
              <a:rPr lang="en-US" sz="700" dirty="0">
                <a:solidFill>
                  <a:srgbClr val="DD6B20"/>
                </a:solidFill>
                <a:latin typeface="Calibri" pitchFamily="34" charset="0"/>
                <a:ea typeface="Calibri" pitchFamily="34" charset="-122"/>
                <a:cs typeface="Calibri" pitchFamily="34" charset="-120"/>
              </a:rPr>
              <a:t>file</a:t>
            </a:r>
            <a:endParaRPr lang="en-US" sz="700" dirty="0"/>
          </a:p>
        </p:txBody>
      </p:sp>
      <p:sp>
        <p:nvSpPr>
          <p:cNvPr id="31" name="Shape 29"/>
          <p:cNvSpPr/>
          <p:nvPr/>
        </p:nvSpPr>
        <p:spPr>
          <a:xfrm>
            <a:off x="6217920" y="2834640"/>
            <a:ext cx="274320" cy="0"/>
          </a:xfrm>
          <a:prstGeom prst="line">
            <a:avLst/>
          </a:prstGeom>
          <a:noFill/>
          <a:ln w="25400">
            <a:solidFill>
              <a:srgbClr val="64748B"/>
            </a:solidFill>
            <a:prstDash val="solid"/>
          </a:ln>
        </p:spPr>
      </p:sp>
      <p:sp>
        <p:nvSpPr>
          <p:cNvPr id="32" name="Shape 30"/>
          <p:cNvSpPr/>
          <p:nvPr/>
        </p:nvSpPr>
        <p:spPr>
          <a:xfrm>
            <a:off x="6492240" y="2651760"/>
            <a:ext cx="457200" cy="384048"/>
          </a:xfrm>
          <a:prstGeom prst="rect">
            <a:avLst/>
          </a:prstGeom>
          <a:solidFill>
            <a:srgbClr val="D69E2E">
              <a:alpha val="80000"/>
            </a:srgbClr>
          </a:solidFill>
          <a:ln/>
          <a:effectLst>
            <a:outerShdw sx="100000" sy="100000" kx="0" ky="0" algn="bl" rotWithShape="0" blurRad="101600" dist="38100" dir="8100000">
              <a:srgbClr val="000000">
                <a:alpha val="10000"/>
              </a:srgbClr>
            </a:outerShdw>
          </a:effectLst>
        </p:spPr>
      </p:sp>
      <p:sp>
        <p:nvSpPr>
          <p:cNvPr id="33" name="Text 31"/>
          <p:cNvSpPr/>
          <p:nvPr/>
        </p:nvSpPr>
        <p:spPr>
          <a:xfrm>
            <a:off x="6492240" y="2651760"/>
            <a:ext cx="457200" cy="384048"/>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34" name="Shape 32"/>
          <p:cNvSpPr/>
          <p:nvPr/>
        </p:nvSpPr>
        <p:spPr>
          <a:xfrm>
            <a:off x="6949440" y="2834640"/>
            <a:ext cx="274320" cy="0"/>
          </a:xfrm>
          <a:prstGeom prst="line">
            <a:avLst/>
          </a:prstGeom>
          <a:noFill/>
          <a:ln w="25400">
            <a:solidFill>
              <a:srgbClr val="64748B"/>
            </a:solidFill>
            <a:prstDash val="solid"/>
          </a:ln>
        </p:spPr>
      </p:sp>
      <p:sp>
        <p:nvSpPr>
          <p:cNvPr id="35" name="Text 33"/>
          <p:cNvSpPr/>
          <p:nvPr/>
        </p:nvSpPr>
        <p:spPr>
          <a:xfrm>
            <a:off x="6492240" y="3054096"/>
            <a:ext cx="457200" cy="182880"/>
          </a:xfrm>
          <a:prstGeom prst="rect">
            <a:avLst/>
          </a:prstGeom>
          <a:noFill/>
          <a:ln/>
        </p:spPr>
        <p:txBody>
          <a:bodyPr wrap="square" lIns="0" tIns="0" rIns="0" bIns="0" rtlCol="0" anchor="ctr"/>
          <a:lstStyle/>
          <a:p>
            <a:pPr algn="ctr" indent="0" marL="0">
              <a:buNone/>
            </a:pPr>
            <a:r>
              <a:rPr lang="en-US" sz="700" dirty="0">
                <a:solidFill>
                  <a:srgbClr val="DD6B20"/>
                </a:solidFill>
                <a:latin typeface="Calibri" pitchFamily="34" charset="0"/>
                <a:ea typeface="Calibri" pitchFamily="34" charset="-122"/>
                <a:cs typeface="Calibri" pitchFamily="34" charset="-120"/>
              </a:rPr>
              <a:t>file</a:t>
            </a:r>
            <a:endParaRPr lang="en-US" sz="700" dirty="0"/>
          </a:p>
        </p:txBody>
      </p:sp>
      <p:sp>
        <p:nvSpPr>
          <p:cNvPr id="36" name="Shape 34"/>
          <p:cNvSpPr/>
          <p:nvPr/>
        </p:nvSpPr>
        <p:spPr>
          <a:xfrm>
            <a:off x="365760" y="3291840"/>
            <a:ext cx="8412480" cy="274320"/>
          </a:xfrm>
          <a:prstGeom prst="rect">
            <a:avLst/>
          </a:prstGeom>
          <a:solidFill>
            <a:srgbClr val="028090">
              <a:alpha val="15000"/>
            </a:srgbClr>
          </a:solidFill>
          <a:ln/>
        </p:spPr>
      </p:sp>
      <p:sp>
        <p:nvSpPr>
          <p:cNvPr id="37" name="Text 35"/>
          <p:cNvSpPr/>
          <p:nvPr/>
        </p:nvSpPr>
        <p:spPr>
          <a:xfrm>
            <a:off x="457200" y="3310128"/>
            <a:ext cx="8229600" cy="237744"/>
          </a:xfrm>
          <a:prstGeom prst="rect">
            <a:avLst/>
          </a:prstGeom>
          <a:noFill/>
          <a:ln/>
        </p:spPr>
        <p:txBody>
          <a:bodyPr wrap="square" lIns="0" tIns="0" rIns="0" bIns="0" rtlCol="0" anchor="ctr"/>
          <a:lstStyle/>
          <a:p>
            <a:pPr indent="0" marL="0">
              <a:buNone/>
            </a:pPr>
            <a:r>
              <a:rPr lang="en-US" sz="900" dirty="0">
                <a:solidFill>
                  <a:srgbClr val="021B3A"/>
                </a:solidFill>
                <a:latin typeface="Calibri" pitchFamily="34" charset="0"/>
                <a:ea typeface="Calibri" pitchFamily="34" charset="-122"/>
                <a:cs typeface="Calibri" pitchFamily="34" charset="-120"/>
              </a:rPr>
              <a:t>Back-pressure : si Proc B est saturé → la file grossit → Proc A ralentit automatiquement</a:t>
            </a:r>
            <a:endParaRPr lang="en-US" sz="900" dirty="0"/>
          </a:p>
        </p:txBody>
      </p:sp>
      <p:sp>
        <p:nvSpPr>
          <p:cNvPr id="38" name="Shape 36"/>
          <p:cNvSpPr/>
          <p:nvPr/>
        </p:nvSpPr>
        <p:spPr>
          <a:xfrm>
            <a:off x="274320" y="3675888"/>
            <a:ext cx="3977640" cy="1188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39" name="Shape 37"/>
          <p:cNvSpPr/>
          <p:nvPr/>
        </p:nvSpPr>
        <p:spPr>
          <a:xfrm>
            <a:off x="274320" y="3675888"/>
            <a:ext cx="3977640" cy="256032"/>
          </a:xfrm>
          <a:prstGeom prst="rect">
            <a:avLst/>
          </a:prstGeom>
          <a:solidFill>
            <a:srgbClr val="E53E3E"/>
          </a:solidFill>
          <a:ln/>
        </p:spPr>
      </p:sp>
      <p:sp>
        <p:nvSpPr>
          <p:cNvPr id="40" name="Text 38"/>
          <p:cNvSpPr/>
          <p:nvPr/>
        </p:nvSpPr>
        <p:spPr>
          <a:xfrm>
            <a:off x="320040" y="3675888"/>
            <a:ext cx="38862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Synchrone (API REST) — Guichet de banque</a:t>
            </a:r>
            <a:endParaRPr lang="en-US" sz="1000" dirty="0"/>
          </a:p>
        </p:txBody>
      </p:sp>
      <p:sp>
        <p:nvSpPr>
          <p:cNvPr id="41" name="Text 39"/>
          <p:cNvSpPr/>
          <p:nvPr/>
        </p:nvSpPr>
        <p:spPr>
          <a:xfrm>
            <a:off x="365760" y="3977640"/>
            <a:ext cx="3840480" cy="804672"/>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Client envoie → attend → attend → attend → reçoit réponse.</a:t>
            </a:r>
            <a:endParaRPr lang="en-US" sz="1000" dirty="0"/>
          </a:p>
          <a:p>
            <a:pPr indent="0" marL="0">
              <a:buNone/>
            </a:pPr>
            <a:r>
              <a:rPr lang="en-US" sz="1000" dirty="0">
                <a:solidFill>
                  <a:srgbClr val="021B3A"/>
                </a:solidFill>
                <a:latin typeface="Calibri" pitchFamily="34" charset="0"/>
                <a:ea typeface="Calibri" pitchFamily="34" charset="-122"/>
                <a:cs typeface="Calibri" pitchFamily="34" charset="-120"/>
              </a:rPr>
              <a:t>Le client est BLOQUÉ dans le même fil d'exécution jusqu'à la fin.</a:t>
            </a:r>
            <a:endParaRPr lang="en-US" sz="1000" dirty="0"/>
          </a:p>
        </p:txBody>
      </p:sp>
      <p:sp>
        <p:nvSpPr>
          <p:cNvPr id="42" name="Shape 40"/>
          <p:cNvSpPr/>
          <p:nvPr/>
        </p:nvSpPr>
        <p:spPr>
          <a:xfrm>
            <a:off x="4617720" y="3675888"/>
            <a:ext cx="4251960" cy="1188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3" name="Shape 41"/>
          <p:cNvSpPr/>
          <p:nvPr/>
        </p:nvSpPr>
        <p:spPr>
          <a:xfrm>
            <a:off x="4617720" y="3675888"/>
            <a:ext cx="4251960" cy="256032"/>
          </a:xfrm>
          <a:prstGeom prst="rect">
            <a:avLst/>
          </a:prstGeom>
          <a:solidFill>
            <a:srgbClr val="38A169"/>
          </a:solidFill>
          <a:ln/>
        </p:spPr>
      </p:sp>
      <p:sp>
        <p:nvSpPr>
          <p:cNvPr id="44" name="Text 42"/>
          <p:cNvSpPr/>
          <p:nvPr/>
        </p:nvSpPr>
        <p:spPr>
          <a:xfrm>
            <a:off x="4663440" y="3675888"/>
            <a:ext cx="416052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Asynchrone (NiFi) — Tapis roulant d'usine</a:t>
            </a:r>
            <a:endParaRPr lang="en-US" sz="1000" dirty="0"/>
          </a:p>
        </p:txBody>
      </p:sp>
      <p:sp>
        <p:nvSpPr>
          <p:cNvPr id="45" name="Text 43"/>
          <p:cNvSpPr/>
          <p:nvPr/>
        </p:nvSpPr>
        <p:spPr>
          <a:xfrm>
            <a:off x="4709160" y="3977640"/>
            <a:ext cx="4069080" cy="804672"/>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Proc A dépose FlowFile → continue IMMÉDIATEMENT d'autres FlowFiles.</a:t>
            </a:r>
            <a:endParaRPr lang="en-US" sz="1000" dirty="0"/>
          </a:p>
          <a:p>
            <a:pPr indent="0" marL="0">
              <a:buNone/>
            </a:pPr>
            <a:r>
              <a:rPr lang="en-US" sz="1000" dirty="0">
                <a:solidFill>
                  <a:srgbClr val="021B3A"/>
                </a:solidFill>
                <a:latin typeface="Calibri" pitchFamily="34" charset="0"/>
                <a:ea typeface="Calibri" pitchFamily="34" charset="-122"/>
                <a:cs typeface="Calibri" pitchFamily="34" charset="-120"/>
              </a:rPr>
              <a:t>Proc B traite quand il est prêt — aucun lien de retour entre A et B.</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B3A"/>
          </a:solidFill>
          <a:ln/>
        </p:spPr>
      </p:sp>
      <p:sp>
        <p:nvSpPr>
          <p:cNvPr id="3" name="Shape 1"/>
          <p:cNvSpPr/>
          <p:nvPr/>
        </p:nvSpPr>
        <p:spPr>
          <a:xfrm>
            <a:off x="0" y="0"/>
            <a:ext cx="164592" cy="658368"/>
          </a:xfrm>
          <a:prstGeom prst="rect">
            <a:avLst/>
          </a:prstGeom>
          <a:solidFill>
            <a:srgbClr val="6B46C1"/>
          </a:solidFill>
          <a:ln/>
        </p:spPr>
      </p:sp>
      <p:sp>
        <p:nvSpPr>
          <p:cNvPr id="4" name="Text 2"/>
          <p:cNvSpPr/>
          <p:nvPr/>
        </p:nvSpPr>
        <p:spPr>
          <a:xfrm>
            <a:off x="347472" y="54864"/>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04  |  ListenHTTP — Le Malentendu Fondamental</a:t>
            </a:r>
            <a:endParaRPr lang="en-US" sz="2200" dirty="0"/>
          </a:p>
        </p:txBody>
      </p:sp>
      <p:sp>
        <p:nvSpPr>
          <p:cNvPr id="5" name="Shape 3"/>
          <p:cNvSpPr/>
          <p:nvPr/>
        </p:nvSpPr>
        <p:spPr>
          <a:xfrm>
            <a:off x="274320" y="749808"/>
            <a:ext cx="8595360" cy="20574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74320" y="749808"/>
            <a:ext cx="8595360" cy="292608"/>
          </a:xfrm>
          <a:prstGeom prst="rect">
            <a:avLst/>
          </a:prstGeom>
          <a:solidFill>
            <a:srgbClr val="E53E3E"/>
          </a:solidFill>
          <a:ln/>
        </p:spPr>
      </p:sp>
      <p:sp>
        <p:nvSpPr>
          <p:cNvPr id="7" name="Text 5"/>
          <p:cNvSpPr/>
          <p:nvPr/>
        </p:nvSpPr>
        <p:spPr>
          <a:xfrm>
            <a:off x="320040" y="749808"/>
            <a:ext cx="850392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Ce qui se passe réellement avec ListenHTTP</a:t>
            </a:r>
            <a:endParaRPr lang="en-US" sz="1200" dirty="0"/>
          </a:p>
        </p:txBody>
      </p:sp>
      <p:sp>
        <p:nvSpPr>
          <p:cNvPr id="8" name="Shape 6"/>
          <p:cNvSpPr/>
          <p:nvPr/>
        </p:nvSpPr>
        <p:spPr>
          <a:xfrm>
            <a:off x="411480" y="1170432"/>
            <a:ext cx="1554480" cy="658368"/>
          </a:xfrm>
          <a:prstGeom prst="rect">
            <a:avLst/>
          </a:prstGeom>
          <a:solidFill>
            <a:srgbClr val="065A82"/>
          </a:solidFill>
          <a:ln/>
          <a:effectLst>
            <a:outerShdw sx="100000" sy="100000" kx="0" ky="0" algn="bl" rotWithShape="0" blurRad="101600" dist="38100" dir="8100000">
              <a:srgbClr val="000000">
                <a:alpha val="10000"/>
              </a:srgbClr>
            </a:outerShdw>
          </a:effectLst>
        </p:spPr>
      </p:sp>
      <p:sp>
        <p:nvSpPr>
          <p:cNvPr id="9" name="Text 7"/>
          <p:cNvSpPr/>
          <p:nvPr/>
        </p:nvSpPr>
        <p:spPr>
          <a:xfrm>
            <a:off x="411480" y="1170432"/>
            <a:ext cx="155448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Client HTTP</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envoie requête</a:t>
            </a:r>
            <a:endParaRPr lang="en-US" sz="1000" dirty="0"/>
          </a:p>
        </p:txBody>
      </p:sp>
      <p:sp>
        <p:nvSpPr>
          <p:cNvPr id="10" name="Shape 8"/>
          <p:cNvSpPr/>
          <p:nvPr/>
        </p:nvSpPr>
        <p:spPr>
          <a:xfrm>
            <a:off x="1965960" y="1499616"/>
            <a:ext cx="182880" cy="0"/>
          </a:xfrm>
          <a:prstGeom prst="line">
            <a:avLst/>
          </a:prstGeom>
          <a:noFill/>
          <a:ln w="25400">
            <a:solidFill>
              <a:srgbClr val="64748B"/>
            </a:solidFill>
            <a:prstDash val="solid"/>
          </a:ln>
        </p:spPr>
      </p:sp>
      <p:sp>
        <p:nvSpPr>
          <p:cNvPr id="11" name="Shape 9"/>
          <p:cNvSpPr/>
          <p:nvPr/>
        </p:nvSpPr>
        <p:spPr>
          <a:xfrm>
            <a:off x="2377440" y="1170432"/>
            <a:ext cx="1828800" cy="658368"/>
          </a:xfrm>
          <a:prstGeom prst="rect">
            <a:avLst/>
          </a:prstGeom>
          <a:solidFill>
            <a:srgbClr val="DD6B20"/>
          </a:solidFill>
          <a:ln/>
          <a:effectLst>
            <a:outerShdw sx="100000" sy="100000" kx="0" ky="0" algn="bl" rotWithShape="0" blurRad="101600" dist="38100" dir="8100000">
              <a:srgbClr val="000000">
                <a:alpha val="10000"/>
              </a:srgbClr>
            </a:outerShdw>
          </a:effectLst>
        </p:spPr>
      </p:sp>
      <p:sp>
        <p:nvSpPr>
          <p:cNvPr id="12" name="Text 10"/>
          <p:cNvSpPr/>
          <p:nvPr/>
        </p:nvSpPr>
        <p:spPr>
          <a:xfrm>
            <a:off x="2377440" y="1170432"/>
            <a:ext cx="182880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ListenHTTP</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répond HTTP 200</a:t>
            </a:r>
            <a:endParaRPr lang="en-US" sz="1000" dirty="0"/>
          </a:p>
        </p:txBody>
      </p:sp>
      <p:sp>
        <p:nvSpPr>
          <p:cNvPr id="13" name="Shape 11"/>
          <p:cNvSpPr/>
          <p:nvPr/>
        </p:nvSpPr>
        <p:spPr>
          <a:xfrm>
            <a:off x="4206240" y="1499616"/>
            <a:ext cx="182880" cy="0"/>
          </a:xfrm>
          <a:prstGeom prst="line">
            <a:avLst/>
          </a:prstGeom>
          <a:noFill/>
          <a:ln w="25400">
            <a:solidFill>
              <a:srgbClr val="64748B"/>
            </a:solidFill>
            <a:prstDash val="solid"/>
          </a:ln>
        </p:spPr>
      </p:sp>
      <p:sp>
        <p:nvSpPr>
          <p:cNvPr id="14" name="Shape 12"/>
          <p:cNvSpPr/>
          <p:nvPr/>
        </p:nvSpPr>
        <p:spPr>
          <a:xfrm>
            <a:off x="4617720" y="1170432"/>
            <a:ext cx="1737360" cy="658368"/>
          </a:xfrm>
          <a:prstGeom prst="rect">
            <a:avLst/>
          </a:prstGeom>
          <a:solidFill>
            <a:srgbClr val="028090"/>
          </a:solidFill>
          <a:ln/>
          <a:effectLst>
            <a:outerShdw sx="100000" sy="100000" kx="0" ky="0" algn="bl" rotWithShape="0" blurRad="101600" dist="38100" dir="8100000">
              <a:srgbClr val="000000">
                <a:alpha val="10000"/>
              </a:srgbClr>
            </a:outerShdw>
          </a:effectLst>
        </p:spPr>
      </p:sp>
      <p:sp>
        <p:nvSpPr>
          <p:cNvPr id="15" name="Text 13"/>
          <p:cNvSpPr/>
          <p:nvPr/>
        </p:nvSpPr>
        <p:spPr>
          <a:xfrm>
            <a:off x="4617720" y="1170432"/>
            <a:ext cx="173736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FlowFile créé</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dans la file</a:t>
            </a:r>
            <a:endParaRPr lang="en-US" sz="1000" dirty="0"/>
          </a:p>
        </p:txBody>
      </p:sp>
      <p:sp>
        <p:nvSpPr>
          <p:cNvPr id="16" name="Shape 14"/>
          <p:cNvSpPr/>
          <p:nvPr/>
        </p:nvSpPr>
        <p:spPr>
          <a:xfrm>
            <a:off x="6355080" y="1499616"/>
            <a:ext cx="182880" cy="0"/>
          </a:xfrm>
          <a:prstGeom prst="line">
            <a:avLst/>
          </a:prstGeom>
          <a:noFill/>
          <a:ln w="25400">
            <a:solidFill>
              <a:srgbClr val="64748B"/>
            </a:solidFill>
            <a:prstDash val="solid"/>
          </a:ln>
        </p:spPr>
      </p:sp>
      <p:sp>
        <p:nvSpPr>
          <p:cNvPr id="17" name="Shape 15"/>
          <p:cNvSpPr/>
          <p:nvPr/>
        </p:nvSpPr>
        <p:spPr>
          <a:xfrm>
            <a:off x="6720840" y="1170432"/>
            <a:ext cx="1645920" cy="658368"/>
          </a:xfrm>
          <a:prstGeom prst="rect">
            <a:avLst/>
          </a:prstGeom>
          <a:solidFill>
            <a:srgbClr val="64748B"/>
          </a:solidFill>
          <a:ln/>
          <a:effectLst>
            <a:outerShdw sx="100000" sy="100000" kx="0" ky="0" algn="bl" rotWithShape="0" blurRad="101600" dist="38100" dir="8100000">
              <a:srgbClr val="000000">
                <a:alpha val="10000"/>
              </a:srgbClr>
            </a:outerShdw>
          </a:effectLst>
        </p:spPr>
      </p:sp>
      <p:sp>
        <p:nvSpPr>
          <p:cNvPr id="18" name="Text 16"/>
          <p:cNvSpPr/>
          <p:nvPr/>
        </p:nvSpPr>
        <p:spPr>
          <a:xfrm>
            <a:off x="6720840" y="1170432"/>
            <a:ext cx="164592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Traitement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asynchrone...</a:t>
            </a:r>
            <a:endParaRPr lang="en-US" sz="1000" dirty="0"/>
          </a:p>
        </p:txBody>
      </p:sp>
      <p:sp>
        <p:nvSpPr>
          <p:cNvPr id="19" name="Shape 17"/>
          <p:cNvSpPr/>
          <p:nvPr/>
        </p:nvSpPr>
        <p:spPr>
          <a:xfrm>
            <a:off x="365760" y="1920240"/>
            <a:ext cx="8321040" cy="384048"/>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20" name="Shape 18"/>
          <p:cNvSpPr/>
          <p:nvPr/>
        </p:nvSpPr>
        <p:spPr>
          <a:xfrm>
            <a:off x="365760" y="1920240"/>
            <a:ext cx="64008" cy="384048"/>
          </a:xfrm>
          <a:prstGeom prst="rect">
            <a:avLst/>
          </a:prstGeom>
          <a:solidFill>
            <a:srgbClr val="E53E3E"/>
          </a:solidFill>
          <a:ln/>
        </p:spPr>
      </p:sp>
      <p:sp>
        <p:nvSpPr>
          <p:cNvPr id="21" name="Text 19"/>
          <p:cNvSpPr/>
          <p:nvPr/>
        </p:nvSpPr>
        <p:spPr>
          <a:xfrm>
            <a:off x="502920" y="1920240"/>
            <a:ext cx="8138160" cy="384048"/>
          </a:xfrm>
          <a:prstGeom prst="rect">
            <a:avLst/>
          </a:prstGeom>
          <a:noFill/>
          <a:ln/>
        </p:spPr>
        <p:txBody>
          <a:bodyPr wrap="square" lIns="50800" tIns="50800" rIns="50800" bIns="5080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HTTP 200 = "j'ai bien REÇU ta donnée" — PAS "j'ai TRAITÉ avec succès"</a:t>
            </a:r>
            <a:endParaRPr lang="en-US" sz="1000" dirty="0"/>
          </a:p>
          <a:p>
            <a:pPr indent="0" marL="0">
              <a:buNone/>
            </a:pPr>
            <a:r>
              <a:rPr lang="en-US" sz="1000" dirty="0">
                <a:solidFill>
                  <a:srgbClr val="021B3A"/>
                </a:solidFill>
                <a:latin typeface="Calibri" pitchFamily="34" charset="0"/>
                <a:ea typeface="Calibri" pitchFamily="34" charset="-122"/>
                <a:cs typeface="Calibri" pitchFamily="34" charset="-120"/>
              </a:rPr>
              <a:t>Le client ne saura JAMAIS si le traitement a réussi ou échoué.</a:t>
            </a:r>
            <a:endParaRPr lang="en-US" sz="1000" dirty="0"/>
          </a:p>
        </p:txBody>
      </p:sp>
      <p:sp>
        <p:nvSpPr>
          <p:cNvPr id="22" name="Shape 20"/>
          <p:cNvSpPr/>
          <p:nvPr/>
        </p:nvSpPr>
        <p:spPr>
          <a:xfrm>
            <a:off x="365760" y="2377440"/>
            <a:ext cx="8321040" cy="320040"/>
          </a:xfrm>
          <a:prstGeom prst="rect">
            <a:avLst/>
          </a:prstGeom>
          <a:solidFill>
            <a:srgbClr val="F0F4F8"/>
          </a:solidFill>
          <a:ln/>
        </p:spPr>
      </p:sp>
      <p:sp>
        <p:nvSpPr>
          <p:cNvPr id="23" name="Text 21"/>
          <p:cNvSpPr/>
          <p:nvPr/>
        </p:nvSpPr>
        <p:spPr>
          <a:xfrm>
            <a:off x="457200" y="2395728"/>
            <a:ext cx="8138160" cy="29260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Pour une vraie réponse synchrone : HandleHttpRequest + HandleHttpResponse + identifiant de corrélation → extrêmement complexe, fragile, contraire à la philosophie NiFi.</a:t>
            </a:r>
            <a:endParaRPr lang="en-US" sz="900" dirty="0"/>
          </a:p>
        </p:txBody>
      </p:sp>
      <p:sp>
        <p:nvSpPr>
          <p:cNvPr id="24" name="Shape 22"/>
          <p:cNvSpPr/>
          <p:nvPr/>
        </p:nvSpPr>
        <p:spPr>
          <a:xfrm>
            <a:off x="274320" y="2816352"/>
            <a:ext cx="8595360" cy="20116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5" name="Shape 23"/>
          <p:cNvSpPr/>
          <p:nvPr/>
        </p:nvSpPr>
        <p:spPr>
          <a:xfrm>
            <a:off x="274320" y="2816352"/>
            <a:ext cx="8595360" cy="292608"/>
          </a:xfrm>
          <a:prstGeom prst="rect">
            <a:avLst/>
          </a:prstGeom>
          <a:solidFill>
            <a:srgbClr val="021B3A"/>
          </a:solidFill>
          <a:ln/>
        </p:spPr>
      </p:sp>
      <p:sp>
        <p:nvSpPr>
          <p:cNvPr id="26" name="Text 24"/>
          <p:cNvSpPr/>
          <p:nvPr/>
        </p:nvSpPr>
        <p:spPr>
          <a:xfrm>
            <a:off x="320040" y="2816352"/>
            <a:ext cx="850392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Tableau Comparatif — Synchrone vs Asynchrone</a:t>
            </a:r>
            <a:endParaRPr lang="en-US" sz="1200" dirty="0"/>
          </a:p>
        </p:txBody>
      </p:sp>
      <p:sp>
        <p:nvSpPr>
          <p:cNvPr id="27" name="Shape 25"/>
          <p:cNvSpPr/>
          <p:nvPr/>
        </p:nvSpPr>
        <p:spPr>
          <a:xfrm>
            <a:off x="274320" y="3108960"/>
            <a:ext cx="2926080" cy="274320"/>
          </a:xfrm>
          <a:prstGeom prst="rect">
            <a:avLst/>
          </a:prstGeom>
          <a:solidFill>
            <a:srgbClr val="F0F4F8"/>
          </a:solidFill>
          <a:ln/>
        </p:spPr>
      </p:sp>
      <p:sp>
        <p:nvSpPr>
          <p:cNvPr id="28" name="Shape 26"/>
          <p:cNvSpPr/>
          <p:nvPr/>
        </p:nvSpPr>
        <p:spPr>
          <a:xfrm>
            <a:off x="3200400" y="3108960"/>
            <a:ext cx="2651760" cy="274320"/>
          </a:xfrm>
          <a:prstGeom prst="rect">
            <a:avLst/>
          </a:prstGeom>
          <a:solidFill>
            <a:srgbClr val="E53E3E">
              <a:alpha val="25000"/>
            </a:srgbClr>
          </a:solidFill>
          <a:ln/>
        </p:spPr>
      </p:sp>
      <p:sp>
        <p:nvSpPr>
          <p:cNvPr id="29" name="Shape 27"/>
          <p:cNvSpPr/>
          <p:nvPr/>
        </p:nvSpPr>
        <p:spPr>
          <a:xfrm>
            <a:off x="5852160" y="3108960"/>
            <a:ext cx="3017520" cy="274320"/>
          </a:xfrm>
          <a:prstGeom prst="rect">
            <a:avLst/>
          </a:prstGeom>
          <a:solidFill>
            <a:srgbClr val="38A169">
              <a:alpha val="25000"/>
            </a:srgbClr>
          </a:solidFill>
          <a:ln/>
        </p:spPr>
      </p:sp>
      <p:sp>
        <p:nvSpPr>
          <p:cNvPr id="30" name="Text 28"/>
          <p:cNvSpPr/>
          <p:nvPr/>
        </p:nvSpPr>
        <p:spPr>
          <a:xfrm>
            <a:off x="320040" y="3108960"/>
            <a:ext cx="2834640" cy="274320"/>
          </a:xfrm>
          <a:prstGeom prst="rect">
            <a:avLst/>
          </a:prstGeom>
          <a:noFill/>
          <a:ln/>
        </p:spPr>
        <p:txBody>
          <a:bodyPr wrap="square" lIns="25400" tIns="25400" rIns="25400" bIns="25400" rtlCol="0" anchor="ctr"/>
          <a:lstStyle/>
          <a:p>
            <a:pPr indent="0" marL="0">
              <a:buNone/>
            </a:pPr>
            <a:r>
              <a:rPr lang="en-US" sz="1000" b="1" dirty="0">
                <a:solidFill>
                  <a:srgbClr val="021B3A"/>
                </a:solidFill>
                <a:latin typeface="Calibri" pitchFamily="34" charset="0"/>
                <a:ea typeface="Calibri" pitchFamily="34" charset="-122"/>
                <a:cs typeface="Calibri" pitchFamily="34" charset="-120"/>
              </a:rPr>
              <a:t>Critère</a:t>
            </a:r>
            <a:endParaRPr lang="en-US" sz="1000" dirty="0"/>
          </a:p>
        </p:txBody>
      </p:sp>
      <p:sp>
        <p:nvSpPr>
          <p:cNvPr id="31" name="Text 29"/>
          <p:cNvSpPr/>
          <p:nvPr/>
        </p:nvSpPr>
        <p:spPr>
          <a:xfrm>
            <a:off x="3218688" y="3108960"/>
            <a:ext cx="2615184" cy="274320"/>
          </a:xfrm>
          <a:prstGeom prst="rect">
            <a:avLst/>
          </a:prstGeom>
          <a:noFill/>
          <a:ln/>
        </p:spPr>
        <p:txBody>
          <a:bodyPr wrap="square" lIns="25400" tIns="25400" rIns="25400" bIns="25400" rtlCol="0" anchor="ctr"/>
          <a:lstStyle/>
          <a:p>
            <a:pPr algn="ctr" indent="0" marL="0">
              <a:buNone/>
            </a:pPr>
            <a:r>
              <a:rPr lang="en-US" sz="1000" b="1" dirty="0">
                <a:solidFill>
                  <a:srgbClr val="E53E3E"/>
                </a:solidFill>
                <a:latin typeface="Calibri" pitchFamily="34" charset="0"/>
                <a:ea typeface="Calibri" pitchFamily="34" charset="-122"/>
                <a:cs typeface="Calibri" pitchFamily="34" charset="-120"/>
              </a:rPr>
              <a:t>Synchrone (API REST)</a:t>
            </a:r>
            <a:endParaRPr lang="en-US" sz="1000" dirty="0"/>
          </a:p>
        </p:txBody>
      </p:sp>
      <p:sp>
        <p:nvSpPr>
          <p:cNvPr id="32" name="Text 30"/>
          <p:cNvSpPr/>
          <p:nvPr/>
        </p:nvSpPr>
        <p:spPr>
          <a:xfrm>
            <a:off x="5870448" y="3108960"/>
            <a:ext cx="2980944" cy="274320"/>
          </a:xfrm>
          <a:prstGeom prst="rect">
            <a:avLst/>
          </a:prstGeom>
          <a:noFill/>
          <a:ln/>
        </p:spPr>
        <p:txBody>
          <a:bodyPr wrap="square" lIns="25400" tIns="25400" rIns="25400" bIns="25400" rtlCol="0" anchor="ctr"/>
          <a:lstStyle/>
          <a:p>
            <a:pPr algn="ctr" indent="0" marL="0">
              <a:buNone/>
            </a:pPr>
            <a:r>
              <a:rPr lang="en-US" sz="1000" b="1" dirty="0">
                <a:solidFill>
                  <a:srgbClr val="38A169"/>
                </a:solidFill>
                <a:latin typeface="Calibri" pitchFamily="34" charset="0"/>
                <a:ea typeface="Calibri" pitchFamily="34" charset="-122"/>
                <a:cs typeface="Calibri" pitchFamily="34" charset="-120"/>
              </a:rPr>
              <a:t>Asynchrone (NiFi)</a:t>
            </a:r>
            <a:endParaRPr lang="en-US" sz="1000" dirty="0"/>
          </a:p>
        </p:txBody>
      </p:sp>
      <p:sp>
        <p:nvSpPr>
          <p:cNvPr id="33" name="Shape 31"/>
          <p:cNvSpPr/>
          <p:nvPr/>
        </p:nvSpPr>
        <p:spPr>
          <a:xfrm>
            <a:off x="274320" y="3401568"/>
            <a:ext cx="8595360" cy="329184"/>
          </a:xfrm>
          <a:prstGeom prst="rect">
            <a:avLst/>
          </a:prstGeom>
          <a:solidFill>
            <a:srgbClr val="FFFFFF"/>
          </a:solidFill>
          <a:ln/>
        </p:spPr>
      </p:sp>
      <p:sp>
        <p:nvSpPr>
          <p:cNvPr id="34" name="Text 32"/>
          <p:cNvSpPr/>
          <p:nvPr/>
        </p:nvSpPr>
        <p:spPr>
          <a:xfrm>
            <a:off x="320040" y="3401568"/>
            <a:ext cx="2834640" cy="329184"/>
          </a:xfrm>
          <a:prstGeom prst="rect">
            <a:avLst/>
          </a:prstGeom>
          <a:noFill/>
          <a:ln/>
        </p:spPr>
        <p:txBody>
          <a:bodyPr wrap="square" lIns="25400" tIns="25400" rIns="25400" bIns="25400" rtlCol="0" anchor="ctr"/>
          <a:lstStyle/>
          <a:p>
            <a:pPr indent="0" marL="0">
              <a:buNone/>
            </a:pPr>
            <a:r>
              <a:rPr lang="en-US" sz="900" b="1" dirty="0">
                <a:solidFill>
                  <a:srgbClr val="021B3A"/>
                </a:solidFill>
                <a:latin typeface="Calibri" pitchFamily="34" charset="0"/>
                <a:ea typeface="Calibri" pitchFamily="34" charset="-122"/>
                <a:cs typeface="Calibri" pitchFamily="34" charset="-120"/>
              </a:rPr>
              <a:t>Le producteur attend-il ?</a:t>
            </a:r>
            <a:endParaRPr lang="en-US" sz="900" dirty="0"/>
          </a:p>
        </p:txBody>
      </p:sp>
      <p:sp>
        <p:nvSpPr>
          <p:cNvPr id="35" name="Text 33"/>
          <p:cNvSpPr/>
          <p:nvPr/>
        </p:nvSpPr>
        <p:spPr>
          <a:xfrm>
            <a:off x="3218688" y="3401568"/>
            <a:ext cx="2615184" cy="329184"/>
          </a:xfrm>
          <a:prstGeom prst="rect">
            <a:avLst/>
          </a:prstGeom>
          <a:noFill/>
          <a:ln/>
        </p:spPr>
        <p:txBody>
          <a:bodyPr wrap="square" lIns="25400" tIns="25400" rIns="25400" bIns="25400" rtlCol="0" anchor="ctr"/>
          <a:lstStyle/>
          <a:p>
            <a:pPr algn="ctr" indent="0" marL="0">
              <a:buNone/>
            </a:pPr>
            <a:r>
              <a:rPr lang="en-US" sz="900" dirty="0">
                <a:solidFill>
                  <a:srgbClr val="021B3A"/>
                </a:solidFill>
                <a:latin typeface="Calibri" pitchFamily="34" charset="0"/>
                <a:ea typeface="Calibri" pitchFamily="34" charset="-122"/>
                <a:cs typeface="Calibri" pitchFamily="34" charset="-120"/>
              </a:rPr>
              <a:t>✅ Oui, bloqué</a:t>
            </a:r>
            <a:endParaRPr lang="en-US" sz="900" dirty="0"/>
          </a:p>
        </p:txBody>
      </p:sp>
      <p:sp>
        <p:nvSpPr>
          <p:cNvPr id="36" name="Text 34"/>
          <p:cNvSpPr/>
          <p:nvPr/>
        </p:nvSpPr>
        <p:spPr>
          <a:xfrm>
            <a:off x="5870448" y="3401568"/>
            <a:ext cx="2980944" cy="329184"/>
          </a:xfrm>
          <a:prstGeom prst="rect">
            <a:avLst/>
          </a:prstGeom>
          <a:noFill/>
          <a:ln/>
        </p:spPr>
        <p:txBody>
          <a:bodyPr wrap="square" lIns="25400" tIns="25400" rIns="25400" bIns="25400" rtlCol="0" anchor="ctr"/>
          <a:lstStyle/>
          <a:p>
            <a:pPr algn="ctr" indent="0" marL="0">
              <a:buNone/>
            </a:pPr>
            <a:r>
              <a:rPr lang="en-US" sz="900" dirty="0">
                <a:solidFill>
                  <a:srgbClr val="021B3A"/>
                </a:solidFill>
                <a:latin typeface="Calibri" pitchFamily="34" charset="0"/>
                <a:ea typeface="Calibri" pitchFamily="34" charset="-122"/>
                <a:cs typeface="Calibri" pitchFamily="34" charset="-120"/>
              </a:rPr>
              <a:t>❌ Non, continue immédiatement</a:t>
            </a:r>
            <a:endParaRPr lang="en-US" sz="900" dirty="0"/>
          </a:p>
        </p:txBody>
      </p:sp>
      <p:sp>
        <p:nvSpPr>
          <p:cNvPr id="37" name="Shape 35"/>
          <p:cNvSpPr/>
          <p:nvPr/>
        </p:nvSpPr>
        <p:spPr>
          <a:xfrm>
            <a:off x="274320" y="3749040"/>
            <a:ext cx="8595360" cy="329184"/>
          </a:xfrm>
          <a:prstGeom prst="rect">
            <a:avLst/>
          </a:prstGeom>
          <a:solidFill>
            <a:srgbClr val="F0F4F8"/>
          </a:solidFill>
          <a:ln/>
        </p:spPr>
      </p:sp>
      <p:sp>
        <p:nvSpPr>
          <p:cNvPr id="38" name="Text 36"/>
          <p:cNvSpPr/>
          <p:nvPr/>
        </p:nvSpPr>
        <p:spPr>
          <a:xfrm>
            <a:off x="320040" y="3749040"/>
            <a:ext cx="2834640" cy="329184"/>
          </a:xfrm>
          <a:prstGeom prst="rect">
            <a:avLst/>
          </a:prstGeom>
          <a:noFill/>
          <a:ln/>
        </p:spPr>
        <p:txBody>
          <a:bodyPr wrap="square" lIns="25400" tIns="25400" rIns="25400" bIns="25400" rtlCol="0" anchor="ctr"/>
          <a:lstStyle/>
          <a:p>
            <a:pPr indent="0" marL="0">
              <a:buNone/>
            </a:pPr>
            <a:r>
              <a:rPr lang="en-US" sz="900" b="1" dirty="0">
                <a:solidFill>
                  <a:srgbClr val="021B3A"/>
                </a:solidFill>
                <a:latin typeface="Calibri" pitchFamily="34" charset="0"/>
                <a:ea typeface="Calibri" pitchFamily="34" charset="-122"/>
                <a:cs typeface="Calibri" pitchFamily="34" charset="-120"/>
              </a:rPr>
              <a:t>Confirmation succès immédiate ?</a:t>
            </a:r>
            <a:endParaRPr lang="en-US" sz="900" dirty="0"/>
          </a:p>
        </p:txBody>
      </p:sp>
      <p:sp>
        <p:nvSpPr>
          <p:cNvPr id="39" name="Text 37"/>
          <p:cNvSpPr/>
          <p:nvPr/>
        </p:nvSpPr>
        <p:spPr>
          <a:xfrm>
            <a:off x="3218688" y="3749040"/>
            <a:ext cx="2615184" cy="329184"/>
          </a:xfrm>
          <a:prstGeom prst="rect">
            <a:avLst/>
          </a:prstGeom>
          <a:noFill/>
          <a:ln/>
        </p:spPr>
        <p:txBody>
          <a:bodyPr wrap="square" lIns="25400" tIns="25400" rIns="25400" bIns="25400" rtlCol="0" anchor="ctr"/>
          <a:lstStyle/>
          <a:p>
            <a:pPr algn="ctr" indent="0" marL="0">
              <a:buNone/>
            </a:pPr>
            <a:r>
              <a:rPr lang="en-US" sz="900" dirty="0">
                <a:solidFill>
                  <a:srgbClr val="021B3A"/>
                </a:solidFill>
                <a:latin typeface="Calibri" pitchFamily="34" charset="0"/>
                <a:ea typeface="Calibri" pitchFamily="34" charset="-122"/>
                <a:cs typeface="Calibri" pitchFamily="34" charset="-120"/>
              </a:rPr>
              <a:t>✅ Oui, dans la réponse</a:t>
            </a:r>
            <a:endParaRPr lang="en-US" sz="900" dirty="0"/>
          </a:p>
        </p:txBody>
      </p:sp>
      <p:sp>
        <p:nvSpPr>
          <p:cNvPr id="40" name="Text 38"/>
          <p:cNvSpPr/>
          <p:nvPr/>
        </p:nvSpPr>
        <p:spPr>
          <a:xfrm>
            <a:off x="5870448" y="3749040"/>
            <a:ext cx="2980944" cy="329184"/>
          </a:xfrm>
          <a:prstGeom prst="rect">
            <a:avLst/>
          </a:prstGeom>
          <a:noFill/>
          <a:ln/>
        </p:spPr>
        <p:txBody>
          <a:bodyPr wrap="square" lIns="25400" tIns="25400" rIns="25400" bIns="25400" rtlCol="0" anchor="ctr"/>
          <a:lstStyle/>
          <a:p>
            <a:pPr algn="ctr" indent="0" marL="0">
              <a:buNone/>
            </a:pPr>
            <a:r>
              <a:rPr lang="en-US" sz="900" dirty="0">
                <a:solidFill>
                  <a:srgbClr val="021B3A"/>
                </a:solidFill>
                <a:latin typeface="Calibri" pitchFamily="34" charset="0"/>
                <a:ea typeface="Calibri" pitchFamily="34" charset="-122"/>
                <a:cs typeface="Calibri" pitchFamily="34" charset="-120"/>
              </a:rPr>
              <a:t>❌ Non, ultérieure ou jamais</a:t>
            </a:r>
            <a:endParaRPr lang="en-US" sz="900" dirty="0"/>
          </a:p>
        </p:txBody>
      </p:sp>
      <p:sp>
        <p:nvSpPr>
          <p:cNvPr id="41" name="Shape 39"/>
          <p:cNvSpPr/>
          <p:nvPr/>
        </p:nvSpPr>
        <p:spPr>
          <a:xfrm>
            <a:off x="274320" y="4096512"/>
            <a:ext cx="8595360" cy="329184"/>
          </a:xfrm>
          <a:prstGeom prst="rect">
            <a:avLst/>
          </a:prstGeom>
          <a:solidFill>
            <a:srgbClr val="FFFFFF"/>
          </a:solidFill>
          <a:ln/>
        </p:spPr>
      </p:sp>
      <p:sp>
        <p:nvSpPr>
          <p:cNvPr id="42" name="Text 40"/>
          <p:cNvSpPr/>
          <p:nvPr/>
        </p:nvSpPr>
        <p:spPr>
          <a:xfrm>
            <a:off x="320040" y="4096512"/>
            <a:ext cx="2834640" cy="329184"/>
          </a:xfrm>
          <a:prstGeom prst="rect">
            <a:avLst/>
          </a:prstGeom>
          <a:noFill/>
          <a:ln/>
        </p:spPr>
        <p:txBody>
          <a:bodyPr wrap="square" lIns="25400" tIns="25400" rIns="25400" bIns="25400" rtlCol="0" anchor="ctr"/>
          <a:lstStyle/>
          <a:p>
            <a:pPr indent="0" marL="0">
              <a:buNone/>
            </a:pPr>
            <a:r>
              <a:rPr lang="en-US" sz="900" b="1" dirty="0">
                <a:solidFill>
                  <a:srgbClr val="021B3A"/>
                </a:solidFill>
                <a:latin typeface="Calibri" pitchFamily="34" charset="0"/>
                <a:ea typeface="Calibri" pitchFamily="34" charset="-122"/>
                <a:cs typeface="Calibri" pitchFamily="34" charset="-120"/>
              </a:rPr>
              <a:t>Adapté au débit massif ?</a:t>
            </a:r>
            <a:endParaRPr lang="en-US" sz="900" dirty="0"/>
          </a:p>
        </p:txBody>
      </p:sp>
      <p:sp>
        <p:nvSpPr>
          <p:cNvPr id="43" name="Text 41"/>
          <p:cNvSpPr/>
          <p:nvPr/>
        </p:nvSpPr>
        <p:spPr>
          <a:xfrm>
            <a:off x="3218688" y="4096512"/>
            <a:ext cx="2615184" cy="329184"/>
          </a:xfrm>
          <a:prstGeom prst="rect">
            <a:avLst/>
          </a:prstGeom>
          <a:noFill/>
          <a:ln/>
        </p:spPr>
        <p:txBody>
          <a:bodyPr wrap="square" lIns="25400" tIns="25400" rIns="25400" bIns="25400" rtlCol="0" anchor="ctr"/>
          <a:lstStyle/>
          <a:p>
            <a:pPr algn="ctr" indent="0" marL="0">
              <a:buNone/>
            </a:pPr>
            <a:r>
              <a:rPr lang="en-US" sz="900" dirty="0">
                <a:solidFill>
                  <a:srgbClr val="021B3A"/>
                </a:solidFill>
                <a:latin typeface="Calibri" pitchFamily="34" charset="0"/>
                <a:ea typeface="Calibri" pitchFamily="34" charset="-122"/>
                <a:cs typeface="Calibri" pitchFamily="34" charset="-120"/>
              </a:rPr>
              <a:t>⚠️ Limité</a:t>
            </a:r>
            <a:endParaRPr lang="en-US" sz="900" dirty="0"/>
          </a:p>
        </p:txBody>
      </p:sp>
      <p:sp>
        <p:nvSpPr>
          <p:cNvPr id="44" name="Text 42"/>
          <p:cNvSpPr/>
          <p:nvPr/>
        </p:nvSpPr>
        <p:spPr>
          <a:xfrm>
            <a:off x="5870448" y="4096512"/>
            <a:ext cx="2980944" cy="329184"/>
          </a:xfrm>
          <a:prstGeom prst="rect">
            <a:avLst/>
          </a:prstGeom>
          <a:noFill/>
          <a:ln/>
        </p:spPr>
        <p:txBody>
          <a:bodyPr wrap="square" lIns="25400" tIns="25400" rIns="25400" bIns="25400" rtlCol="0" anchor="ctr"/>
          <a:lstStyle/>
          <a:p>
            <a:pPr algn="ctr" indent="0" marL="0">
              <a:buNone/>
            </a:pPr>
            <a:r>
              <a:rPr lang="en-US" sz="900" dirty="0">
                <a:solidFill>
                  <a:srgbClr val="021B3A"/>
                </a:solidFill>
                <a:latin typeface="Calibri" pitchFamily="34" charset="0"/>
                <a:ea typeface="Calibri" pitchFamily="34" charset="-122"/>
                <a:cs typeface="Calibri" pitchFamily="34" charset="-120"/>
              </a:rPr>
              <a:t>✅ Natif</a:t>
            </a:r>
            <a:endParaRPr lang="en-US" sz="900" dirty="0"/>
          </a:p>
        </p:txBody>
      </p:sp>
      <p:sp>
        <p:nvSpPr>
          <p:cNvPr id="45" name="Shape 43"/>
          <p:cNvSpPr/>
          <p:nvPr/>
        </p:nvSpPr>
        <p:spPr>
          <a:xfrm>
            <a:off x="274320" y="4443984"/>
            <a:ext cx="8595360" cy="329184"/>
          </a:xfrm>
          <a:prstGeom prst="rect">
            <a:avLst/>
          </a:prstGeom>
          <a:solidFill>
            <a:srgbClr val="F0F4F8"/>
          </a:solidFill>
          <a:ln/>
        </p:spPr>
      </p:sp>
      <p:sp>
        <p:nvSpPr>
          <p:cNvPr id="46" name="Text 44"/>
          <p:cNvSpPr/>
          <p:nvPr/>
        </p:nvSpPr>
        <p:spPr>
          <a:xfrm>
            <a:off x="320040" y="4443984"/>
            <a:ext cx="2834640" cy="329184"/>
          </a:xfrm>
          <a:prstGeom prst="rect">
            <a:avLst/>
          </a:prstGeom>
          <a:noFill/>
          <a:ln/>
        </p:spPr>
        <p:txBody>
          <a:bodyPr wrap="square" lIns="25400" tIns="25400" rIns="25400" bIns="25400" rtlCol="0" anchor="ctr"/>
          <a:lstStyle/>
          <a:p>
            <a:pPr indent="0" marL="0">
              <a:buNone/>
            </a:pPr>
            <a:r>
              <a:rPr lang="en-US" sz="900" b="1" dirty="0">
                <a:solidFill>
                  <a:srgbClr val="021B3A"/>
                </a:solidFill>
                <a:latin typeface="Calibri" pitchFamily="34" charset="0"/>
                <a:ea typeface="Calibri" pitchFamily="34" charset="-122"/>
                <a:cs typeface="Calibri" pitchFamily="34" charset="-120"/>
              </a:rPr>
              <a:t>Adapté au request/response ?</a:t>
            </a:r>
            <a:endParaRPr lang="en-US" sz="900" dirty="0"/>
          </a:p>
        </p:txBody>
      </p:sp>
      <p:sp>
        <p:nvSpPr>
          <p:cNvPr id="47" name="Text 45"/>
          <p:cNvSpPr/>
          <p:nvPr/>
        </p:nvSpPr>
        <p:spPr>
          <a:xfrm>
            <a:off x="3218688" y="4443984"/>
            <a:ext cx="2615184" cy="329184"/>
          </a:xfrm>
          <a:prstGeom prst="rect">
            <a:avLst/>
          </a:prstGeom>
          <a:noFill/>
          <a:ln/>
        </p:spPr>
        <p:txBody>
          <a:bodyPr wrap="square" lIns="25400" tIns="25400" rIns="25400" bIns="25400" rtlCol="0" anchor="ctr"/>
          <a:lstStyle/>
          <a:p>
            <a:pPr algn="ctr" indent="0" marL="0">
              <a:buNone/>
            </a:pPr>
            <a:r>
              <a:rPr lang="en-US" sz="900" dirty="0">
                <a:solidFill>
                  <a:srgbClr val="021B3A"/>
                </a:solidFill>
                <a:latin typeface="Calibri" pitchFamily="34" charset="0"/>
                <a:ea typeface="Calibri" pitchFamily="34" charset="-122"/>
                <a:cs typeface="Calibri" pitchFamily="34" charset="-120"/>
              </a:rPr>
              <a:t>✅ Natif</a:t>
            </a:r>
            <a:endParaRPr lang="en-US" sz="900" dirty="0"/>
          </a:p>
        </p:txBody>
      </p:sp>
      <p:sp>
        <p:nvSpPr>
          <p:cNvPr id="48" name="Text 46"/>
          <p:cNvSpPr/>
          <p:nvPr/>
        </p:nvSpPr>
        <p:spPr>
          <a:xfrm>
            <a:off x="5870448" y="4443984"/>
            <a:ext cx="2980944" cy="329184"/>
          </a:xfrm>
          <a:prstGeom prst="rect">
            <a:avLst/>
          </a:prstGeom>
          <a:noFill/>
          <a:ln/>
        </p:spPr>
        <p:txBody>
          <a:bodyPr wrap="square" lIns="25400" tIns="25400" rIns="25400" bIns="25400" rtlCol="0" anchor="ctr"/>
          <a:lstStyle/>
          <a:p>
            <a:pPr algn="ctr" indent="0" marL="0">
              <a:buNone/>
            </a:pPr>
            <a:r>
              <a:rPr lang="en-US" sz="900" dirty="0">
                <a:solidFill>
                  <a:srgbClr val="021B3A"/>
                </a:solidFill>
                <a:latin typeface="Calibri" pitchFamily="34" charset="0"/>
                <a:ea typeface="Calibri" pitchFamily="34" charset="-122"/>
                <a:cs typeface="Calibri" pitchFamily="34" charset="-120"/>
              </a:rPr>
              <a:t>❌ Artificiel et fragile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B3A"/>
          </a:solidFill>
          <a:ln/>
        </p:spPr>
      </p:sp>
      <p:sp>
        <p:nvSpPr>
          <p:cNvPr id="3" name="Shape 1"/>
          <p:cNvSpPr/>
          <p:nvPr/>
        </p:nvSpPr>
        <p:spPr>
          <a:xfrm>
            <a:off x="0" y="0"/>
            <a:ext cx="164592" cy="658368"/>
          </a:xfrm>
          <a:prstGeom prst="rect">
            <a:avLst/>
          </a:prstGeom>
          <a:solidFill>
            <a:srgbClr val="E53E3E"/>
          </a:solidFill>
          <a:ln/>
        </p:spPr>
      </p:sp>
      <p:sp>
        <p:nvSpPr>
          <p:cNvPr id="4" name="Text 2"/>
          <p:cNvSpPr/>
          <p:nvPr/>
        </p:nvSpPr>
        <p:spPr>
          <a:xfrm>
            <a:off x="347472" y="54864"/>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05  |  Le Pool de 10 Threads Globaux — Impact Critique</a:t>
            </a:r>
            <a:endParaRPr lang="en-US" sz="2200" dirty="0"/>
          </a:p>
        </p:txBody>
      </p:sp>
      <p:sp>
        <p:nvSpPr>
          <p:cNvPr id="5" name="Shape 3"/>
          <p:cNvSpPr/>
          <p:nvPr/>
        </p:nvSpPr>
        <p:spPr>
          <a:xfrm>
            <a:off x="274320" y="749808"/>
            <a:ext cx="8595360" cy="713232"/>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74320" y="749808"/>
            <a:ext cx="64008" cy="713232"/>
          </a:xfrm>
          <a:prstGeom prst="rect">
            <a:avLst/>
          </a:prstGeom>
          <a:solidFill>
            <a:srgbClr val="E53E3E"/>
          </a:solidFill>
          <a:ln/>
        </p:spPr>
      </p:sp>
      <p:sp>
        <p:nvSpPr>
          <p:cNvPr id="7" name="Text 5"/>
          <p:cNvSpPr/>
          <p:nvPr/>
        </p:nvSpPr>
        <p:spPr>
          <a:xfrm>
            <a:off x="411480" y="786384"/>
            <a:ext cx="8321040" cy="640080"/>
          </a:xfrm>
          <a:prstGeom prst="rect">
            <a:avLst/>
          </a:prstGeom>
          <a:noFill/>
          <a:ln/>
        </p:spPr>
        <p:txBody>
          <a:bodyPr wrap="square" lIns="0" tIns="0" rIns="0" bIns="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NiFi dispose de 10 threads globaux maximum pour TOUS les processeurs timer-driven du système. Ce n'est pas 10 threads par processeur — c'est 10 threads pour l'ensemble de NiFi.</a:t>
            </a:r>
            <a:endParaRPr lang="en-US" sz="1100" dirty="0"/>
          </a:p>
        </p:txBody>
      </p:sp>
      <p:sp>
        <p:nvSpPr>
          <p:cNvPr id="8" name="Shape 6"/>
          <p:cNvSpPr/>
          <p:nvPr/>
        </p:nvSpPr>
        <p:spPr>
          <a:xfrm>
            <a:off x="274320" y="1572768"/>
            <a:ext cx="3977640" cy="33375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9" name="Shape 7"/>
          <p:cNvSpPr/>
          <p:nvPr/>
        </p:nvSpPr>
        <p:spPr>
          <a:xfrm>
            <a:off x="274320" y="1572768"/>
            <a:ext cx="3977640" cy="292608"/>
          </a:xfrm>
          <a:prstGeom prst="rect">
            <a:avLst/>
          </a:prstGeom>
          <a:solidFill>
            <a:srgbClr val="E53E3E"/>
          </a:solidFill>
          <a:ln/>
        </p:spPr>
      </p:sp>
      <p:sp>
        <p:nvSpPr>
          <p:cNvPr id="10" name="Text 8"/>
          <p:cNvSpPr/>
          <p:nvPr/>
        </p:nvSpPr>
        <p:spPr>
          <a:xfrm>
            <a:off x="320040" y="1572768"/>
            <a:ext cx="38862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PG Partagé — Pool Épuisé</a:t>
            </a:r>
            <a:endParaRPr lang="en-US" sz="1100" dirty="0"/>
          </a:p>
        </p:txBody>
      </p:sp>
      <p:sp>
        <p:nvSpPr>
          <p:cNvPr id="11" name="Shape 9"/>
          <p:cNvSpPr/>
          <p:nvPr/>
        </p:nvSpPr>
        <p:spPr>
          <a:xfrm>
            <a:off x="384048" y="1920240"/>
            <a:ext cx="3749040" cy="274320"/>
          </a:xfrm>
          <a:prstGeom prst="rect">
            <a:avLst/>
          </a:prstGeom>
          <a:solidFill>
            <a:srgbClr val="E53E3E">
              <a:alpha val="20000"/>
            </a:srgbClr>
          </a:solidFill>
          <a:ln/>
        </p:spPr>
      </p:sp>
      <p:sp>
        <p:nvSpPr>
          <p:cNvPr id="12" name="Shape 10"/>
          <p:cNvSpPr/>
          <p:nvPr/>
        </p:nvSpPr>
        <p:spPr>
          <a:xfrm>
            <a:off x="384048" y="1920240"/>
            <a:ext cx="64008" cy="274320"/>
          </a:xfrm>
          <a:prstGeom prst="rect">
            <a:avLst/>
          </a:prstGeom>
          <a:solidFill>
            <a:srgbClr val="E53E3E"/>
          </a:solidFill>
          <a:ln/>
        </p:spPr>
      </p:sp>
      <p:sp>
        <p:nvSpPr>
          <p:cNvPr id="13" name="Text 11"/>
          <p:cNvSpPr/>
          <p:nvPr/>
        </p:nvSpPr>
        <p:spPr>
          <a:xfrm>
            <a:off x="512064" y="1938528"/>
            <a:ext cx="3547872" cy="237744"/>
          </a:xfrm>
          <a:prstGeom prst="rect">
            <a:avLst/>
          </a:prstGeom>
          <a:noFill/>
          <a:ln/>
        </p:spPr>
        <p:txBody>
          <a:bodyPr wrap="square" lIns="0" tIns="0" rIns="0" bIns="0" rtlCol="0" anchor="ctr"/>
          <a:lstStyle/>
          <a:p>
            <a:pPr indent="0" marL="0">
              <a:buNone/>
            </a:pPr>
            <a:r>
              <a:rPr lang="en-US" sz="850" dirty="0">
                <a:solidFill>
                  <a:srgbClr val="021B3A"/>
                </a:solidFill>
                <a:latin typeface="Calibri" pitchFamily="34" charset="0"/>
                <a:ea typeface="Calibri" pitchFamily="34" charset="-122"/>
                <a:cs typeface="Calibri" pitchFamily="34" charset="-120"/>
              </a:rPr>
              <a:t>Thread 1  →  InvokeHTTP → attend web service…</a:t>
            </a:r>
            <a:endParaRPr lang="en-US" sz="850" dirty="0"/>
          </a:p>
        </p:txBody>
      </p:sp>
      <p:sp>
        <p:nvSpPr>
          <p:cNvPr id="14" name="Shape 12"/>
          <p:cNvSpPr/>
          <p:nvPr/>
        </p:nvSpPr>
        <p:spPr>
          <a:xfrm>
            <a:off x="384048" y="2240280"/>
            <a:ext cx="3749040" cy="274320"/>
          </a:xfrm>
          <a:prstGeom prst="rect">
            <a:avLst/>
          </a:prstGeom>
          <a:solidFill>
            <a:srgbClr val="E53E3E">
              <a:alpha val="20000"/>
            </a:srgbClr>
          </a:solidFill>
          <a:ln/>
        </p:spPr>
      </p:sp>
      <p:sp>
        <p:nvSpPr>
          <p:cNvPr id="15" name="Shape 13"/>
          <p:cNvSpPr/>
          <p:nvPr/>
        </p:nvSpPr>
        <p:spPr>
          <a:xfrm>
            <a:off x="384048" y="2240280"/>
            <a:ext cx="64008" cy="274320"/>
          </a:xfrm>
          <a:prstGeom prst="rect">
            <a:avLst/>
          </a:prstGeom>
          <a:solidFill>
            <a:srgbClr val="E53E3E"/>
          </a:solidFill>
          <a:ln/>
        </p:spPr>
      </p:sp>
      <p:sp>
        <p:nvSpPr>
          <p:cNvPr id="16" name="Text 14"/>
          <p:cNvSpPr/>
          <p:nvPr/>
        </p:nvSpPr>
        <p:spPr>
          <a:xfrm>
            <a:off x="512064" y="2258568"/>
            <a:ext cx="3547872" cy="237744"/>
          </a:xfrm>
          <a:prstGeom prst="rect">
            <a:avLst/>
          </a:prstGeom>
          <a:noFill/>
          <a:ln/>
        </p:spPr>
        <p:txBody>
          <a:bodyPr wrap="square" lIns="0" tIns="0" rIns="0" bIns="0" rtlCol="0" anchor="ctr"/>
          <a:lstStyle/>
          <a:p>
            <a:pPr indent="0" marL="0">
              <a:buNone/>
            </a:pPr>
            <a:r>
              <a:rPr lang="en-US" sz="850" dirty="0">
                <a:solidFill>
                  <a:srgbClr val="021B3A"/>
                </a:solidFill>
                <a:latin typeface="Calibri" pitchFamily="34" charset="0"/>
                <a:ea typeface="Calibri" pitchFamily="34" charset="-122"/>
                <a:cs typeface="Calibri" pitchFamily="34" charset="-120"/>
              </a:rPr>
              <a:t>Thread 2  →  InvokeHTTP → attend web service…</a:t>
            </a:r>
            <a:endParaRPr lang="en-US" sz="850" dirty="0"/>
          </a:p>
        </p:txBody>
      </p:sp>
      <p:sp>
        <p:nvSpPr>
          <p:cNvPr id="17" name="Shape 15"/>
          <p:cNvSpPr/>
          <p:nvPr/>
        </p:nvSpPr>
        <p:spPr>
          <a:xfrm>
            <a:off x="384048" y="2560320"/>
            <a:ext cx="3749040" cy="274320"/>
          </a:xfrm>
          <a:prstGeom prst="rect">
            <a:avLst/>
          </a:prstGeom>
          <a:solidFill>
            <a:srgbClr val="E53E3E">
              <a:alpha val="20000"/>
            </a:srgbClr>
          </a:solidFill>
          <a:ln/>
        </p:spPr>
      </p:sp>
      <p:sp>
        <p:nvSpPr>
          <p:cNvPr id="18" name="Shape 16"/>
          <p:cNvSpPr/>
          <p:nvPr/>
        </p:nvSpPr>
        <p:spPr>
          <a:xfrm>
            <a:off x="384048" y="2560320"/>
            <a:ext cx="64008" cy="274320"/>
          </a:xfrm>
          <a:prstGeom prst="rect">
            <a:avLst/>
          </a:prstGeom>
          <a:solidFill>
            <a:srgbClr val="E53E3E"/>
          </a:solidFill>
          <a:ln/>
        </p:spPr>
      </p:sp>
      <p:sp>
        <p:nvSpPr>
          <p:cNvPr id="19" name="Text 17"/>
          <p:cNvSpPr/>
          <p:nvPr/>
        </p:nvSpPr>
        <p:spPr>
          <a:xfrm>
            <a:off x="512064" y="2578608"/>
            <a:ext cx="3547872" cy="237744"/>
          </a:xfrm>
          <a:prstGeom prst="rect">
            <a:avLst/>
          </a:prstGeom>
          <a:noFill/>
          <a:ln/>
        </p:spPr>
        <p:txBody>
          <a:bodyPr wrap="square" lIns="0" tIns="0" rIns="0" bIns="0" rtlCol="0" anchor="ctr"/>
          <a:lstStyle/>
          <a:p>
            <a:pPr indent="0" marL="0">
              <a:buNone/>
            </a:pPr>
            <a:r>
              <a:rPr lang="en-US" sz="850" dirty="0">
                <a:solidFill>
                  <a:srgbClr val="021B3A"/>
                </a:solidFill>
                <a:latin typeface="Calibri" pitchFamily="34" charset="0"/>
                <a:ea typeface="Calibri" pitchFamily="34" charset="-122"/>
                <a:cs typeface="Calibri" pitchFamily="34" charset="-120"/>
              </a:rPr>
              <a:t>Thread 3  →  InvokeHTTP → attend web service…</a:t>
            </a:r>
            <a:endParaRPr lang="en-US" sz="850" dirty="0"/>
          </a:p>
        </p:txBody>
      </p:sp>
      <p:sp>
        <p:nvSpPr>
          <p:cNvPr id="20" name="Shape 18"/>
          <p:cNvSpPr/>
          <p:nvPr/>
        </p:nvSpPr>
        <p:spPr>
          <a:xfrm>
            <a:off x="384048" y="2880360"/>
            <a:ext cx="3749040" cy="274320"/>
          </a:xfrm>
          <a:prstGeom prst="rect">
            <a:avLst/>
          </a:prstGeom>
          <a:solidFill>
            <a:srgbClr val="E53E3E">
              <a:alpha val="20000"/>
            </a:srgbClr>
          </a:solidFill>
          <a:ln/>
        </p:spPr>
      </p:sp>
      <p:sp>
        <p:nvSpPr>
          <p:cNvPr id="21" name="Shape 19"/>
          <p:cNvSpPr/>
          <p:nvPr/>
        </p:nvSpPr>
        <p:spPr>
          <a:xfrm>
            <a:off x="384048" y="2880360"/>
            <a:ext cx="64008" cy="274320"/>
          </a:xfrm>
          <a:prstGeom prst="rect">
            <a:avLst/>
          </a:prstGeom>
          <a:solidFill>
            <a:srgbClr val="E53E3E"/>
          </a:solidFill>
          <a:ln/>
        </p:spPr>
      </p:sp>
      <p:sp>
        <p:nvSpPr>
          <p:cNvPr id="22" name="Text 20"/>
          <p:cNvSpPr/>
          <p:nvPr/>
        </p:nvSpPr>
        <p:spPr>
          <a:xfrm>
            <a:off x="512064" y="2898648"/>
            <a:ext cx="3547872" cy="237744"/>
          </a:xfrm>
          <a:prstGeom prst="rect">
            <a:avLst/>
          </a:prstGeom>
          <a:noFill/>
          <a:ln/>
        </p:spPr>
        <p:txBody>
          <a:bodyPr wrap="square" lIns="0" tIns="0" rIns="0" bIns="0" rtlCol="0" anchor="ctr"/>
          <a:lstStyle/>
          <a:p>
            <a:pPr indent="0" marL="0">
              <a:buNone/>
            </a:pPr>
            <a:r>
              <a:rPr lang="en-US" sz="850" dirty="0">
                <a:solidFill>
                  <a:srgbClr val="021B3A"/>
                </a:solidFill>
                <a:latin typeface="Calibri" pitchFamily="34" charset="0"/>
                <a:ea typeface="Calibri" pitchFamily="34" charset="-122"/>
                <a:cs typeface="Calibri" pitchFamily="34" charset="-120"/>
              </a:rPr>
              <a:t>Thread 4  →  InvokeHTTP → attend web service…</a:t>
            </a:r>
            <a:endParaRPr lang="en-US" sz="850" dirty="0"/>
          </a:p>
        </p:txBody>
      </p:sp>
      <p:sp>
        <p:nvSpPr>
          <p:cNvPr id="23" name="Shape 21"/>
          <p:cNvSpPr/>
          <p:nvPr/>
        </p:nvSpPr>
        <p:spPr>
          <a:xfrm>
            <a:off x="384048" y="3200400"/>
            <a:ext cx="3749040" cy="274320"/>
          </a:xfrm>
          <a:prstGeom prst="rect">
            <a:avLst/>
          </a:prstGeom>
          <a:solidFill>
            <a:srgbClr val="E53E3E">
              <a:alpha val="20000"/>
            </a:srgbClr>
          </a:solidFill>
          <a:ln/>
        </p:spPr>
      </p:sp>
      <p:sp>
        <p:nvSpPr>
          <p:cNvPr id="24" name="Shape 22"/>
          <p:cNvSpPr/>
          <p:nvPr/>
        </p:nvSpPr>
        <p:spPr>
          <a:xfrm>
            <a:off x="384048" y="3200400"/>
            <a:ext cx="64008" cy="274320"/>
          </a:xfrm>
          <a:prstGeom prst="rect">
            <a:avLst/>
          </a:prstGeom>
          <a:solidFill>
            <a:srgbClr val="E53E3E"/>
          </a:solidFill>
          <a:ln/>
        </p:spPr>
      </p:sp>
      <p:sp>
        <p:nvSpPr>
          <p:cNvPr id="25" name="Text 23"/>
          <p:cNvSpPr/>
          <p:nvPr/>
        </p:nvSpPr>
        <p:spPr>
          <a:xfrm>
            <a:off x="512064" y="3218688"/>
            <a:ext cx="3547872" cy="237744"/>
          </a:xfrm>
          <a:prstGeom prst="rect">
            <a:avLst/>
          </a:prstGeom>
          <a:noFill/>
          <a:ln/>
        </p:spPr>
        <p:txBody>
          <a:bodyPr wrap="square" lIns="0" tIns="0" rIns="0" bIns="0" rtlCol="0" anchor="ctr"/>
          <a:lstStyle/>
          <a:p>
            <a:pPr indent="0" marL="0">
              <a:buNone/>
            </a:pPr>
            <a:r>
              <a:rPr lang="en-US" sz="850" dirty="0">
                <a:solidFill>
                  <a:srgbClr val="021B3A"/>
                </a:solidFill>
                <a:latin typeface="Calibri" pitchFamily="34" charset="0"/>
                <a:ea typeface="Calibri" pitchFamily="34" charset="-122"/>
                <a:cs typeface="Calibri" pitchFamily="34" charset="-120"/>
              </a:rPr>
              <a:t>Thread 5  →  InvokeHTTP → attend web service…</a:t>
            </a:r>
            <a:endParaRPr lang="en-US" sz="850" dirty="0"/>
          </a:p>
        </p:txBody>
      </p:sp>
      <p:sp>
        <p:nvSpPr>
          <p:cNvPr id="26" name="Shape 24"/>
          <p:cNvSpPr/>
          <p:nvPr/>
        </p:nvSpPr>
        <p:spPr>
          <a:xfrm>
            <a:off x="384048" y="3520440"/>
            <a:ext cx="3749040" cy="274320"/>
          </a:xfrm>
          <a:prstGeom prst="rect">
            <a:avLst/>
          </a:prstGeom>
          <a:solidFill>
            <a:srgbClr val="38A169">
              <a:alpha val="20000"/>
            </a:srgbClr>
          </a:solidFill>
          <a:ln/>
        </p:spPr>
      </p:sp>
      <p:sp>
        <p:nvSpPr>
          <p:cNvPr id="27" name="Shape 25"/>
          <p:cNvSpPr/>
          <p:nvPr/>
        </p:nvSpPr>
        <p:spPr>
          <a:xfrm>
            <a:off x="384048" y="3520440"/>
            <a:ext cx="64008" cy="274320"/>
          </a:xfrm>
          <a:prstGeom prst="rect">
            <a:avLst/>
          </a:prstGeom>
          <a:solidFill>
            <a:srgbClr val="38A169"/>
          </a:solidFill>
          <a:ln/>
        </p:spPr>
      </p:sp>
      <p:sp>
        <p:nvSpPr>
          <p:cNvPr id="28" name="Text 26"/>
          <p:cNvSpPr/>
          <p:nvPr/>
        </p:nvSpPr>
        <p:spPr>
          <a:xfrm>
            <a:off x="512064" y="3538728"/>
            <a:ext cx="3547872" cy="237744"/>
          </a:xfrm>
          <a:prstGeom prst="rect">
            <a:avLst/>
          </a:prstGeom>
          <a:noFill/>
          <a:ln/>
        </p:spPr>
        <p:txBody>
          <a:bodyPr wrap="square" lIns="0" tIns="0" rIns="0" bIns="0" rtlCol="0" anchor="ctr"/>
          <a:lstStyle/>
          <a:p>
            <a:pPr indent="0" marL="0">
              <a:buNone/>
            </a:pPr>
            <a:r>
              <a:rPr lang="en-US" sz="850" dirty="0">
                <a:solidFill>
                  <a:srgbClr val="021B3A"/>
                </a:solidFill>
                <a:latin typeface="Calibri" pitchFamily="34" charset="0"/>
                <a:ea typeface="Calibri" pitchFamily="34" charset="-122"/>
                <a:cs typeface="Calibri" pitchFamily="34" charset="-120"/>
              </a:rPr>
              <a:t>Thread 6  →  GetFile     → disponible</a:t>
            </a:r>
            <a:endParaRPr lang="en-US" sz="850" dirty="0"/>
          </a:p>
        </p:txBody>
      </p:sp>
      <p:sp>
        <p:nvSpPr>
          <p:cNvPr id="29" name="Shape 27"/>
          <p:cNvSpPr/>
          <p:nvPr/>
        </p:nvSpPr>
        <p:spPr>
          <a:xfrm>
            <a:off x="384048" y="3840480"/>
            <a:ext cx="3749040" cy="274320"/>
          </a:xfrm>
          <a:prstGeom prst="rect">
            <a:avLst/>
          </a:prstGeom>
          <a:solidFill>
            <a:srgbClr val="38A169">
              <a:alpha val="20000"/>
            </a:srgbClr>
          </a:solidFill>
          <a:ln/>
        </p:spPr>
      </p:sp>
      <p:sp>
        <p:nvSpPr>
          <p:cNvPr id="30" name="Shape 28"/>
          <p:cNvSpPr/>
          <p:nvPr/>
        </p:nvSpPr>
        <p:spPr>
          <a:xfrm>
            <a:off x="384048" y="3840480"/>
            <a:ext cx="64008" cy="274320"/>
          </a:xfrm>
          <a:prstGeom prst="rect">
            <a:avLst/>
          </a:prstGeom>
          <a:solidFill>
            <a:srgbClr val="38A169"/>
          </a:solidFill>
          <a:ln/>
        </p:spPr>
      </p:sp>
      <p:sp>
        <p:nvSpPr>
          <p:cNvPr id="31" name="Text 29"/>
          <p:cNvSpPr/>
          <p:nvPr/>
        </p:nvSpPr>
        <p:spPr>
          <a:xfrm>
            <a:off x="512064" y="3858768"/>
            <a:ext cx="3547872" cy="237744"/>
          </a:xfrm>
          <a:prstGeom prst="rect">
            <a:avLst/>
          </a:prstGeom>
          <a:noFill/>
          <a:ln/>
        </p:spPr>
        <p:txBody>
          <a:bodyPr wrap="square" lIns="0" tIns="0" rIns="0" bIns="0" rtlCol="0" anchor="ctr"/>
          <a:lstStyle/>
          <a:p>
            <a:pPr indent="0" marL="0">
              <a:buNone/>
            </a:pPr>
            <a:r>
              <a:rPr lang="en-US" sz="850" dirty="0">
                <a:solidFill>
                  <a:srgbClr val="021B3A"/>
                </a:solidFill>
                <a:latin typeface="Calibri" pitchFamily="34" charset="0"/>
                <a:ea typeface="Calibri" pitchFamily="34" charset="-122"/>
                <a:cs typeface="Calibri" pitchFamily="34" charset="-120"/>
              </a:rPr>
              <a:t>Thread 7  →  PutDatabase → disponible</a:t>
            </a:r>
            <a:endParaRPr lang="en-US" sz="850" dirty="0"/>
          </a:p>
        </p:txBody>
      </p:sp>
      <p:sp>
        <p:nvSpPr>
          <p:cNvPr id="32" name="Shape 30"/>
          <p:cNvSpPr/>
          <p:nvPr/>
        </p:nvSpPr>
        <p:spPr>
          <a:xfrm>
            <a:off x="384048" y="4160520"/>
            <a:ext cx="3749040" cy="274320"/>
          </a:xfrm>
          <a:prstGeom prst="rect">
            <a:avLst/>
          </a:prstGeom>
          <a:solidFill>
            <a:srgbClr val="38A169">
              <a:alpha val="20000"/>
            </a:srgbClr>
          </a:solidFill>
          <a:ln/>
        </p:spPr>
      </p:sp>
      <p:sp>
        <p:nvSpPr>
          <p:cNvPr id="33" name="Shape 31"/>
          <p:cNvSpPr/>
          <p:nvPr/>
        </p:nvSpPr>
        <p:spPr>
          <a:xfrm>
            <a:off x="384048" y="4160520"/>
            <a:ext cx="64008" cy="274320"/>
          </a:xfrm>
          <a:prstGeom prst="rect">
            <a:avLst/>
          </a:prstGeom>
          <a:solidFill>
            <a:srgbClr val="38A169"/>
          </a:solidFill>
          <a:ln/>
        </p:spPr>
      </p:sp>
      <p:sp>
        <p:nvSpPr>
          <p:cNvPr id="34" name="Text 32"/>
          <p:cNvSpPr/>
          <p:nvPr/>
        </p:nvSpPr>
        <p:spPr>
          <a:xfrm>
            <a:off x="512064" y="4178808"/>
            <a:ext cx="3547872" cy="237744"/>
          </a:xfrm>
          <a:prstGeom prst="rect">
            <a:avLst/>
          </a:prstGeom>
          <a:noFill/>
          <a:ln/>
        </p:spPr>
        <p:txBody>
          <a:bodyPr wrap="square" lIns="0" tIns="0" rIns="0" bIns="0" rtlCol="0" anchor="ctr"/>
          <a:lstStyle/>
          <a:p>
            <a:pPr indent="0" marL="0">
              <a:buNone/>
            </a:pPr>
            <a:r>
              <a:rPr lang="en-US" sz="850" dirty="0">
                <a:solidFill>
                  <a:srgbClr val="021B3A"/>
                </a:solidFill>
                <a:latin typeface="Calibri" pitchFamily="34" charset="0"/>
                <a:ea typeface="Calibri" pitchFamily="34" charset="-122"/>
                <a:cs typeface="Calibri" pitchFamily="34" charset="-120"/>
              </a:rPr>
              <a:t>Thread 8  →  RouteOnAttr → disponible</a:t>
            </a:r>
            <a:endParaRPr lang="en-US" sz="850" dirty="0"/>
          </a:p>
        </p:txBody>
      </p:sp>
      <p:sp>
        <p:nvSpPr>
          <p:cNvPr id="35" name="Shape 33"/>
          <p:cNvSpPr/>
          <p:nvPr/>
        </p:nvSpPr>
        <p:spPr>
          <a:xfrm>
            <a:off x="384048" y="4480560"/>
            <a:ext cx="3749040" cy="274320"/>
          </a:xfrm>
          <a:prstGeom prst="rect">
            <a:avLst/>
          </a:prstGeom>
          <a:solidFill>
            <a:srgbClr val="DD6B20">
              <a:alpha val="20000"/>
            </a:srgbClr>
          </a:solidFill>
          <a:ln/>
        </p:spPr>
      </p:sp>
      <p:sp>
        <p:nvSpPr>
          <p:cNvPr id="36" name="Shape 34"/>
          <p:cNvSpPr/>
          <p:nvPr/>
        </p:nvSpPr>
        <p:spPr>
          <a:xfrm>
            <a:off x="384048" y="4480560"/>
            <a:ext cx="64008" cy="274320"/>
          </a:xfrm>
          <a:prstGeom prst="rect">
            <a:avLst/>
          </a:prstGeom>
          <a:solidFill>
            <a:srgbClr val="DD6B20"/>
          </a:solidFill>
          <a:ln/>
        </p:spPr>
      </p:sp>
      <p:sp>
        <p:nvSpPr>
          <p:cNvPr id="37" name="Text 35"/>
          <p:cNvSpPr/>
          <p:nvPr/>
        </p:nvSpPr>
        <p:spPr>
          <a:xfrm>
            <a:off x="512064" y="4498848"/>
            <a:ext cx="3547872" cy="237744"/>
          </a:xfrm>
          <a:prstGeom prst="rect">
            <a:avLst/>
          </a:prstGeom>
          <a:noFill/>
          <a:ln/>
        </p:spPr>
        <p:txBody>
          <a:bodyPr wrap="square" lIns="0" tIns="0" rIns="0" bIns="0" rtlCol="0" anchor="ctr"/>
          <a:lstStyle/>
          <a:p>
            <a:pPr indent="0" marL="0">
              <a:buNone/>
            </a:pPr>
            <a:r>
              <a:rPr lang="en-US" sz="850" dirty="0">
                <a:solidFill>
                  <a:srgbClr val="021B3A"/>
                </a:solidFill>
                <a:latin typeface="Calibri" pitchFamily="34" charset="0"/>
                <a:ea typeface="Calibri" pitchFamily="34" charset="-122"/>
                <a:cs typeface="Calibri" pitchFamily="34" charset="-120"/>
              </a:rPr>
              <a:t>Thread 9-10  →  ⚠ Réservés — seulement 2 restants</a:t>
            </a:r>
            <a:endParaRPr lang="en-US" sz="850" dirty="0"/>
          </a:p>
        </p:txBody>
      </p:sp>
      <p:sp>
        <p:nvSpPr>
          <p:cNvPr id="38" name="Shape 36"/>
          <p:cNvSpPr/>
          <p:nvPr/>
        </p:nvSpPr>
        <p:spPr>
          <a:xfrm>
            <a:off x="384048" y="4800600"/>
            <a:ext cx="3749040" cy="45720"/>
          </a:xfrm>
          <a:prstGeom prst="rect">
            <a:avLst/>
          </a:prstGeom>
          <a:solidFill>
            <a:srgbClr val="E53E3E"/>
          </a:solidFill>
          <a:ln/>
        </p:spPr>
      </p:sp>
      <p:sp>
        <p:nvSpPr>
          <p:cNvPr id="39" name="Shape 37"/>
          <p:cNvSpPr/>
          <p:nvPr/>
        </p:nvSpPr>
        <p:spPr>
          <a:xfrm>
            <a:off x="4617720" y="1572768"/>
            <a:ext cx="4251960" cy="33375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0" name="Shape 38"/>
          <p:cNvSpPr/>
          <p:nvPr/>
        </p:nvSpPr>
        <p:spPr>
          <a:xfrm>
            <a:off x="4617720" y="1572768"/>
            <a:ext cx="4251960" cy="292608"/>
          </a:xfrm>
          <a:prstGeom prst="rect">
            <a:avLst/>
          </a:prstGeom>
          <a:solidFill>
            <a:srgbClr val="38A169"/>
          </a:solidFill>
          <a:ln/>
        </p:spPr>
      </p:sp>
      <p:sp>
        <p:nvSpPr>
          <p:cNvPr id="41" name="Text 39"/>
          <p:cNvSpPr/>
          <p:nvPr/>
        </p:nvSpPr>
        <p:spPr>
          <a:xfrm>
            <a:off x="4663440" y="1572768"/>
            <a:ext cx="41605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Copie par Pipeline — Contrôle Maîtrisé</a:t>
            </a:r>
            <a:endParaRPr lang="en-US" sz="1100" dirty="0"/>
          </a:p>
        </p:txBody>
      </p:sp>
      <p:sp>
        <p:nvSpPr>
          <p:cNvPr id="42" name="Text 40"/>
          <p:cNvSpPr/>
          <p:nvPr/>
        </p:nvSpPr>
        <p:spPr>
          <a:xfrm>
            <a:off x="4709160" y="1920240"/>
            <a:ext cx="4069080" cy="274320"/>
          </a:xfrm>
          <a:prstGeom prst="rect">
            <a:avLst/>
          </a:prstGeom>
          <a:noFill/>
          <a:ln/>
        </p:spPr>
        <p:txBody>
          <a:bodyPr wrap="square" lIns="0" tIns="0" rIns="0" bIns="0" rtlCol="0" anchor="ctr"/>
          <a:lstStyle/>
          <a:p>
            <a:pPr indent="0" marL="0">
              <a:buNone/>
            </a:pPr>
            <a:r>
              <a:rPr lang="en-US" sz="1000" b="1" dirty="0">
                <a:solidFill>
                  <a:srgbClr val="021B3A"/>
                </a:solidFill>
                <a:latin typeface="Calibri" pitchFamily="34" charset="0"/>
                <a:ea typeface="Calibri" pitchFamily="34" charset="-122"/>
                <a:cs typeface="Calibri" pitchFamily="34" charset="-120"/>
              </a:rPr>
              <a:t>Chaque pipeline a une enveloppe de threads limitée :</a:t>
            </a:r>
            <a:endParaRPr lang="en-US" sz="1000" dirty="0"/>
          </a:p>
        </p:txBody>
      </p:sp>
      <p:sp>
        <p:nvSpPr>
          <p:cNvPr id="43" name="Shape 41"/>
          <p:cNvSpPr/>
          <p:nvPr/>
        </p:nvSpPr>
        <p:spPr>
          <a:xfrm>
            <a:off x="4709160" y="2267712"/>
            <a:ext cx="4069080" cy="41148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44" name="Shape 42"/>
          <p:cNvSpPr/>
          <p:nvPr/>
        </p:nvSpPr>
        <p:spPr>
          <a:xfrm>
            <a:off x="4709160" y="2267712"/>
            <a:ext cx="64008" cy="411480"/>
          </a:xfrm>
          <a:prstGeom prst="rect">
            <a:avLst/>
          </a:prstGeom>
          <a:solidFill>
            <a:srgbClr val="065A82"/>
          </a:solidFill>
          <a:ln/>
        </p:spPr>
      </p:sp>
      <p:sp>
        <p:nvSpPr>
          <p:cNvPr id="45" name="Text 43"/>
          <p:cNvSpPr/>
          <p:nvPr/>
        </p:nvSpPr>
        <p:spPr>
          <a:xfrm>
            <a:off x="4846320" y="2286000"/>
            <a:ext cx="2011680" cy="228600"/>
          </a:xfrm>
          <a:prstGeom prst="rect">
            <a:avLst/>
          </a:prstGeom>
          <a:noFill/>
          <a:ln/>
        </p:spPr>
        <p:txBody>
          <a:bodyPr wrap="square" lIns="0" tIns="0" rIns="0" bIns="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Pipeline A</a:t>
            </a:r>
            <a:endParaRPr lang="en-US" sz="1100" dirty="0"/>
          </a:p>
        </p:txBody>
      </p:sp>
      <p:sp>
        <p:nvSpPr>
          <p:cNvPr id="46" name="Text 44"/>
          <p:cNvSpPr/>
          <p:nvPr/>
        </p:nvSpPr>
        <p:spPr>
          <a:xfrm>
            <a:off x="4846320" y="2514600"/>
            <a:ext cx="384048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2 threads max</a:t>
            </a:r>
            <a:endParaRPr lang="en-US" sz="900" dirty="0"/>
          </a:p>
        </p:txBody>
      </p:sp>
      <p:sp>
        <p:nvSpPr>
          <p:cNvPr id="47" name="Shape 45"/>
          <p:cNvSpPr/>
          <p:nvPr/>
        </p:nvSpPr>
        <p:spPr>
          <a:xfrm>
            <a:off x="4709160" y="2770632"/>
            <a:ext cx="4069080" cy="41148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48" name="Shape 46"/>
          <p:cNvSpPr/>
          <p:nvPr/>
        </p:nvSpPr>
        <p:spPr>
          <a:xfrm>
            <a:off x="4709160" y="2770632"/>
            <a:ext cx="64008" cy="411480"/>
          </a:xfrm>
          <a:prstGeom prst="rect">
            <a:avLst/>
          </a:prstGeom>
          <a:solidFill>
            <a:srgbClr val="028090"/>
          </a:solidFill>
          <a:ln/>
        </p:spPr>
      </p:sp>
      <p:sp>
        <p:nvSpPr>
          <p:cNvPr id="49" name="Text 47"/>
          <p:cNvSpPr/>
          <p:nvPr/>
        </p:nvSpPr>
        <p:spPr>
          <a:xfrm>
            <a:off x="4846320" y="2788920"/>
            <a:ext cx="2011680" cy="228600"/>
          </a:xfrm>
          <a:prstGeom prst="rect">
            <a:avLst/>
          </a:prstGeom>
          <a:noFill/>
          <a:ln/>
        </p:spPr>
        <p:txBody>
          <a:bodyPr wrap="square" lIns="0" tIns="0" rIns="0" bIns="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Pipeline B</a:t>
            </a:r>
            <a:endParaRPr lang="en-US" sz="1100" dirty="0"/>
          </a:p>
        </p:txBody>
      </p:sp>
      <p:sp>
        <p:nvSpPr>
          <p:cNvPr id="50" name="Text 48"/>
          <p:cNvSpPr/>
          <p:nvPr/>
        </p:nvSpPr>
        <p:spPr>
          <a:xfrm>
            <a:off x="4846320" y="3017520"/>
            <a:ext cx="384048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2 threads max</a:t>
            </a:r>
            <a:endParaRPr lang="en-US" sz="900" dirty="0"/>
          </a:p>
        </p:txBody>
      </p:sp>
      <p:sp>
        <p:nvSpPr>
          <p:cNvPr id="51" name="Shape 49"/>
          <p:cNvSpPr/>
          <p:nvPr/>
        </p:nvSpPr>
        <p:spPr>
          <a:xfrm>
            <a:off x="4709160" y="3273552"/>
            <a:ext cx="4069080" cy="41148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52" name="Shape 50"/>
          <p:cNvSpPr/>
          <p:nvPr/>
        </p:nvSpPr>
        <p:spPr>
          <a:xfrm>
            <a:off x="4709160" y="3273552"/>
            <a:ext cx="64008" cy="411480"/>
          </a:xfrm>
          <a:prstGeom prst="rect">
            <a:avLst/>
          </a:prstGeom>
          <a:solidFill>
            <a:srgbClr val="6B46C1"/>
          </a:solidFill>
          <a:ln/>
        </p:spPr>
      </p:sp>
      <p:sp>
        <p:nvSpPr>
          <p:cNvPr id="53" name="Text 51"/>
          <p:cNvSpPr/>
          <p:nvPr/>
        </p:nvSpPr>
        <p:spPr>
          <a:xfrm>
            <a:off x="4846320" y="3291840"/>
            <a:ext cx="2011680" cy="228600"/>
          </a:xfrm>
          <a:prstGeom prst="rect">
            <a:avLst/>
          </a:prstGeom>
          <a:noFill/>
          <a:ln/>
        </p:spPr>
        <p:txBody>
          <a:bodyPr wrap="square" lIns="0" tIns="0" rIns="0" bIns="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Pipeline C</a:t>
            </a:r>
            <a:endParaRPr lang="en-US" sz="1100" dirty="0"/>
          </a:p>
        </p:txBody>
      </p:sp>
      <p:sp>
        <p:nvSpPr>
          <p:cNvPr id="54" name="Text 52"/>
          <p:cNvSpPr/>
          <p:nvPr/>
        </p:nvSpPr>
        <p:spPr>
          <a:xfrm>
            <a:off x="4846320" y="3520440"/>
            <a:ext cx="384048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2 threads max</a:t>
            </a:r>
            <a:endParaRPr lang="en-US" sz="900" dirty="0"/>
          </a:p>
        </p:txBody>
      </p:sp>
      <p:sp>
        <p:nvSpPr>
          <p:cNvPr id="55" name="Shape 53"/>
          <p:cNvSpPr/>
          <p:nvPr/>
        </p:nvSpPr>
        <p:spPr>
          <a:xfrm>
            <a:off x="4709160" y="3776472"/>
            <a:ext cx="4069080" cy="41148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56" name="Shape 54"/>
          <p:cNvSpPr/>
          <p:nvPr/>
        </p:nvSpPr>
        <p:spPr>
          <a:xfrm>
            <a:off x="4709160" y="3776472"/>
            <a:ext cx="64008" cy="411480"/>
          </a:xfrm>
          <a:prstGeom prst="rect">
            <a:avLst/>
          </a:prstGeom>
          <a:solidFill>
            <a:srgbClr val="38A169"/>
          </a:solidFill>
          <a:ln/>
        </p:spPr>
      </p:sp>
      <p:sp>
        <p:nvSpPr>
          <p:cNvPr id="57" name="Text 55"/>
          <p:cNvSpPr/>
          <p:nvPr/>
        </p:nvSpPr>
        <p:spPr>
          <a:xfrm>
            <a:off x="4846320" y="3794760"/>
            <a:ext cx="2011680" cy="228600"/>
          </a:xfrm>
          <a:prstGeom prst="rect">
            <a:avLst/>
          </a:prstGeom>
          <a:noFill/>
          <a:ln/>
        </p:spPr>
        <p:txBody>
          <a:bodyPr wrap="square" lIns="0" tIns="0" rIns="0" bIns="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Reste NiFi</a:t>
            </a:r>
            <a:endParaRPr lang="en-US" sz="1100" dirty="0"/>
          </a:p>
        </p:txBody>
      </p:sp>
      <p:sp>
        <p:nvSpPr>
          <p:cNvPr id="58" name="Text 56"/>
          <p:cNvSpPr/>
          <p:nvPr/>
        </p:nvSpPr>
        <p:spPr>
          <a:xfrm>
            <a:off x="4846320" y="4023360"/>
            <a:ext cx="384048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4 threads disponibles</a:t>
            </a:r>
            <a:endParaRPr lang="en-US" sz="900" dirty="0"/>
          </a:p>
        </p:txBody>
      </p:sp>
      <p:sp>
        <p:nvSpPr>
          <p:cNvPr id="59" name="Text 57"/>
          <p:cNvSpPr/>
          <p:nvPr/>
        </p:nvSpPr>
        <p:spPr>
          <a:xfrm>
            <a:off x="4709160" y="4315968"/>
            <a:ext cx="4069080" cy="320040"/>
          </a:xfrm>
          <a:prstGeom prst="rect">
            <a:avLst/>
          </a:prstGeom>
          <a:noFill/>
          <a:ln/>
        </p:spPr>
        <p:txBody>
          <a:bodyPr wrap="square" lIns="0" tIns="0" rIns="0" bIns="0" rtlCol="0" anchor="ctr"/>
          <a:lstStyle/>
          <a:p>
            <a:pPr indent="0" marL="0">
              <a:buNone/>
            </a:pPr>
            <a:r>
              <a:rPr lang="en-US" sz="1000" i="1" dirty="0">
                <a:solidFill>
                  <a:srgbClr val="38A169"/>
                </a:solidFill>
                <a:latin typeface="Calibri" pitchFamily="34" charset="0"/>
                <a:ea typeface="Calibri" pitchFamily="34" charset="-122"/>
                <a:cs typeface="Calibri" pitchFamily="34" charset="-120"/>
              </a:rPr>
              <a:t>Total = 10 threads — contrôlés, prévisibles, équilibrés ✓</a:t>
            </a:r>
            <a:endParaRPr lang="en-US" sz="1000" dirty="0"/>
          </a:p>
        </p:txBody>
      </p:sp>
      <p:sp>
        <p:nvSpPr>
          <p:cNvPr id="60" name="Shape 58"/>
          <p:cNvSpPr/>
          <p:nvPr/>
        </p:nvSpPr>
        <p:spPr>
          <a:xfrm>
            <a:off x="4709160" y="4681728"/>
            <a:ext cx="4069080" cy="201168"/>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61" name="Shape 59"/>
          <p:cNvSpPr/>
          <p:nvPr/>
        </p:nvSpPr>
        <p:spPr>
          <a:xfrm>
            <a:off x="4709160" y="4681728"/>
            <a:ext cx="64008" cy="201168"/>
          </a:xfrm>
          <a:prstGeom prst="rect">
            <a:avLst/>
          </a:prstGeom>
          <a:solidFill>
            <a:srgbClr val="E53E3E"/>
          </a:solidFill>
          <a:ln/>
        </p:spPr>
      </p:sp>
      <p:sp>
        <p:nvSpPr>
          <p:cNvPr id="62" name="Text 60"/>
          <p:cNvSpPr/>
          <p:nvPr/>
        </p:nvSpPr>
        <p:spPr>
          <a:xfrm>
            <a:off x="4846320" y="4681728"/>
            <a:ext cx="3886200" cy="201168"/>
          </a:xfrm>
          <a:prstGeom prst="rect">
            <a:avLst/>
          </a:prstGeom>
          <a:noFill/>
          <a:ln/>
        </p:spPr>
        <p:txBody>
          <a:bodyPr wrap="square" lIns="50800" tIns="50800" rIns="50800" bIns="508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Pipeline A monopolise ses 2 threads → B et C ont toujours leurs 2 threads garantis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B3A"/>
          </a:solidFill>
          <a:ln/>
        </p:spPr>
      </p:sp>
      <p:sp>
        <p:nvSpPr>
          <p:cNvPr id="3" name="Shape 1"/>
          <p:cNvSpPr/>
          <p:nvPr/>
        </p:nvSpPr>
        <p:spPr>
          <a:xfrm>
            <a:off x="0" y="0"/>
            <a:ext cx="164592" cy="658368"/>
          </a:xfrm>
          <a:prstGeom prst="rect">
            <a:avLst/>
          </a:prstGeom>
          <a:solidFill>
            <a:srgbClr val="38A169"/>
          </a:solidFill>
          <a:ln/>
        </p:spPr>
      </p:sp>
      <p:sp>
        <p:nvSpPr>
          <p:cNvPr id="4" name="Text 2"/>
          <p:cNvSpPr/>
          <p:nvPr/>
        </p:nvSpPr>
        <p:spPr>
          <a:xfrm>
            <a:off x="347472" y="54864"/>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06  |  La Bonne Architecture — Comment Utiliser les PG Communs</a:t>
            </a:r>
            <a:endParaRPr lang="en-US" sz="2200" dirty="0"/>
          </a:p>
        </p:txBody>
      </p:sp>
      <p:sp>
        <p:nvSpPr>
          <p:cNvPr id="5" name="Text 3"/>
          <p:cNvSpPr/>
          <p:nvPr/>
        </p:nvSpPr>
        <p:spPr>
          <a:xfrm>
            <a:off x="274320" y="749808"/>
            <a:ext cx="8595360" cy="320040"/>
          </a:xfrm>
          <a:prstGeom prst="rect">
            <a:avLst/>
          </a:prstGeom>
          <a:noFill/>
          <a:ln/>
        </p:spPr>
        <p:txBody>
          <a:bodyPr wrap="square" lIns="50800" tIns="50800" rIns="50800" bIns="50800" rtlCol="0" anchor="ctr"/>
          <a:lstStyle/>
          <a:p>
            <a:pPr indent="0" marL="0">
              <a:buNone/>
            </a:pPr>
            <a:r>
              <a:rPr lang="en-US" sz="1200" b="1" dirty="0">
                <a:solidFill>
                  <a:srgbClr val="021B3A"/>
                </a:solidFill>
                <a:latin typeface="Calibri" pitchFamily="34" charset="0"/>
                <a:ea typeface="Calibri" pitchFamily="34" charset="-122"/>
                <a:cs typeface="Calibri" pitchFamily="34" charset="-120"/>
              </a:rPr>
              <a:t>La question clé : comment profiter des PG communs SANS les partager entre pipelines ?</a:t>
            </a:r>
            <a:endParaRPr lang="en-US" sz="1200" dirty="0"/>
          </a:p>
        </p:txBody>
      </p:sp>
      <p:sp>
        <p:nvSpPr>
          <p:cNvPr id="6" name="Shape 4"/>
          <p:cNvSpPr/>
          <p:nvPr/>
        </p:nvSpPr>
        <p:spPr>
          <a:xfrm>
            <a:off x="274320" y="1143000"/>
            <a:ext cx="3977640" cy="3730752"/>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7" name="Shape 5"/>
          <p:cNvSpPr/>
          <p:nvPr/>
        </p:nvSpPr>
        <p:spPr>
          <a:xfrm>
            <a:off x="274320" y="1143000"/>
            <a:ext cx="3977640" cy="292608"/>
          </a:xfrm>
          <a:prstGeom prst="rect">
            <a:avLst/>
          </a:prstGeom>
          <a:solidFill>
            <a:srgbClr val="38A169"/>
          </a:solidFill>
          <a:ln/>
        </p:spPr>
      </p:sp>
      <p:sp>
        <p:nvSpPr>
          <p:cNvPr id="8" name="Text 6"/>
          <p:cNvSpPr/>
          <p:nvPr/>
        </p:nvSpPr>
        <p:spPr>
          <a:xfrm>
            <a:off x="320040" y="1143000"/>
            <a:ext cx="38862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Option 1 — Copie du PG dans chaque Pipeline</a:t>
            </a:r>
            <a:endParaRPr lang="en-US" sz="1100" dirty="0"/>
          </a:p>
        </p:txBody>
      </p:sp>
      <p:sp>
        <p:nvSpPr>
          <p:cNvPr id="9" name="Shape 7"/>
          <p:cNvSpPr/>
          <p:nvPr/>
        </p:nvSpPr>
        <p:spPr>
          <a:xfrm>
            <a:off x="411480" y="1536192"/>
            <a:ext cx="3749040" cy="91440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10" name="Shape 8"/>
          <p:cNvSpPr/>
          <p:nvPr/>
        </p:nvSpPr>
        <p:spPr>
          <a:xfrm>
            <a:off x="411480" y="1536192"/>
            <a:ext cx="64008" cy="914400"/>
          </a:xfrm>
          <a:prstGeom prst="rect">
            <a:avLst/>
          </a:prstGeom>
          <a:solidFill>
            <a:srgbClr val="065A82"/>
          </a:solidFill>
          <a:ln/>
        </p:spPr>
      </p:sp>
      <p:sp>
        <p:nvSpPr>
          <p:cNvPr id="11" name="Text 9"/>
          <p:cNvSpPr/>
          <p:nvPr/>
        </p:nvSpPr>
        <p:spPr>
          <a:xfrm>
            <a:off x="548640" y="1581912"/>
            <a:ext cx="3474720" cy="256032"/>
          </a:xfrm>
          <a:prstGeom prst="rect">
            <a:avLst/>
          </a:prstGeom>
          <a:noFill/>
          <a:ln/>
        </p:spPr>
        <p:txBody>
          <a:bodyPr wrap="square" lIns="0" tIns="0" rIns="0" bIns="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Pipeline A</a:t>
            </a:r>
            <a:endParaRPr lang="en-US" sz="1100" dirty="0"/>
          </a:p>
        </p:txBody>
      </p:sp>
      <p:sp>
        <p:nvSpPr>
          <p:cNvPr id="12" name="Text 10"/>
          <p:cNvSpPr/>
          <p:nvPr/>
        </p:nvSpPr>
        <p:spPr>
          <a:xfrm>
            <a:off x="548640" y="1856232"/>
            <a:ext cx="155448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GetFile / ListenHTTP</a:t>
            </a:r>
            <a:endParaRPr lang="en-US" sz="800" dirty="0"/>
          </a:p>
        </p:txBody>
      </p:sp>
      <p:sp>
        <p:nvSpPr>
          <p:cNvPr id="13" name="Shape 11"/>
          <p:cNvSpPr/>
          <p:nvPr/>
        </p:nvSpPr>
        <p:spPr>
          <a:xfrm>
            <a:off x="2148840" y="1792224"/>
            <a:ext cx="1920240" cy="475488"/>
          </a:xfrm>
          <a:prstGeom prst="rect">
            <a:avLst/>
          </a:prstGeom>
          <a:solidFill>
            <a:srgbClr val="065A82">
              <a:alpha val="25000"/>
            </a:srgbClr>
          </a:solidFill>
          <a:ln/>
        </p:spPr>
      </p:sp>
      <p:sp>
        <p:nvSpPr>
          <p:cNvPr id="14" name="Text 12"/>
          <p:cNvSpPr/>
          <p:nvPr/>
        </p:nvSpPr>
        <p:spPr>
          <a:xfrm>
            <a:off x="2167128" y="1810512"/>
            <a:ext cx="1883664" cy="438912"/>
          </a:xfrm>
          <a:prstGeom prst="rect">
            <a:avLst/>
          </a:prstGeom>
          <a:noFill/>
          <a:ln/>
        </p:spPr>
        <p:txBody>
          <a:bodyPr wrap="square" lIns="25400" tIns="25400" rIns="25400" bIns="254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[Copie PG Enrichissement]</a:t>
            </a:r>
            <a:endParaRPr lang="en-US" sz="800" dirty="0"/>
          </a:p>
          <a:p>
            <a:pPr indent="0" marL="0">
              <a:buNone/>
            </a:pPr>
            <a:r>
              <a:rPr lang="en-US" sz="800" dirty="0">
                <a:solidFill>
                  <a:srgbClr val="021B3A"/>
                </a:solidFill>
                <a:latin typeface="Calibri" pitchFamily="34" charset="0"/>
                <a:ea typeface="Calibri" pitchFamily="34" charset="-122"/>
                <a:cs typeface="Calibri" pitchFamily="34" charset="-120"/>
              </a:rPr>
              <a:t>[Copie PG Gestion Erreurs]</a:t>
            </a:r>
            <a:endParaRPr lang="en-US" sz="800" dirty="0"/>
          </a:p>
        </p:txBody>
      </p:sp>
      <p:sp>
        <p:nvSpPr>
          <p:cNvPr id="15" name="Shape 13"/>
          <p:cNvSpPr/>
          <p:nvPr/>
        </p:nvSpPr>
        <p:spPr>
          <a:xfrm>
            <a:off x="411480" y="2578608"/>
            <a:ext cx="3749040" cy="91440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16" name="Shape 14"/>
          <p:cNvSpPr/>
          <p:nvPr/>
        </p:nvSpPr>
        <p:spPr>
          <a:xfrm>
            <a:off x="411480" y="2578608"/>
            <a:ext cx="64008" cy="914400"/>
          </a:xfrm>
          <a:prstGeom prst="rect">
            <a:avLst/>
          </a:prstGeom>
          <a:solidFill>
            <a:srgbClr val="028090"/>
          </a:solidFill>
          <a:ln/>
        </p:spPr>
      </p:sp>
      <p:sp>
        <p:nvSpPr>
          <p:cNvPr id="17" name="Text 15"/>
          <p:cNvSpPr/>
          <p:nvPr/>
        </p:nvSpPr>
        <p:spPr>
          <a:xfrm>
            <a:off x="548640" y="2624328"/>
            <a:ext cx="3474720" cy="256032"/>
          </a:xfrm>
          <a:prstGeom prst="rect">
            <a:avLst/>
          </a:prstGeom>
          <a:noFill/>
          <a:ln/>
        </p:spPr>
        <p:txBody>
          <a:bodyPr wrap="square" lIns="0" tIns="0" rIns="0" bIns="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Pipeline B</a:t>
            </a:r>
            <a:endParaRPr lang="en-US" sz="1100" dirty="0"/>
          </a:p>
        </p:txBody>
      </p:sp>
      <p:sp>
        <p:nvSpPr>
          <p:cNvPr id="18" name="Text 16"/>
          <p:cNvSpPr/>
          <p:nvPr/>
        </p:nvSpPr>
        <p:spPr>
          <a:xfrm>
            <a:off x="548640" y="2898648"/>
            <a:ext cx="155448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GetFile / ListenHTTP</a:t>
            </a:r>
            <a:endParaRPr lang="en-US" sz="800" dirty="0"/>
          </a:p>
        </p:txBody>
      </p:sp>
      <p:sp>
        <p:nvSpPr>
          <p:cNvPr id="19" name="Shape 17"/>
          <p:cNvSpPr/>
          <p:nvPr/>
        </p:nvSpPr>
        <p:spPr>
          <a:xfrm>
            <a:off x="2148840" y="2834640"/>
            <a:ext cx="1920240" cy="475488"/>
          </a:xfrm>
          <a:prstGeom prst="rect">
            <a:avLst/>
          </a:prstGeom>
          <a:solidFill>
            <a:srgbClr val="028090">
              <a:alpha val="25000"/>
            </a:srgbClr>
          </a:solidFill>
          <a:ln/>
        </p:spPr>
      </p:sp>
      <p:sp>
        <p:nvSpPr>
          <p:cNvPr id="20" name="Text 18"/>
          <p:cNvSpPr/>
          <p:nvPr/>
        </p:nvSpPr>
        <p:spPr>
          <a:xfrm>
            <a:off x="2167128" y="2852928"/>
            <a:ext cx="1883664" cy="438912"/>
          </a:xfrm>
          <a:prstGeom prst="rect">
            <a:avLst/>
          </a:prstGeom>
          <a:noFill/>
          <a:ln/>
        </p:spPr>
        <p:txBody>
          <a:bodyPr wrap="square" lIns="25400" tIns="25400" rIns="25400" bIns="254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[Copie PG Enrichissement]</a:t>
            </a:r>
            <a:endParaRPr lang="en-US" sz="800" dirty="0"/>
          </a:p>
          <a:p>
            <a:pPr indent="0" marL="0">
              <a:buNone/>
            </a:pPr>
            <a:r>
              <a:rPr lang="en-US" sz="800" dirty="0">
                <a:solidFill>
                  <a:srgbClr val="021B3A"/>
                </a:solidFill>
                <a:latin typeface="Calibri" pitchFamily="34" charset="0"/>
                <a:ea typeface="Calibri" pitchFamily="34" charset="-122"/>
                <a:cs typeface="Calibri" pitchFamily="34" charset="-120"/>
              </a:rPr>
              <a:t>[Copie PG Gestion Erreurs]</a:t>
            </a:r>
            <a:endParaRPr lang="en-US" sz="800" dirty="0"/>
          </a:p>
        </p:txBody>
      </p:sp>
      <p:sp>
        <p:nvSpPr>
          <p:cNvPr id="21" name="Text 19"/>
          <p:cNvSpPr/>
          <p:nvPr/>
        </p:nvSpPr>
        <p:spPr>
          <a:xfrm>
            <a:off x="411480" y="3584448"/>
            <a:ext cx="3749040" cy="914400"/>
          </a:xfrm>
          <a:prstGeom prst="rect">
            <a:avLst/>
          </a:prstGeom>
          <a:noFill/>
          <a:ln/>
        </p:spPr>
        <p:txBody>
          <a:bodyPr wrap="square" lIns="50800" tIns="50800" rIns="50800" bIns="50800" rtlCol="0" anchor="ctr"/>
          <a:lstStyle/>
          <a:p>
            <a:pPr indent="0" marL="0">
              <a:buNone/>
            </a:pPr>
            <a:r>
              <a:rPr lang="en-US" sz="1000" dirty="0">
                <a:solidFill>
                  <a:srgbClr val="38A169"/>
                </a:solidFill>
                <a:latin typeface="Calibri" pitchFamily="34" charset="0"/>
                <a:ea typeface="Calibri" pitchFamily="34" charset="-122"/>
                <a:cs typeface="Calibri" pitchFamily="34" charset="-120"/>
              </a:rPr>
              <a:t>FlowFiles restent 100% locaux</a:t>
            </a:r>
            <a:endParaRPr lang="en-US" sz="1000" dirty="0"/>
          </a:p>
          <a:p>
            <a:pPr indent="0" marL="0">
              <a:buNone/>
            </a:pPr>
            <a:r>
              <a:rPr lang="en-US" sz="1000" dirty="0">
                <a:solidFill>
                  <a:srgbClr val="38A169"/>
                </a:solidFill>
                <a:latin typeface="Calibri" pitchFamily="34" charset="0"/>
                <a:ea typeface="Calibri" pitchFamily="34" charset="-122"/>
                <a:cs typeface="Calibri" pitchFamily="34" charset="-120"/>
              </a:rPr>
              <a:t>Threads isolés par pipeline</a:t>
            </a:r>
            <a:endParaRPr lang="en-US" sz="1000" dirty="0"/>
          </a:p>
          <a:p>
            <a:pPr indent="0" marL="0">
              <a:buNone/>
            </a:pPr>
            <a:r>
              <a:rPr lang="en-US" sz="1000" dirty="0">
                <a:solidFill>
                  <a:srgbClr val="38A169"/>
                </a:solidFill>
                <a:latin typeface="Calibri" pitchFamily="34" charset="0"/>
                <a:ea typeface="Calibri" pitchFamily="34" charset="-122"/>
                <a:cs typeface="Calibri" pitchFamily="34" charset="-120"/>
              </a:rPr>
              <a:t>Déploiement indépendant</a:t>
            </a:r>
            <a:endParaRPr lang="en-US" sz="1000" dirty="0"/>
          </a:p>
          <a:p>
            <a:pPr indent="0" marL="0">
              <a:buNone/>
            </a:pPr>
            <a:r>
              <a:rPr lang="en-US" sz="1000" dirty="0">
                <a:solidFill>
                  <a:srgbClr val="38A169"/>
                </a:solidFill>
                <a:latin typeface="Calibri" pitchFamily="34" charset="0"/>
                <a:ea typeface="Calibri" pitchFamily="34" charset="-122"/>
                <a:cs typeface="Calibri" pitchFamily="34" charset="-120"/>
              </a:rPr>
              <a:t>Versionnement via NiFi Registry</a:t>
            </a:r>
            <a:endParaRPr lang="en-US" sz="1000" dirty="0"/>
          </a:p>
        </p:txBody>
      </p:sp>
      <p:sp>
        <p:nvSpPr>
          <p:cNvPr id="22" name="Shape 20"/>
          <p:cNvSpPr/>
          <p:nvPr/>
        </p:nvSpPr>
        <p:spPr>
          <a:xfrm>
            <a:off x="4617720" y="1143000"/>
            <a:ext cx="4251960" cy="3730752"/>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3" name="Shape 21"/>
          <p:cNvSpPr/>
          <p:nvPr/>
        </p:nvSpPr>
        <p:spPr>
          <a:xfrm>
            <a:off x="4617720" y="1143000"/>
            <a:ext cx="4251960" cy="292608"/>
          </a:xfrm>
          <a:prstGeom prst="rect">
            <a:avLst/>
          </a:prstGeom>
          <a:solidFill>
            <a:srgbClr val="028090"/>
          </a:solidFill>
          <a:ln/>
        </p:spPr>
      </p:sp>
      <p:sp>
        <p:nvSpPr>
          <p:cNvPr id="24" name="Text 22"/>
          <p:cNvSpPr/>
          <p:nvPr/>
        </p:nvSpPr>
        <p:spPr>
          <a:xfrm>
            <a:off x="4663440" y="1143000"/>
            <a:ext cx="41605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Option 2 — Processeurs aplatis directement</a:t>
            </a:r>
            <a:endParaRPr lang="en-US" sz="1100" dirty="0"/>
          </a:p>
        </p:txBody>
      </p:sp>
      <p:sp>
        <p:nvSpPr>
          <p:cNvPr id="25" name="Text 23"/>
          <p:cNvSpPr/>
          <p:nvPr/>
        </p:nvSpPr>
        <p:spPr>
          <a:xfrm>
            <a:off x="4709160" y="1490472"/>
            <a:ext cx="4069080" cy="475488"/>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Si le PG commun est simple (1-3 processeurs), pas besoin de sous-groupe — mettre les processeurs directement dans le pipeline :</a:t>
            </a:r>
            <a:endParaRPr lang="en-US" sz="1000" dirty="0"/>
          </a:p>
        </p:txBody>
      </p:sp>
      <p:sp>
        <p:nvSpPr>
          <p:cNvPr id="26" name="Shape 24"/>
          <p:cNvSpPr/>
          <p:nvPr/>
        </p:nvSpPr>
        <p:spPr>
          <a:xfrm>
            <a:off x="4754880" y="2057400"/>
            <a:ext cx="3977640" cy="32004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27" name="Shape 25"/>
          <p:cNvSpPr/>
          <p:nvPr/>
        </p:nvSpPr>
        <p:spPr>
          <a:xfrm>
            <a:off x="4754880" y="2057400"/>
            <a:ext cx="64008" cy="320040"/>
          </a:xfrm>
          <a:prstGeom prst="rect">
            <a:avLst/>
          </a:prstGeom>
          <a:solidFill>
            <a:srgbClr val="028090"/>
          </a:solidFill>
          <a:ln/>
        </p:spPr>
      </p:sp>
      <p:sp>
        <p:nvSpPr>
          <p:cNvPr id="28" name="Text 26"/>
          <p:cNvSpPr/>
          <p:nvPr/>
        </p:nvSpPr>
        <p:spPr>
          <a:xfrm>
            <a:off x="4892040" y="2075688"/>
            <a:ext cx="3794760" cy="283464"/>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GetFile</a:t>
            </a:r>
            <a:endParaRPr lang="en-US" sz="1000" dirty="0"/>
          </a:p>
        </p:txBody>
      </p:sp>
      <p:sp>
        <p:nvSpPr>
          <p:cNvPr id="29" name="Shape 27"/>
          <p:cNvSpPr/>
          <p:nvPr/>
        </p:nvSpPr>
        <p:spPr>
          <a:xfrm>
            <a:off x="4754880" y="2441448"/>
            <a:ext cx="3977640" cy="32004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30" name="Shape 28"/>
          <p:cNvSpPr/>
          <p:nvPr/>
        </p:nvSpPr>
        <p:spPr>
          <a:xfrm>
            <a:off x="4754880" y="2441448"/>
            <a:ext cx="64008" cy="320040"/>
          </a:xfrm>
          <a:prstGeom prst="rect">
            <a:avLst/>
          </a:prstGeom>
          <a:solidFill>
            <a:srgbClr val="028090"/>
          </a:solidFill>
          <a:ln/>
        </p:spPr>
      </p:sp>
      <p:sp>
        <p:nvSpPr>
          <p:cNvPr id="31" name="Text 29"/>
          <p:cNvSpPr/>
          <p:nvPr/>
        </p:nvSpPr>
        <p:spPr>
          <a:xfrm>
            <a:off x="4892040" y="2459736"/>
            <a:ext cx="3794760" cy="283464"/>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InvokeHTTP (enrichissement)</a:t>
            </a:r>
            <a:endParaRPr lang="en-US" sz="1000" dirty="0"/>
          </a:p>
        </p:txBody>
      </p:sp>
      <p:sp>
        <p:nvSpPr>
          <p:cNvPr id="32" name="Shape 30"/>
          <p:cNvSpPr/>
          <p:nvPr/>
        </p:nvSpPr>
        <p:spPr>
          <a:xfrm>
            <a:off x="4754880" y="2825496"/>
            <a:ext cx="3977640" cy="32004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33" name="Shape 31"/>
          <p:cNvSpPr/>
          <p:nvPr/>
        </p:nvSpPr>
        <p:spPr>
          <a:xfrm>
            <a:off x="4754880" y="2825496"/>
            <a:ext cx="64008" cy="320040"/>
          </a:xfrm>
          <a:prstGeom prst="rect">
            <a:avLst/>
          </a:prstGeom>
          <a:solidFill>
            <a:srgbClr val="028090"/>
          </a:solidFill>
          <a:ln/>
        </p:spPr>
      </p:sp>
      <p:sp>
        <p:nvSpPr>
          <p:cNvPr id="34" name="Text 32"/>
          <p:cNvSpPr/>
          <p:nvPr/>
        </p:nvSpPr>
        <p:spPr>
          <a:xfrm>
            <a:off x="4892040" y="2843784"/>
            <a:ext cx="3794760" cy="283464"/>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RouteOnAttribute (validation)</a:t>
            </a:r>
            <a:endParaRPr lang="en-US" sz="1000" dirty="0"/>
          </a:p>
        </p:txBody>
      </p:sp>
      <p:sp>
        <p:nvSpPr>
          <p:cNvPr id="35" name="Shape 33"/>
          <p:cNvSpPr/>
          <p:nvPr/>
        </p:nvSpPr>
        <p:spPr>
          <a:xfrm>
            <a:off x="4754880" y="3209544"/>
            <a:ext cx="3977640" cy="32004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36" name="Shape 34"/>
          <p:cNvSpPr/>
          <p:nvPr/>
        </p:nvSpPr>
        <p:spPr>
          <a:xfrm>
            <a:off x="4754880" y="3209544"/>
            <a:ext cx="64008" cy="320040"/>
          </a:xfrm>
          <a:prstGeom prst="rect">
            <a:avLst/>
          </a:prstGeom>
          <a:solidFill>
            <a:srgbClr val="028090"/>
          </a:solidFill>
          <a:ln/>
        </p:spPr>
      </p:sp>
      <p:sp>
        <p:nvSpPr>
          <p:cNvPr id="37" name="Text 35"/>
          <p:cNvSpPr/>
          <p:nvPr/>
        </p:nvSpPr>
        <p:spPr>
          <a:xfrm>
            <a:off x="4892040" y="3227832"/>
            <a:ext cx="3794760" cy="283464"/>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UpdateAttribute (logging)</a:t>
            </a:r>
            <a:endParaRPr lang="en-US" sz="1000" dirty="0"/>
          </a:p>
        </p:txBody>
      </p:sp>
      <p:sp>
        <p:nvSpPr>
          <p:cNvPr id="38" name="Shape 36"/>
          <p:cNvSpPr/>
          <p:nvPr/>
        </p:nvSpPr>
        <p:spPr>
          <a:xfrm>
            <a:off x="4754880" y="3593592"/>
            <a:ext cx="3977640" cy="32004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39" name="Shape 37"/>
          <p:cNvSpPr/>
          <p:nvPr/>
        </p:nvSpPr>
        <p:spPr>
          <a:xfrm>
            <a:off x="4754880" y="3593592"/>
            <a:ext cx="64008" cy="320040"/>
          </a:xfrm>
          <a:prstGeom prst="rect">
            <a:avLst/>
          </a:prstGeom>
          <a:solidFill>
            <a:srgbClr val="028090"/>
          </a:solidFill>
          <a:ln/>
        </p:spPr>
      </p:sp>
      <p:sp>
        <p:nvSpPr>
          <p:cNvPr id="40" name="Text 38"/>
          <p:cNvSpPr/>
          <p:nvPr/>
        </p:nvSpPr>
        <p:spPr>
          <a:xfrm>
            <a:off x="4892040" y="3611880"/>
            <a:ext cx="3794760" cy="283464"/>
          </a:xfrm>
          <a:prstGeom prst="rect">
            <a:avLst/>
          </a:prstGeom>
          <a:noFill/>
          <a:ln/>
        </p:spPr>
        <p:txBody>
          <a:bodyPr wrap="square" lIns="0" tIns="0" rIns="0" bIns="0" rtlCol="0" anchor="ctr"/>
          <a:lstStyle/>
          <a:p>
            <a:pPr indent="0" marL="0">
              <a:buNone/>
            </a:pPr>
            <a:r>
              <a:rPr lang="en-US" sz="1000" dirty="0">
                <a:solidFill>
                  <a:srgbClr val="021B3A"/>
                </a:solidFill>
                <a:latin typeface="Calibri" pitchFamily="34" charset="0"/>
                <a:ea typeface="Calibri" pitchFamily="34" charset="-122"/>
                <a:cs typeface="Calibri" pitchFamily="34" charset="-120"/>
              </a:rPr>
              <a:t>PutDatabase</a:t>
            </a:r>
            <a:endParaRPr lang="en-US" sz="1000" dirty="0"/>
          </a:p>
        </p:txBody>
      </p:sp>
      <p:sp>
        <p:nvSpPr>
          <p:cNvPr id="41" name="Text 39"/>
          <p:cNvSpPr/>
          <p:nvPr/>
        </p:nvSpPr>
        <p:spPr>
          <a:xfrm>
            <a:off x="4709160" y="4023360"/>
            <a:ext cx="4069080" cy="804672"/>
          </a:xfrm>
          <a:prstGeom prst="rect">
            <a:avLst/>
          </a:prstGeom>
          <a:noFill/>
          <a:ln/>
        </p:spPr>
        <p:txBody>
          <a:bodyPr wrap="square" lIns="50800" tIns="50800" rIns="50800" bIns="5080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Quand utiliser :</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PG commun très simple (1-3 processeurs)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Pas besoin de versionner séparément</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Meilleure lisibilité sans sous-groupe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B3A"/>
          </a:solidFill>
          <a:ln/>
        </p:spPr>
      </p:sp>
      <p:sp>
        <p:nvSpPr>
          <p:cNvPr id="3" name="Shape 1"/>
          <p:cNvSpPr/>
          <p:nvPr/>
        </p:nvSpPr>
        <p:spPr>
          <a:xfrm>
            <a:off x="0" y="0"/>
            <a:ext cx="164592" cy="658368"/>
          </a:xfrm>
          <a:prstGeom prst="rect">
            <a:avLst/>
          </a:prstGeom>
          <a:solidFill>
            <a:srgbClr val="38A169"/>
          </a:solidFill>
          <a:ln/>
        </p:spPr>
      </p:sp>
      <p:sp>
        <p:nvSpPr>
          <p:cNvPr id="4" name="Text 2"/>
          <p:cNvSpPr/>
          <p:nvPr/>
        </p:nvSpPr>
        <p:spPr>
          <a:xfrm>
            <a:off x="347472" y="54864"/>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06  |  Le Principe Fondamental de l'Isolation</a:t>
            </a:r>
            <a:endParaRPr lang="en-US" sz="2200" dirty="0"/>
          </a:p>
        </p:txBody>
      </p:sp>
      <p:sp>
        <p:nvSpPr>
          <p:cNvPr id="5" name="Shape 3"/>
          <p:cNvSpPr/>
          <p:nvPr/>
        </p:nvSpPr>
        <p:spPr>
          <a:xfrm>
            <a:off x="274320" y="749808"/>
            <a:ext cx="8595360" cy="1024128"/>
          </a:xfrm>
          <a:prstGeom prst="rect">
            <a:avLst/>
          </a:prstGeom>
          <a:solidFill>
            <a:srgbClr val="021B3A"/>
          </a:solidFill>
          <a:ln/>
          <a:effectLst>
            <a:outerShdw sx="100000" sy="100000" kx="0" ky="0" algn="bl" rotWithShape="0" blurRad="101600" dist="38100" dir="8100000">
              <a:srgbClr val="000000">
                <a:alpha val="10000"/>
              </a:srgbClr>
            </a:outerShdw>
          </a:effectLst>
        </p:spPr>
      </p:sp>
      <p:sp>
        <p:nvSpPr>
          <p:cNvPr id="6" name="Shape 4"/>
          <p:cNvSpPr/>
          <p:nvPr/>
        </p:nvSpPr>
        <p:spPr>
          <a:xfrm>
            <a:off x="274320" y="749808"/>
            <a:ext cx="64008" cy="1024128"/>
          </a:xfrm>
          <a:prstGeom prst="rect">
            <a:avLst/>
          </a:prstGeom>
          <a:solidFill>
            <a:srgbClr val="02C39A"/>
          </a:solidFill>
          <a:ln/>
        </p:spPr>
      </p:sp>
      <p:sp>
        <p:nvSpPr>
          <p:cNvPr id="7" name="Shape 5"/>
          <p:cNvSpPr/>
          <p:nvPr/>
        </p:nvSpPr>
        <p:spPr>
          <a:xfrm>
            <a:off x="411480" y="859536"/>
            <a:ext cx="502920" cy="502920"/>
          </a:xfrm>
          <a:prstGeom prst="ellipse">
            <a:avLst/>
          </a:prstGeom>
          <a:solidFill>
            <a:srgbClr val="02C39A"/>
          </a:solidFill>
          <a:ln/>
        </p:spPr>
      </p:sp>
      <p:sp>
        <p:nvSpPr>
          <p:cNvPr id="8" name="Text 6"/>
          <p:cNvSpPr/>
          <p:nvPr/>
        </p:nvSpPr>
        <p:spPr>
          <a:xfrm>
            <a:off x="411480" y="859536"/>
            <a:ext cx="502920" cy="502920"/>
          </a:xfrm>
          <a:prstGeom prst="rect">
            <a:avLst/>
          </a:prstGeom>
          <a:noFill/>
          <a:ln/>
        </p:spPr>
        <p:txBody>
          <a:bodyPr wrap="square" lIns="0" tIns="0" rIns="0" bIns="0" rtlCol="0" anchor="ctr"/>
          <a:lstStyle/>
          <a:p>
            <a:pPr algn="ctr" indent="0" marL="0">
              <a:buNone/>
            </a:pPr>
            <a:r>
              <a:rPr lang="en-US" sz="2000" b="1" dirty="0">
                <a:solidFill>
                  <a:srgbClr val="021B3A"/>
                </a:solidFill>
                <a:latin typeface="Calibri" pitchFamily="34" charset="0"/>
                <a:ea typeface="Calibri" pitchFamily="34" charset="-122"/>
                <a:cs typeface="Calibri" pitchFamily="34" charset="-120"/>
              </a:rPr>
              <a:t>★</a:t>
            </a:r>
            <a:endParaRPr lang="en-US" sz="2000" dirty="0"/>
          </a:p>
        </p:txBody>
      </p:sp>
      <p:sp>
        <p:nvSpPr>
          <p:cNvPr id="9" name="Text 7"/>
          <p:cNvSpPr/>
          <p:nvPr/>
        </p:nvSpPr>
        <p:spPr>
          <a:xfrm>
            <a:off x="1005840" y="804672"/>
            <a:ext cx="7680960" cy="292608"/>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Principe Fondamental</a:t>
            </a:r>
            <a:endParaRPr lang="en-US" sz="1400" dirty="0"/>
          </a:p>
        </p:txBody>
      </p:sp>
      <p:sp>
        <p:nvSpPr>
          <p:cNvPr id="10" name="Text 8"/>
          <p:cNvSpPr/>
          <p:nvPr/>
        </p:nvSpPr>
        <p:spPr>
          <a:xfrm>
            <a:off x="1005840" y="1115568"/>
            <a:ext cx="7680960" cy="54864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Un FlowFile ne doit jamais sortir de son pipeline pour aller dans un composant partagé avec d'autres pipelines.</a:t>
            </a:r>
            <a:endParaRPr lang="en-US" sz="1300" dirty="0"/>
          </a:p>
        </p:txBody>
      </p:sp>
      <p:sp>
        <p:nvSpPr>
          <p:cNvPr id="11" name="Shape 9"/>
          <p:cNvSpPr/>
          <p:nvPr/>
        </p:nvSpPr>
        <p:spPr>
          <a:xfrm>
            <a:off x="274320" y="1874520"/>
            <a:ext cx="3977640" cy="29260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2" name="Shape 10"/>
          <p:cNvSpPr/>
          <p:nvPr/>
        </p:nvSpPr>
        <p:spPr>
          <a:xfrm>
            <a:off x="274320" y="1874520"/>
            <a:ext cx="3977640" cy="292608"/>
          </a:xfrm>
          <a:prstGeom prst="rect">
            <a:avLst/>
          </a:prstGeom>
          <a:solidFill>
            <a:srgbClr val="E53E3E"/>
          </a:solidFill>
          <a:ln/>
        </p:spPr>
      </p:sp>
      <p:sp>
        <p:nvSpPr>
          <p:cNvPr id="13" name="Text 11"/>
          <p:cNvSpPr/>
          <p:nvPr/>
        </p:nvSpPr>
        <p:spPr>
          <a:xfrm>
            <a:off x="320040" y="1874520"/>
            <a:ext cx="38862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Ne jamais faire — PG posé sur le canvas</a:t>
            </a:r>
            <a:endParaRPr lang="en-US" sz="1100" dirty="0"/>
          </a:p>
        </p:txBody>
      </p:sp>
      <p:sp>
        <p:nvSpPr>
          <p:cNvPr id="14" name="Shape 12"/>
          <p:cNvSpPr/>
          <p:nvPr/>
        </p:nvSpPr>
        <p:spPr>
          <a:xfrm>
            <a:off x="1097280" y="2267712"/>
            <a:ext cx="2011680" cy="411480"/>
          </a:xfrm>
          <a:prstGeom prst="rect">
            <a:avLst/>
          </a:prstGeom>
          <a:solidFill>
            <a:srgbClr val="E53E3E">
              <a:alpha val="70000"/>
            </a:srgbClr>
          </a:solidFill>
          <a:ln/>
          <a:effectLst>
            <a:outerShdw sx="100000" sy="100000" kx="0" ky="0" algn="bl" rotWithShape="0" blurRad="101600" dist="38100" dir="8100000">
              <a:srgbClr val="000000">
                <a:alpha val="10000"/>
              </a:srgbClr>
            </a:outerShdw>
          </a:effectLst>
        </p:spPr>
      </p:sp>
      <p:sp>
        <p:nvSpPr>
          <p:cNvPr id="15" name="Text 13"/>
          <p:cNvSpPr/>
          <p:nvPr/>
        </p:nvSpPr>
        <p:spPr>
          <a:xfrm>
            <a:off x="1097280" y="2267712"/>
            <a:ext cx="201168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PG Commun partagé</a:t>
            </a:r>
            <a:endParaRPr lang="en-US" sz="900" dirty="0"/>
          </a:p>
        </p:txBody>
      </p:sp>
      <p:sp>
        <p:nvSpPr>
          <p:cNvPr id="16" name="Shape 14"/>
          <p:cNvSpPr/>
          <p:nvPr/>
        </p:nvSpPr>
        <p:spPr>
          <a:xfrm>
            <a:off x="411480" y="2606040"/>
            <a:ext cx="914400" cy="274320"/>
          </a:xfrm>
          <a:prstGeom prst="rect">
            <a:avLst/>
          </a:prstGeom>
          <a:solidFill>
            <a:srgbClr val="065A82"/>
          </a:solidFill>
          <a:ln/>
          <a:effectLst>
            <a:outerShdw sx="100000" sy="100000" kx="0" ky="0" algn="bl" rotWithShape="0" blurRad="101600" dist="38100" dir="8100000">
              <a:srgbClr val="000000">
                <a:alpha val="10000"/>
              </a:srgbClr>
            </a:outerShdw>
          </a:effectLst>
        </p:spPr>
      </p:sp>
      <p:sp>
        <p:nvSpPr>
          <p:cNvPr id="17" name="Text 15"/>
          <p:cNvSpPr/>
          <p:nvPr/>
        </p:nvSpPr>
        <p:spPr>
          <a:xfrm>
            <a:off x="411480" y="2606040"/>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Pipeline A</a:t>
            </a:r>
            <a:endParaRPr lang="en-US" sz="800" dirty="0"/>
          </a:p>
        </p:txBody>
      </p:sp>
      <p:sp>
        <p:nvSpPr>
          <p:cNvPr id="18" name="Shape 16"/>
          <p:cNvSpPr/>
          <p:nvPr/>
        </p:nvSpPr>
        <p:spPr>
          <a:xfrm>
            <a:off x="1325880" y="2743200"/>
            <a:ext cx="502920" cy="0"/>
          </a:xfrm>
          <a:prstGeom prst="line">
            <a:avLst/>
          </a:prstGeom>
          <a:noFill/>
          <a:ln w="12700">
            <a:solidFill>
              <a:srgbClr val="065A82"/>
            </a:solidFill>
            <a:prstDash val="dash"/>
          </a:ln>
        </p:spPr>
      </p:sp>
      <p:sp>
        <p:nvSpPr>
          <p:cNvPr id="19" name="Shape 17"/>
          <p:cNvSpPr/>
          <p:nvPr/>
        </p:nvSpPr>
        <p:spPr>
          <a:xfrm>
            <a:off x="1828800" y="2743200"/>
            <a:ext cx="0" cy="292608"/>
          </a:xfrm>
          <a:prstGeom prst="line">
            <a:avLst/>
          </a:prstGeom>
          <a:noFill/>
          <a:ln w="12700">
            <a:solidFill>
              <a:srgbClr val="065A82"/>
            </a:solidFill>
            <a:prstDash val="dash"/>
          </a:ln>
        </p:spPr>
      </p:sp>
      <p:sp>
        <p:nvSpPr>
          <p:cNvPr id="20" name="Shape 18"/>
          <p:cNvSpPr/>
          <p:nvPr/>
        </p:nvSpPr>
        <p:spPr>
          <a:xfrm>
            <a:off x="411480" y="2971800"/>
            <a:ext cx="914400" cy="274320"/>
          </a:xfrm>
          <a:prstGeom prst="rect">
            <a:avLst/>
          </a:prstGeom>
          <a:solidFill>
            <a:srgbClr val="028090"/>
          </a:solidFill>
          <a:ln/>
          <a:effectLst>
            <a:outerShdw sx="100000" sy="100000" kx="0" ky="0" algn="bl" rotWithShape="0" blurRad="101600" dist="38100" dir="8100000">
              <a:srgbClr val="000000">
                <a:alpha val="10000"/>
              </a:srgbClr>
            </a:outerShdw>
          </a:effectLst>
        </p:spPr>
      </p:sp>
      <p:sp>
        <p:nvSpPr>
          <p:cNvPr id="21" name="Text 19"/>
          <p:cNvSpPr/>
          <p:nvPr/>
        </p:nvSpPr>
        <p:spPr>
          <a:xfrm>
            <a:off x="411480" y="2971800"/>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Pipeline B</a:t>
            </a:r>
            <a:endParaRPr lang="en-US" sz="800" dirty="0"/>
          </a:p>
        </p:txBody>
      </p:sp>
      <p:sp>
        <p:nvSpPr>
          <p:cNvPr id="22" name="Shape 20"/>
          <p:cNvSpPr/>
          <p:nvPr/>
        </p:nvSpPr>
        <p:spPr>
          <a:xfrm>
            <a:off x="1325880" y="3108960"/>
            <a:ext cx="502920" cy="0"/>
          </a:xfrm>
          <a:prstGeom prst="line">
            <a:avLst/>
          </a:prstGeom>
          <a:noFill/>
          <a:ln w="12700">
            <a:solidFill>
              <a:srgbClr val="028090"/>
            </a:solidFill>
            <a:prstDash val="dash"/>
          </a:ln>
        </p:spPr>
      </p:sp>
      <p:sp>
        <p:nvSpPr>
          <p:cNvPr id="23" name="Shape 21"/>
          <p:cNvSpPr/>
          <p:nvPr/>
        </p:nvSpPr>
        <p:spPr>
          <a:xfrm>
            <a:off x="1828800" y="3108960"/>
            <a:ext cx="0" cy="-73152"/>
          </a:xfrm>
          <a:prstGeom prst="line">
            <a:avLst/>
          </a:prstGeom>
          <a:noFill/>
          <a:ln w="12700">
            <a:solidFill>
              <a:srgbClr val="028090"/>
            </a:solidFill>
            <a:prstDash val="dash"/>
          </a:ln>
        </p:spPr>
      </p:sp>
      <p:sp>
        <p:nvSpPr>
          <p:cNvPr id="24" name="Shape 22"/>
          <p:cNvSpPr/>
          <p:nvPr/>
        </p:nvSpPr>
        <p:spPr>
          <a:xfrm>
            <a:off x="411480" y="3337560"/>
            <a:ext cx="914400" cy="274320"/>
          </a:xfrm>
          <a:prstGeom prst="rect">
            <a:avLst/>
          </a:prstGeom>
          <a:solidFill>
            <a:srgbClr val="6B46C1"/>
          </a:solidFill>
          <a:ln/>
          <a:effectLst>
            <a:outerShdw sx="100000" sy="100000" kx="0" ky="0" algn="bl" rotWithShape="0" blurRad="101600" dist="38100" dir="8100000">
              <a:srgbClr val="000000">
                <a:alpha val="10000"/>
              </a:srgbClr>
            </a:outerShdw>
          </a:effectLst>
        </p:spPr>
      </p:sp>
      <p:sp>
        <p:nvSpPr>
          <p:cNvPr id="25" name="Text 23"/>
          <p:cNvSpPr/>
          <p:nvPr/>
        </p:nvSpPr>
        <p:spPr>
          <a:xfrm>
            <a:off x="411480" y="3337560"/>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Pipeline C</a:t>
            </a:r>
            <a:endParaRPr lang="en-US" sz="800" dirty="0"/>
          </a:p>
        </p:txBody>
      </p:sp>
      <p:sp>
        <p:nvSpPr>
          <p:cNvPr id="26" name="Shape 24"/>
          <p:cNvSpPr/>
          <p:nvPr/>
        </p:nvSpPr>
        <p:spPr>
          <a:xfrm>
            <a:off x="1325880" y="3474720"/>
            <a:ext cx="502920" cy="0"/>
          </a:xfrm>
          <a:prstGeom prst="line">
            <a:avLst/>
          </a:prstGeom>
          <a:noFill/>
          <a:ln w="12700">
            <a:solidFill>
              <a:srgbClr val="6B46C1"/>
            </a:solidFill>
            <a:prstDash val="dash"/>
          </a:ln>
        </p:spPr>
      </p:sp>
      <p:sp>
        <p:nvSpPr>
          <p:cNvPr id="27" name="Shape 25"/>
          <p:cNvSpPr/>
          <p:nvPr/>
        </p:nvSpPr>
        <p:spPr>
          <a:xfrm>
            <a:off x="1828800" y="3474720"/>
            <a:ext cx="0" cy="-438912"/>
          </a:xfrm>
          <a:prstGeom prst="line">
            <a:avLst/>
          </a:prstGeom>
          <a:noFill/>
          <a:ln w="12700">
            <a:solidFill>
              <a:srgbClr val="6B46C1"/>
            </a:solidFill>
            <a:prstDash val="dash"/>
          </a:ln>
        </p:spPr>
      </p:sp>
      <p:sp>
        <p:nvSpPr>
          <p:cNvPr id="28" name="Shape 26"/>
          <p:cNvSpPr/>
          <p:nvPr/>
        </p:nvSpPr>
        <p:spPr>
          <a:xfrm>
            <a:off x="365760" y="3730752"/>
            <a:ext cx="3794760" cy="173736"/>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29" name="Shape 27"/>
          <p:cNvSpPr/>
          <p:nvPr/>
        </p:nvSpPr>
        <p:spPr>
          <a:xfrm>
            <a:off x="365760" y="3730752"/>
            <a:ext cx="64008" cy="173736"/>
          </a:xfrm>
          <a:prstGeom prst="rect">
            <a:avLst/>
          </a:prstGeom>
          <a:solidFill>
            <a:srgbClr val="E53E3E"/>
          </a:solidFill>
          <a:ln/>
        </p:spPr>
      </p:sp>
      <p:sp>
        <p:nvSpPr>
          <p:cNvPr id="30" name="Text 28"/>
          <p:cNvSpPr/>
          <p:nvPr/>
        </p:nvSpPr>
        <p:spPr>
          <a:xfrm>
            <a:off x="502920" y="3730752"/>
            <a:ext cx="3611880" cy="173736"/>
          </a:xfrm>
          <a:prstGeom prst="rect">
            <a:avLst/>
          </a:prstGeom>
          <a:noFill/>
          <a:ln/>
        </p:spPr>
        <p:txBody>
          <a:bodyPr wrap="square" lIns="50800" tIns="50800" rIns="50800" bIns="508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 FlowFiles sortent du pipeline</a:t>
            </a:r>
            <a:endParaRPr lang="en-US" sz="800" dirty="0"/>
          </a:p>
        </p:txBody>
      </p:sp>
      <p:sp>
        <p:nvSpPr>
          <p:cNvPr id="31" name="Shape 29"/>
          <p:cNvSpPr/>
          <p:nvPr/>
        </p:nvSpPr>
        <p:spPr>
          <a:xfrm>
            <a:off x="365760" y="3931920"/>
            <a:ext cx="3794760" cy="173736"/>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32" name="Shape 30"/>
          <p:cNvSpPr/>
          <p:nvPr/>
        </p:nvSpPr>
        <p:spPr>
          <a:xfrm>
            <a:off x="365760" y="3931920"/>
            <a:ext cx="64008" cy="173736"/>
          </a:xfrm>
          <a:prstGeom prst="rect">
            <a:avLst/>
          </a:prstGeom>
          <a:solidFill>
            <a:srgbClr val="E53E3E"/>
          </a:solidFill>
          <a:ln/>
        </p:spPr>
      </p:sp>
      <p:sp>
        <p:nvSpPr>
          <p:cNvPr id="33" name="Text 31"/>
          <p:cNvSpPr/>
          <p:nvPr/>
        </p:nvSpPr>
        <p:spPr>
          <a:xfrm>
            <a:off x="502920" y="3931920"/>
            <a:ext cx="3611880" cy="173736"/>
          </a:xfrm>
          <a:prstGeom prst="rect">
            <a:avLst/>
          </a:prstGeom>
          <a:noFill/>
          <a:ln/>
        </p:spPr>
        <p:txBody>
          <a:bodyPr wrap="square" lIns="50800" tIns="50800" rIns="50800" bIns="508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 Threads partagés entre pipelines</a:t>
            </a:r>
            <a:endParaRPr lang="en-US" sz="800" dirty="0"/>
          </a:p>
        </p:txBody>
      </p:sp>
      <p:sp>
        <p:nvSpPr>
          <p:cNvPr id="34" name="Shape 32"/>
          <p:cNvSpPr/>
          <p:nvPr/>
        </p:nvSpPr>
        <p:spPr>
          <a:xfrm>
            <a:off x="365760" y="4133088"/>
            <a:ext cx="3794760" cy="173736"/>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35" name="Shape 33"/>
          <p:cNvSpPr/>
          <p:nvPr/>
        </p:nvSpPr>
        <p:spPr>
          <a:xfrm>
            <a:off x="365760" y="4133088"/>
            <a:ext cx="64008" cy="173736"/>
          </a:xfrm>
          <a:prstGeom prst="rect">
            <a:avLst/>
          </a:prstGeom>
          <a:solidFill>
            <a:srgbClr val="E53E3E"/>
          </a:solidFill>
          <a:ln/>
        </p:spPr>
      </p:sp>
      <p:sp>
        <p:nvSpPr>
          <p:cNvPr id="36" name="Text 34"/>
          <p:cNvSpPr/>
          <p:nvPr/>
        </p:nvSpPr>
        <p:spPr>
          <a:xfrm>
            <a:off x="502920" y="4133088"/>
            <a:ext cx="3611880" cy="173736"/>
          </a:xfrm>
          <a:prstGeom prst="rect">
            <a:avLst/>
          </a:prstGeom>
          <a:noFill/>
          <a:ln/>
        </p:spPr>
        <p:txBody>
          <a:bodyPr wrap="square" lIns="50800" tIns="50800" rIns="50800" bIns="508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 File d'attente commune</a:t>
            </a:r>
            <a:endParaRPr lang="en-US" sz="800" dirty="0"/>
          </a:p>
        </p:txBody>
      </p:sp>
      <p:sp>
        <p:nvSpPr>
          <p:cNvPr id="37" name="Shape 35"/>
          <p:cNvSpPr/>
          <p:nvPr/>
        </p:nvSpPr>
        <p:spPr>
          <a:xfrm>
            <a:off x="365760" y="4334256"/>
            <a:ext cx="3794760" cy="173736"/>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38" name="Shape 36"/>
          <p:cNvSpPr/>
          <p:nvPr/>
        </p:nvSpPr>
        <p:spPr>
          <a:xfrm>
            <a:off x="365760" y="4334256"/>
            <a:ext cx="64008" cy="173736"/>
          </a:xfrm>
          <a:prstGeom prst="rect">
            <a:avLst/>
          </a:prstGeom>
          <a:solidFill>
            <a:srgbClr val="E53E3E"/>
          </a:solidFill>
          <a:ln/>
        </p:spPr>
      </p:sp>
      <p:sp>
        <p:nvSpPr>
          <p:cNvPr id="39" name="Text 37"/>
          <p:cNvSpPr/>
          <p:nvPr/>
        </p:nvSpPr>
        <p:spPr>
          <a:xfrm>
            <a:off x="502920" y="4334256"/>
            <a:ext cx="3611880" cy="173736"/>
          </a:xfrm>
          <a:prstGeom prst="rect">
            <a:avLst/>
          </a:prstGeom>
          <a:noFill/>
          <a:ln/>
        </p:spPr>
        <p:txBody>
          <a:bodyPr wrap="square" lIns="50800" tIns="50800" rIns="50800" bIns="508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 Blast radius global</a:t>
            </a:r>
            <a:endParaRPr lang="en-US" sz="800" dirty="0"/>
          </a:p>
        </p:txBody>
      </p:sp>
      <p:sp>
        <p:nvSpPr>
          <p:cNvPr id="40" name="Shape 38"/>
          <p:cNvSpPr/>
          <p:nvPr/>
        </p:nvSpPr>
        <p:spPr>
          <a:xfrm>
            <a:off x="365760" y="4535424"/>
            <a:ext cx="3794760" cy="173736"/>
          </a:xfrm>
          <a:prstGeom prst="rect">
            <a:avLst/>
          </a:prstGeom>
          <a:solidFill>
            <a:srgbClr val="FFF5F5"/>
          </a:solidFill>
          <a:ln/>
          <a:effectLst>
            <a:outerShdw sx="100000" sy="100000" kx="0" ky="0" algn="bl" rotWithShape="0" blurRad="101600" dist="38100" dir="8100000">
              <a:srgbClr val="000000">
                <a:alpha val="10000"/>
              </a:srgbClr>
            </a:outerShdw>
          </a:effectLst>
        </p:spPr>
      </p:sp>
      <p:sp>
        <p:nvSpPr>
          <p:cNvPr id="41" name="Shape 39"/>
          <p:cNvSpPr/>
          <p:nvPr/>
        </p:nvSpPr>
        <p:spPr>
          <a:xfrm>
            <a:off x="365760" y="4535424"/>
            <a:ext cx="64008" cy="173736"/>
          </a:xfrm>
          <a:prstGeom prst="rect">
            <a:avLst/>
          </a:prstGeom>
          <a:solidFill>
            <a:srgbClr val="E53E3E"/>
          </a:solidFill>
          <a:ln/>
        </p:spPr>
      </p:sp>
      <p:sp>
        <p:nvSpPr>
          <p:cNvPr id="42" name="Text 40"/>
          <p:cNvSpPr/>
          <p:nvPr/>
        </p:nvSpPr>
        <p:spPr>
          <a:xfrm>
            <a:off x="502920" y="4535424"/>
            <a:ext cx="3611880" cy="173736"/>
          </a:xfrm>
          <a:prstGeom prst="rect">
            <a:avLst/>
          </a:prstGeom>
          <a:noFill/>
          <a:ln/>
        </p:spPr>
        <p:txBody>
          <a:bodyPr wrap="square" lIns="50800" tIns="50800" rIns="50800" bIns="508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 Canvas illisible</a:t>
            </a:r>
            <a:endParaRPr lang="en-US" sz="800" dirty="0"/>
          </a:p>
        </p:txBody>
      </p:sp>
      <p:sp>
        <p:nvSpPr>
          <p:cNvPr id="43" name="Shape 41"/>
          <p:cNvSpPr/>
          <p:nvPr/>
        </p:nvSpPr>
        <p:spPr>
          <a:xfrm>
            <a:off x="4617720" y="1874520"/>
            <a:ext cx="4251960" cy="29260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4" name="Shape 42"/>
          <p:cNvSpPr/>
          <p:nvPr/>
        </p:nvSpPr>
        <p:spPr>
          <a:xfrm>
            <a:off x="4617720" y="1874520"/>
            <a:ext cx="4251960" cy="292608"/>
          </a:xfrm>
          <a:prstGeom prst="rect">
            <a:avLst/>
          </a:prstGeom>
          <a:solidFill>
            <a:srgbClr val="38A169"/>
          </a:solidFill>
          <a:ln/>
        </p:spPr>
      </p:sp>
      <p:sp>
        <p:nvSpPr>
          <p:cNvPr id="45" name="Text 43"/>
          <p:cNvSpPr/>
          <p:nvPr/>
        </p:nvSpPr>
        <p:spPr>
          <a:xfrm>
            <a:off x="4663440" y="1874520"/>
            <a:ext cx="41605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Toujours faire — PG à l'intérieur du pipeline</a:t>
            </a:r>
            <a:endParaRPr lang="en-US" sz="1100" dirty="0"/>
          </a:p>
        </p:txBody>
      </p:sp>
      <p:sp>
        <p:nvSpPr>
          <p:cNvPr id="46" name="Shape 44"/>
          <p:cNvSpPr/>
          <p:nvPr/>
        </p:nvSpPr>
        <p:spPr>
          <a:xfrm>
            <a:off x="4754880" y="2267712"/>
            <a:ext cx="3977640" cy="68580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47" name="Shape 45"/>
          <p:cNvSpPr/>
          <p:nvPr/>
        </p:nvSpPr>
        <p:spPr>
          <a:xfrm>
            <a:off x="4754880" y="2267712"/>
            <a:ext cx="64008" cy="685800"/>
          </a:xfrm>
          <a:prstGeom prst="rect">
            <a:avLst/>
          </a:prstGeom>
          <a:solidFill>
            <a:srgbClr val="065A82"/>
          </a:solidFill>
          <a:ln/>
        </p:spPr>
      </p:sp>
      <p:sp>
        <p:nvSpPr>
          <p:cNvPr id="48" name="Text 46"/>
          <p:cNvSpPr/>
          <p:nvPr/>
        </p:nvSpPr>
        <p:spPr>
          <a:xfrm>
            <a:off x="4892040" y="2304288"/>
            <a:ext cx="3749040" cy="228600"/>
          </a:xfrm>
          <a:prstGeom prst="rect">
            <a:avLst/>
          </a:prstGeom>
          <a:noFill/>
          <a:ln/>
        </p:spPr>
        <p:txBody>
          <a:bodyPr wrap="square" lIns="0" tIns="0" rIns="0" bIns="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Pipeline A</a:t>
            </a:r>
            <a:endParaRPr lang="en-US" sz="1100" dirty="0"/>
          </a:p>
        </p:txBody>
      </p:sp>
      <p:sp>
        <p:nvSpPr>
          <p:cNvPr id="49" name="Shape 47"/>
          <p:cNvSpPr/>
          <p:nvPr/>
        </p:nvSpPr>
        <p:spPr>
          <a:xfrm>
            <a:off x="4892040" y="2560320"/>
            <a:ext cx="1188720" cy="292608"/>
          </a:xfrm>
          <a:prstGeom prst="rect">
            <a:avLst/>
          </a:prstGeom>
          <a:solidFill>
            <a:srgbClr val="065A82">
              <a:alpha val="50000"/>
            </a:srgbClr>
          </a:solidFill>
          <a:ln/>
        </p:spPr>
      </p:sp>
      <p:sp>
        <p:nvSpPr>
          <p:cNvPr id="50" name="Text 48"/>
          <p:cNvSpPr/>
          <p:nvPr/>
        </p:nvSpPr>
        <p:spPr>
          <a:xfrm>
            <a:off x="4892040" y="2560320"/>
            <a:ext cx="1188720" cy="29260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Source</a:t>
            </a:r>
            <a:endParaRPr lang="en-US" sz="800" dirty="0"/>
          </a:p>
        </p:txBody>
      </p:sp>
      <p:sp>
        <p:nvSpPr>
          <p:cNvPr id="51" name="Shape 49"/>
          <p:cNvSpPr/>
          <p:nvPr/>
        </p:nvSpPr>
        <p:spPr>
          <a:xfrm>
            <a:off x="6172200" y="2560320"/>
            <a:ext cx="1371600" cy="292608"/>
          </a:xfrm>
          <a:prstGeom prst="rect">
            <a:avLst/>
          </a:prstGeom>
          <a:solidFill>
            <a:srgbClr val="065A82">
              <a:alpha val="30000"/>
            </a:srgbClr>
          </a:solidFill>
          <a:ln/>
        </p:spPr>
      </p:sp>
      <p:sp>
        <p:nvSpPr>
          <p:cNvPr id="52" name="Text 50"/>
          <p:cNvSpPr/>
          <p:nvPr/>
        </p:nvSpPr>
        <p:spPr>
          <a:xfrm>
            <a:off x="6172200" y="2560320"/>
            <a:ext cx="1371600" cy="29260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[Copie PG]</a:t>
            </a:r>
            <a:endParaRPr lang="en-US" sz="800" dirty="0"/>
          </a:p>
        </p:txBody>
      </p:sp>
      <p:sp>
        <p:nvSpPr>
          <p:cNvPr id="53" name="Shape 51"/>
          <p:cNvSpPr/>
          <p:nvPr/>
        </p:nvSpPr>
        <p:spPr>
          <a:xfrm>
            <a:off x="7635240" y="2560320"/>
            <a:ext cx="1005840" cy="292608"/>
          </a:xfrm>
          <a:prstGeom prst="rect">
            <a:avLst/>
          </a:prstGeom>
          <a:solidFill>
            <a:srgbClr val="065A82">
              <a:alpha val="50000"/>
            </a:srgbClr>
          </a:solidFill>
          <a:ln/>
        </p:spPr>
      </p:sp>
      <p:sp>
        <p:nvSpPr>
          <p:cNvPr id="54" name="Text 52"/>
          <p:cNvSpPr/>
          <p:nvPr/>
        </p:nvSpPr>
        <p:spPr>
          <a:xfrm>
            <a:off x="7635240" y="2560320"/>
            <a:ext cx="1005840" cy="29260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Dest.</a:t>
            </a:r>
            <a:endParaRPr lang="en-US" sz="800" dirty="0"/>
          </a:p>
        </p:txBody>
      </p:sp>
      <p:sp>
        <p:nvSpPr>
          <p:cNvPr id="55" name="Shape 53"/>
          <p:cNvSpPr/>
          <p:nvPr/>
        </p:nvSpPr>
        <p:spPr>
          <a:xfrm>
            <a:off x="4754880" y="3063240"/>
            <a:ext cx="3977640" cy="685800"/>
          </a:xfrm>
          <a:prstGeom prst="rect">
            <a:avLst/>
          </a:prstGeom>
          <a:solidFill>
            <a:srgbClr val="F0F4F8"/>
          </a:solidFill>
          <a:ln/>
          <a:effectLst>
            <a:outerShdw sx="100000" sy="100000" kx="0" ky="0" algn="bl" rotWithShape="0" blurRad="101600" dist="38100" dir="8100000">
              <a:srgbClr val="000000">
                <a:alpha val="10000"/>
              </a:srgbClr>
            </a:outerShdw>
          </a:effectLst>
        </p:spPr>
      </p:sp>
      <p:sp>
        <p:nvSpPr>
          <p:cNvPr id="56" name="Shape 54"/>
          <p:cNvSpPr/>
          <p:nvPr/>
        </p:nvSpPr>
        <p:spPr>
          <a:xfrm>
            <a:off x="4754880" y="3063240"/>
            <a:ext cx="64008" cy="685800"/>
          </a:xfrm>
          <a:prstGeom prst="rect">
            <a:avLst/>
          </a:prstGeom>
          <a:solidFill>
            <a:srgbClr val="028090"/>
          </a:solidFill>
          <a:ln/>
        </p:spPr>
      </p:sp>
      <p:sp>
        <p:nvSpPr>
          <p:cNvPr id="57" name="Text 55"/>
          <p:cNvSpPr/>
          <p:nvPr/>
        </p:nvSpPr>
        <p:spPr>
          <a:xfrm>
            <a:off x="4892040" y="3099816"/>
            <a:ext cx="3749040" cy="228600"/>
          </a:xfrm>
          <a:prstGeom prst="rect">
            <a:avLst/>
          </a:prstGeom>
          <a:noFill/>
          <a:ln/>
        </p:spPr>
        <p:txBody>
          <a:bodyPr wrap="square" lIns="0" tIns="0" rIns="0" bIns="0" rtlCol="0" anchor="ctr"/>
          <a:lstStyle/>
          <a:p>
            <a:pPr indent="0" marL="0">
              <a:buNone/>
            </a:pPr>
            <a:r>
              <a:rPr lang="en-US" sz="1100" b="1" dirty="0">
                <a:solidFill>
                  <a:srgbClr val="021B3A"/>
                </a:solidFill>
                <a:latin typeface="Calibri" pitchFamily="34" charset="0"/>
                <a:ea typeface="Calibri" pitchFamily="34" charset="-122"/>
                <a:cs typeface="Calibri" pitchFamily="34" charset="-120"/>
              </a:rPr>
              <a:t>Pipeline B</a:t>
            </a:r>
            <a:endParaRPr lang="en-US" sz="1100" dirty="0"/>
          </a:p>
        </p:txBody>
      </p:sp>
      <p:sp>
        <p:nvSpPr>
          <p:cNvPr id="58" name="Shape 56"/>
          <p:cNvSpPr/>
          <p:nvPr/>
        </p:nvSpPr>
        <p:spPr>
          <a:xfrm>
            <a:off x="4892040" y="3355848"/>
            <a:ext cx="1188720" cy="292608"/>
          </a:xfrm>
          <a:prstGeom prst="rect">
            <a:avLst/>
          </a:prstGeom>
          <a:solidFill>
            <a:srgbClr val="028090">
              <a:alpha val="50000"/>
            </a:srgbClr>
          </a:solidFill>
          <a:ln/>
        </p:spPr>
      </p:sp>
      <p:sp>
        <p:nvSpPr>
          <p:cNvPr id="59" name="Text 57"/>
          <p:cNvSpPr/>
          <p:nvPr/>
        </p:nvSpPr>
        <p:spPr>
          <a:xfrm>
            <a:off x="4892040" y="3355848"/>
            <a:ext cx="1188720" cy="29260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Source</a:t>
            </a:r>
            <a:endParaRPr lang="en-US" sz="800" dirty="0"/>
          </a:p>
        </p:txBody>
      </p:sp>
      <p:sp>
        <p:nvSpPr>
          <p:cNvPr id="60" name="Shape 58"/>
          <p:cNvSpPr/>
          <p:nvPr/>
        </p:nvSpPr>
        <p:spPr>
          <a:xfrm>
            <a:off x="6172200" y="3355848"/>
            <a:ext cx="1371600" cy="292608"/>
          </a:xfrm>
          <a:prstGeom prst="rect">
            <a:avLst/>
          </a:prstGeom>
          <a:solidFill>
            <a:srgbClr val="028090">
              <a:alpha val="30000"/>
            </a:srgbClr>
          </a:solidFill>
          <a:ln/>
        </p:spPr>
      </p:sp>
      <p:sp>
        <p:nvSpPr>
          <p:cNvPr id="61" name="Text 59"/>
          <p:cNvSpPr/>
          <p:nvPr/>
        </p:nvSpPr>
        <p:spPr>
          <a:xfrm>
            <a:off x="6172200" y="3355848"/>
            <a:ext cx="1371600" cy="29260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[Copie PG]</a:t>
            </a:r>
            <a:endParaRPr lang="en-US" sz="800" dirty="0"/>
          </a:p>
        </p:txBody>
      </p:sp>
      <p:sp>
        <p:nvSpPr>
          <p:cNvPr id="62" name="Shape 60"/>
          <p:cNvSpPr/>
          <p:nvPr/>
        </p:nvSpPr>
        <p:spPr>
          <a:xfrm>
            <a:off x="7635240" y="3355848"/>
            <a:ext cx="1005840" cy="292608"/>
          </a:xfrm>
          <a:prstGeom prst="rect">
            <a:avLst/>
          </a:prstGeom>
          <a:solidFill>
            <a:srgbClr val="028090">
              <a:alpha val="50000"/>
            </a:srgbClr>
          </a:solidFill>
          <a:ln/>
        </p:spPr>
      </p:sp>
      <p:sp>
        <p:nvSpPr>
          <p:cNvPr id="63" name="Text 61"/>
          <p:cNvSpPr/>
          <p:nvPr/>
        </p:nvSpPr>
        <p:spPr>
          <a:xfrm>
            <a:off x="7635240" y="3355848"/>
            <a:ext cx="1005840" cy="29260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Dest.</a:t>
            </a:r>
            <a:endParaRPr lang="en-US" sz="800" dirty="0"/>
          </a:p>
        </p:txBody>
      </p:sp>
      <p:sp>
        <p:nvSpPr>
          <p:cNvPr id="64" name="Shape 62"/>
          <p:cNvSpPr/>
          <p:nvPr/>
        </p:nvSpPr>
        <p:spPr>
          <a:xfrm>
            <a:off x="4754880" y="3840480"/>
            <a:ext cx="3977640" cy="173736"/>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65" name="Shape 63"/>
          <p:cNvSpPr/>
          <p:nvPr/>
        </p:nvSpPr>
        <p:spPr>
          <a:xfrm>
            <a:off x="4754880" y="3840480"/>
            <a:ext cx="64008" cy="173736"/>
          </a:xfrm>
          <a:prstGeom prst="rect">
            <a:avLst/>
          </a:prstGeom>
          <a:solidFill>
            <a:srgbClr val="38A169"/>
          </a:solidFill>
          <a:ln/>
        </p:spPr>
      </p:sp>
      <p:sp>
        <p:nvSpPr>
          <p:cNvPr id="66" name="Text 64"/>
          <p:cNvSpPr/>
          <p:nvPr/>
        </p:nvSpPr>
        <p:spPr>
          <a:xfrm>
            <a:off x="4892040" y="3840480"/>
            <a:ext cx="3794760" cy="173736"/>
          </a:xfrm>
          <a:prstGeom prst="rect">
            <a:avLst/>
          </a:prstGeom>
          <a:noFill/>
          <a:ln/>
        </p:spPr>
        <p:txBody>
          <a:bodyPr wrap="square" lIns="50800" tIns="50800" rIns="50800" bIns="508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 FlowFiles restent locaux au pipeline</a:t>
            </a:r>
            <a:endParaRPr lang="en-US" sz="800" dirty="0"/>
          </a:p>
        </p:txBody>
      </p:sp>
      <p:sp>
        <p:nvSpPr>
          <p:cNvPr id="67" name="Shape 65"/>
          <p:cNvSpPr/>
          <p:nvPr/>
        </p:nvSpPr>
        <p:spPr>
          <a:xfrm>
            <a:off x="4754880" y="4041648"/>
            <a:ext cx="3977640" cy="173736"/>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68" name="Shape 66"/>
          <p:cNvSpPr/>
          <p:nvPr/>
        </p:nvSpPr>
        <p:spPr>
          <a:xfrm>
            <a:off x="4754880" y="4041648"/>
            <a:ext cx="64008" cy="173736"/>
          </a:xfrm>
          <a:prstGeom prst="rect">
            <a:avLst/>
          </a:prstGeom>
          <a:solidFill>
            <a:srgbClr val="38A169"/>
          </a:solidFill>
          <a:ln/>
        </p:spPr>
      </p:sp>
      <p:sp>
        <p:nvSpPr>
          <p:cNvPr id="69" name="Text 67"/>
          <p:cNvSpPr/>
          <p:nvPr/>
        </p:nvSpPr>
        <p:spPr>
          <a:xfrm>
            <a:off x="4892040" y="4041648"/>
            <a:ext cx="3794760" cy="173736"/>
          </a:xfrm>
          <a:prstGeom prst="rect">
            <a:avLst/>
          </a:prstGeom>
          <a:noFill/>
          <a:ln/>
        </p:spPr>
        <p:txBody>
          <a:bodyPr wrap="square" lIns="50800" tIns="50800" rIns="50800" bIns="508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 Threads isolés et contrôlés</a:t>
            </a:r>
            <a:endParaRPr lang="en-US" sz="800" dirty="0"/>
          </a:p>
        </p:txBody>
      </p:sp>
      <p:sp>
        <p:nvSpPr>
          <p:cNvPr id="70" name="Shape 68"/>
          <p:cNvSpPr/>
          <p:nvPr/>
        </p:nvSpPr>
        <p:spPr>
          <a:xfrm>
            <a:off x="4754880" y="4242816"/>
            <a:ext cx="3977640" cy="173736"/>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71" name="Shape 69"/>
          <p:cNvSpPr/>
          <p:nvPr/>
        </p:nvSpPr>
        <p:spPr>
          <a:xfrm>
            <a:off x="4754880" y="4242816"/>
            <a:ext cx="64008" cy="173736"/>
          </a:xfrm>
          <a:prstGeom prst="rect">
            <a:avLst/>
          </a:prstGeom>
          <a:solidFill>
            <a:srgbClr val="38A169"/>
          </a:solidFill>
          <a:ln/>
        </p:spPr>
      </p:sp>
      <p:sp>
        <p:nvSpPr>
          <p:cNvPr id="72" name="Text 70"/>
          <p:cNvSpPr/>
          <p:nvPr/>
        </p:nvSpPr>
        <p:spPr>
          <a:xfrm>
            <a:off x="4892040" y="4242816"/>
            <a:ext cx="3794760" cy="173736"/>
          </a:xfrm>
          <a:prstGeom prst="rect">
            <a:avLst/>
          </a:prstGeom>
          <a:noFill/>
          <a:ln/>
        </p:spPr>
        <p:txBody>
          <a:bodyPr wrap="square" lIns="50800" tIns="50800" rIns="50800" bIns="508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 File d'attente locale</a:t>
            </a:r>
            <a:endParaRPr lang="en-US" sz="800" dirty="0"/>
          </a:p>
        </p:txBody>
      </p:sp>
      <p:sp>
        <p:nvSpPr>
          <p:cNvPr id="73" name="Shape 71"/>
          <p:cNvSpPr/>
          <p:nvPr/>
        </p:nvSpPr>
        <p:spPr>
          <a:xfrm>
            <a:off x="4754880" y="4443984"/>
            <a:ext cx="3977640" cy="173736"/>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74" name="Shape 72"/>
          <p:cNvSpPr/>
          <p:nvPr/>
        </p:nvSpPr>
        <p:spPr>
          <a:xfrm>
            <a:off x="4754880" y="4443984"/>
            <a:ext cx="64008" cy="173736"/>
          </a:xfrm>
          <a:prstGeom prst="rect">
            <a:avLst/>
          </a:prstGeom>
          <a:solidFill>
            <a:srgbClr val="38A169"/>
          </a:solidFill>
          <a:ln/>
        </p:spPr>
      </p:sp>
      <p:sp>
        <p:nvSpPr>
          <p:cNvPr id="75" name="Text 73"/>
          <p:cNvSpPr/>
          <p:nvPr/>
        </p:nvSpPr>
        <p:spPr>
          <a:xfrm>
            <a:off x="4892040" y="4443984"/>
            <a:ext cx="3794760" cy="173736"/>
          </a:xfrm>
          <a:prstGeom prst="rect">
            <a:avLst/>
          </a:prstGeom>
          <a:noFill/>
          <a:ln/>
        </p:spPr>
        <p:txBody>
          <a:bodyPr wrap="square" lIns="50800" tIns="50800" rIns="50800" bIns="508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 Blast radius limité au pipeline</a:t>
            </a:r>
            <a:endParaRPr lang="en-US" sz="800" dirty="0"/>
          </a:p>
        </p:txBody>
      </p:sp>
      <p:sp>
        <p:nvSpPr>
          <p:cNvPr id="76" name="Shape 74"/>
          <p:cNvSpPr/>
          <p:nvPr/>
        </p:nvSpPr>
        <p:spPr>
          <a:xfrm>
            <a:off x="4754880" y="4645152"/>
            <a:ext cx="3977640" cy="173736"/>
          </a:xfrm>
          <a:prstGeom prst="rect">
            <a:avLst/>
          </a:prstGeom>
          <a:solidFill>
            <a:srgbClr val="F0FFF4"/>
          </a:solidFill>
          <a:ln/>
          <a:effectLst>
            <a:outerShdw sx="100000" sy="100000" kx="0" ky="0" algn="bl" rotWithShape="0" blurRad="101600" dist="38100" dir="8100000">
              <a:srgbClr val="000000">
                <a:alpha val="10000"/>
              </a:srgbClr>
            </a:outerShdw>
          </a:effectLst>
        </p:spPr>
      </p:sp>
      <p:sp>
        <p:nvSpPr>
          <p:cNvPr id="77" name="Shape 75"/>
          <p:cNvSpPr/>
          <p:nvPr/>
        </p:nvSpPr>
        <p:spPr>
          <a:xfrm>
            <a:off x="4754880" y="4645152"/>
            <a:ext cx="64008" cy="173736"/>
          </a:xfrm>
          <a:prstGeom prst="rect">
            <a:avLst/>
          </a:prstGeom>
          <a:solidFill>
            <a:srgbClr val="38A169"/>
          </a:solidFill>
          <a:ln/>
        </p:spPr>
      </p:sp>
      <p:sp>
        <p:nvSpPr>
          <p:cNvPr id="78" name="Text 76"/>
          <p:cNvSpPr/>
          <p:nvPr/>
        </p:nvSpPr>
        <p:spPr>
          <a:xfrm>
            <a:off x="4892040" y="4645152"/>
            <a:ext cx="3794760" cy="173736"/>
          </a:xfrm>
          <a:prstGeom prst="rect">
            <a:avLst/>
          </a:prstGeom>
          <a:noFill/>
          <a:ln/>
        </p:spPr>
        <p:txBody>
          <a:bodyPr wrap="square" lIns="50800" tIns="50800" rIns="50800" bIns="50800" rtlCol="0" anchor="ctr"/>
          <a:lstStyle/>
          <a:p>
            <a:pPr indent="0" marL="0">
              <a:buNone/>
            </a:pPr>
            <a:r>
              <a:rPr lang="en-US" sz="800" dirty="0">
                <a:solidFill>
                  <a:srgbClr val="021B3A"/>
                </a:solidFill>
                <a:latin typeface="Calibri" pitchFamily="34" charset="0"/>
                <a:ea typeface="Calibri" pitchFamily="34" charset="-122"/>
                <a:cs typeface="Calibri" pitchFamily="34" charset="-120"/>
              </a:rPr>
              <a:t>✓ Canvas propre et lisible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1B3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C39A"/>
          </a:solidFill>
          <a:ln/>
        </p:spPr>
      </p:sp>
      <p:sp>
        <p:nvSpPr>
          <p:cNvPr id="3" name="Shape 1"/>
          <p:cNvSpPr/>
          <p:nvPr/>
        </p:nvSpPr>
        <p:spPr>
          <a:xfrm>
            <a:off x="201168" y="0"/>
            <a:ext cx="8942832" cy="54864"/>
          </a:xfrm>
          <a:prstGeom prst="rect">
            <a:avLst/>
          </a:prstGeom>
          <a:solidFill>
            <a:srgbClr val="028090"/>
          </a:solidFill>
          <a:ln/>
        </p:spPr>
      </p:sp>
      <p:sp>
        <p:nvSpPr>
          <p:cNvPr id="4" name="Shape 2"/>
          <p:cNvSpPr/>
          <p:nvPr/>
        </p:nvSpPr>
        <p:spPr>
          <a:xfrm>
            <a:off x="6858000" y="3200400"/>
            <a:ext cx="2743200" cy="2743200"/>
          </a:xfrm>
          <a:prstGeom prst="ellipse">
            <a:avLst/>
          </a:prstGeom>
          <a:solidFill>
            <a:srgbClr val="028090">
              <a:alpha val="10000"/>
            </a:srgbClr>
          </a:solidFill>
          <a:ln/>
        </p:spPr>
      </p:sp>
      <p:sp>
        <p:nvSpPr>
          <p:cNvPr id="5" name="Text 3"/>
          <p:cNvSpPr/>
          <p:nvPr/>
        </p:nvSpPr>
        <p:spPr>
          <a:xfrm>
            <a:off x="457200" y="137160"/>
            <a:ext cx="8229600" cy="411480"/>
          </a:xfrm>
          <a:prstGeom prst="rect">
            <a:avLst/>
          </a:prstGeom>
          <a:noFill/>
          <a:ln/>
        </p:spPr>
        <p:txBody>
          <a:bodyPr wrap="square" lIns="0" tIns="0" rIns="0" bIns="0" rtlCol="0" anchor="ctr"/>
          <a:lstStyle/>
          <a:p>
            <a:pPr indent="0" marL="0">
              <a:buNone/>
            </a:pPr>
            <a:r>
              <a:rPr lang="en-US" sz="1400" dirty="0">
                <a:solidFill>
                  <a:srgbClr val="02C39A"/>
                </a:solidFill>
                <a:latin typeface="Calibri" pitchFamily="34" charset="0"/>
                <a:ea typeface="Calibri" pitchFamily="34" charset="-122"/>
                <a:cs typeface="Calibri" pitchFamily="34" charset="-120"/>
              </a:rPr>
              <a:t>07  |  Recommandation Finale</a:t>
            </a:r>
            <a:endParaRPr lang="en-US" sz="1400" dirty="0"/>
          </a:p>
        </p:txBody>
      </p:sp>
      <p:sp>
        <p:nvSpPr>
          <p:cNvPr id="6" name="Text 4"/>
          <p:cNvSpPr/>
          <p:nvPr/>
        </p:nvSpPr>
        <p:spPr>
          <a:xfrm>
            <a:off x="457200" y="566928"/>
            <a:ext cx="82296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Copie dupliquée par pipeline</a:t>
            </a:r>
            <a:endParaRPr lang="en-US" sz="3600" dirty="0"/>
          </a:p>
        </p:txBody>
      </p:sp>
      <p:sp>
        <p:nvSpPr>
          <p:cNvPr id="7" name="Text 5"/>
          <p:cNvSpPr/>
          <p:nvPr/>
        </p:nvSpPr>
        <p:spPr>
          <a:xfrm>
            <a:off x="457200" y="1261872"/>
            <a:ext cx="8229600" cy="384048"/>
          </a:xfrm>
          <a:prstGeom prst="rect">
            <a:avLst/>
          </a:prstGeom>
          <a:noFill/>
          <a:ln/>
        </p:spPr>
        <p:txBody>
          <a:bodyPr wrap="square" lIns="0" tIns="0" rIns="0" bIns="0" rtlCol="0" anchor="ctr"/>
          <a:lstStyle/>
          <a:p>
            <a:pPr indent="0" marL="0">
              <a:buNone/>
            </a:pPr>
            <a:r>
              <a:rPr lang="en-US" sz="1800" i="1" dirty="0">
                <a:solidFill>
                  <a:srgbClr val="02C39A"/>
                </a:solidFill>
                <a:latin typeface="Calibri" pitchFamily="34" charset="0"/>
                <a:ea typeface="Calibri" pitchFamily="34" charset="-122"/>
                <a:cs typeface="Calibri" pitchFamily="34" charset="-120"/>
              </a:rPr>
              <a:t>avec discipline via NiFi Registry</a:t>
            </a:r>
            <a:endParaRPr lang="en-US" sz="1800" dirty="0"/>
          </a:p>
        </p:txBody>
      </p:sp>
      <p:sp>
        <p:nvSpPr>
          <p:cNvPr id="8" name="Shape 6"/>
          <p:cNvSpPr/>
          <p:nvPr/>
        </p:nvSpPr>
        <p:spPr>
          <a:xfrm>
            <a:off x="365760" y="1828800"/>
            <a:ext cx="4069080" cy="1234440"/>
          </a:xfrm>
          <a:prstGeom prst="rect">
            <a:avLst/>
          </a:prstGeom>
          <a:solidFill>
            <a:srgbClr val="065A82">
              <a:alpha val="25000"/>
            </a:srgbClr>
          </a:solidFill>
          <a:ln/>
          <a:effectLst>
            <a:outerShdw sx="100000" sy="100000" kx="0" ky="0" algn="bl" rotWithShape="0" blurRad="101600" dist="38100" dir="8100000">
              <a:srgbClr val="000000">
                <a:alpha val="10000"/>
              </a:srgbClr>
            </a:outerShdw>
          </a:effectLst>
        </p:spPr>
      </p:sp>
      <p:sp>
        <p:nvSpPr>
          <p:cNvPr id="9" name="Shape 7"/>
          <p:cNvSpPr/>
          <p:nvPr/>
        </p:nvSpPr>
        <p:spPr>
          <a:xfrm>
            <a:off x="365760" y="1828800"/>
            <a:ext cx="64008" cy="1234440"/>
          </a:xfrm>
          <a:prstGeom prst="rect">
            <a:avLst/>
          </a:prstGeom>
          <a:solidFill>
            <a:srgbClr val="065A82"/>
          </a:solidFill>
          <a:ln/>
        </p:spPr>
      </p:sp>
      <p:sp>
        <p:nvSpPr>
          <p:cNvPr id="10" name="Shape 8"/>
          <p:cNvSpPr/>
          <p:nvPr/>
        </p:nvSpPr>
        <p:spPr>
          <a:xfrm>
            <a:off x="493776" y="1938528"/>
            <a:ext cx="438912" cy="438912"/>
          </a:xfrm>
          <a:prstGeom prst="ellipse">
            <a:avLst/>
          </a:prstGeom>
          <a:solidFill>
            <a:srgbClr val="065A82"/>
          </a:solidFill>
          <a:ln/>
        </p:spPr>
      </p:sp>
      <p:sp>
        <p:nvSpPr>
          <p:cNvPr id="11" name="Text 9"/>
          <p:cNvSpPr/>
          <p:nvPr/>
        </p:nvSpPr>
        <p:spPr>
          <a:xfrm>
            <a:off x="493776" y="1938528"/>
            <a:ext cx="438912" cy="438912"/>
          </a:xfrm>
          <a:prstGeom prst="rect">
            <a:avLst/>
          </a:prstGeom>
          <a:noFill/>
          <a:ln/>
        </p:spPr>
        <p:txBody>
          <a:bodyPr wrap="square" lIns="0" tIns="0" rIns="0" bIns="0" rtlCol="0" anchor="ctr"/>
          <a:lstStyle/>
          <a:p>
            <a:pPr algn="ctr" indent="0" marL="0">
              <a:buNone/>
            </a:pPr>
            <a:r>
              <a:rPr lang="en-US" sz="1600" b="1" dirty="0">
                <a:solidFill>
                  <a:srgbClr val="021B3A"/>
                </a:solidFill>
                <a:latin typeface="Calibri" pitchFamily="34" charset="0"/>
                <a:ea typeface="Calibri" pitchFamily="34" charset="-122"/>
                <a:cs typeface="Calibri" pitchFamily="34" charset="-120"/>
              </a:rPr>
              <a:t>1</a:t>
            </a:r>
            <a:endParaRPr lang="en-US" sz="1600" dirty="0"/>
          </a:p>
        </p:txBody>
      </p:sp>
      <p:sp>
        <p:nvSpPr>
          <p:cNvPr id="12" name="Text 10"/>
          <p:cNvSpPr/>
          <p:nvPr/>
        </p:nvSpPr>
        <p:spPr>
          <a:xfrm>
            <a:off x="1024128" y="1920240"/>
            <a:ext cx="329184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NiFi Registry</a:t>
            </a:r>
            <a:endParaRPr lang="en-US" sz="1300" dirty="0"/>
          </a:p>
        </p:txBody>
      </p:sp>
      <p:sp>
        <p:nvSpPr>
          <p:cNvPr id="13" name="Text 11"/>
          <p:cNvSpPr/>
          <p:nvPr/>
        </p:nvSpPr>
        <p:spPr>
          <a:xfrm>
            <a:off x="548640" y="2286000"/>
            <a:ext cx="3794760" cy="731520"/>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Versionner la version canonique de chaque PG commun. Toute modification passe par Registry. "Change Version" dans chaque pipeline : 3 clics, contrôlé et réversible.</a:t>
            </a:r>
            <a:endParaRPr lang="en-US" sz="950" dirty="0"/>
          </a:p>
        </p:txBody>
      </p:sp>
      <p:sp>
        <p:nvSpPr>
          <p:cNvPr id="14" name="Shape 12"/>
          <p:cNvSpPr/>
          <p:nvPr/>
        </p:nvSpPr>
        <p:spPr>
          <a:xfrm>
            <a:off x="365760" y="3246120"/>
            <a:ext cx="4069080" cy="1234440"/>
          </a:xfrm>
          <a:prstGeom prst="rect">
            <a:avLst/>
          </a:prstGeom>
          <a:solidFill>
            <a:srgbClr val="065A82">
              <a:alpha val="25000"/>
            </a:srgbClr>
          </a:solidFill>
          <a:ln/>
          <a:effectLst>
            <a:outerShdw sx="100000" sy="100000" kx="0" ky="0" algn="bl" rotWithShape="0" blurRad="101600" dist="38100" dir="8100000">
              <a:srgbClr val="000000">
                <a:alpha val="10000"/>
              </a:srgbClr>
            </a:outerShdw>
          </a:effectLst>
        </p:spPr>
      </p:sp>
      <p:sp>
        <p:nvSpPr>
          <p:cNvPr id="15" name="Shape 13"/>
          <p:cNvSpPr/>
          <p:nvPr/>
        </p:nvSpPr>
        <p:spPr>
          <a:xfrm>
            <a:off x="365760" y="3246120"/>
            <a:ext cx="64008" cy="1234440"/>
          </a:xfrm>
          <a:prstGeom prst="rect">
            <a:avLst/>
          </a:prstGeom>
          <a:solidFill>
            <a:srgbClr val="028090"/>
          </a:solidFill>
          <a:ln/>
        </p:spPr>
      </p:sp>
      <p:sp>
        <p:nvSpPr>
          <p:cNvPr id="16" name="Shape 14"/>
          <p:cNvSpPr/>
          <p:nvPr/>
        </p:nvSpPr>
        <p:spPr>
          <a:xfrm>
            <a:off x="493776" y="3355848"/>
            <a:ext cx="438912" cy="438912"/>
          </a:xfrm>
          <a:prstGeom prst="ellipse">
            <a:avLst/>
          </a:prstGeom>
          <a:solidFill>
            <a:srgbClr val="028090"/>
          </a:solidFill>
          <a:ln/>
        </p:spPr>
      </p:sp>
      <p:sp>
        <p:nvSpPr>
          <p:cNvPr id="17" name="Text 15"/>
          <p:cNvSpPr/>
          <p:nvPr/>
        </p:nvSpPr>
        <p:spPr>
          <a:xfrm>
            <a:off x="493776" y="3355848"/>
            <a:ext cx="438912" cy="438912"/>
          </a:xfrm>
          <a:prstGeom prst="rect">
            <a:avLst/>
          </a:prstGeom>
          <a:noFill/>
          <a:ln/>
        </p:spPr>
        <p:txBody>
          <a:bodyPr wrap="square" lIns="0" tIns="0" rIns="0" bIns="0" rtlCol="0" anchor="ctr"/>
          <a:lstStyle/>
          <a:p>
            <a:pPr algn="ctr" indent="0" marL="0">
              <a:buNone/>
            </a:pPr>
            <a:r>
              <a:rPr lang="en-US" sz="1600" b="1" dirty="0">
                <a:solidFill>
                  <a:srgbClr val="021B3A"/>
                </a:solidFill>
                <a:latin typeface="Calibri" pitchFamily="34" charset="0"/>
                <a:ea typeface="Calibri" pitchFamily="34" charset="-122"/>
                <a:cs typeface="Calibri" pitchFamily="34" charset="-120"/>
              </a:rPr>
              <a:t>2</a:t>
            </a:r>
            <a:endParaRPr lang="en-US" sz="1600" dirty="0"/>
          </a:p>
        </p:txBody>
      </p:sp>
      <p:sp>
        <p:nvSpPr>
          <p:cNvPr id="18" name="Text 16"/>
          <p:cNvSpPr/>
          <p:nvPr/>
        </p:nvSpPr>
        <p:spPr>
          <a:xfrm>
            <a:off x="1024128" y="3337560"/>
            <a:ext cx="3291840" cy="292608"/>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Nommage explicite</a:t>
            </a:r>
            <a:endParaRPr lang="en-US" sz="1300" dirty="0"/>
          </a:p>
        </p:txBody>
      </p:sp>
      <p:sp>
        <p:nvSpPr>
          <p:cNvPr id="19" name="Text 17"/>
          <p:cNvSpPr/>
          <p:nvPr/>
        </p:nvSpPr>
        <p:spPr>
          <a:xfrm>
            <a:off x="548640" y="3703320"/>
            <a:ext cx="3794760" cy="731520"/>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Common_GestionErreurs_v1.3, Common_Logging_v2.1 — toujours savoir quelle version tourne dans quel pipeline.</a:t>
            </a:r>
            <a:endParaRPr lang="en-US" sz="950" dirty="0"/>
          </a:p>
        </p:txBody>
      </p:sp>
      <p:sp>
        <p:nvSpPr>
          <p:cNvPr id="20" name="Shape 18"/>
          <p:cNvSpPr/>
          <p:nvPr/>
        </p:nvSpPr>
        <p:spPr>
          <a:xfrm>
            <a:off x="4709160" y="1828800"/>
            <a:ext cx="4069080" cy="1234440"/>
          </a:xfrm>
          <a:prstGeom prst="rect">
            <a:avLst/>
          </a:prstGeom>
          <a:solidFill>
            <a:srgbClr val="065A82">
              <a:alpha val="25000"/>
            </a:srgbClr>
          </a:solidFill>
          <a:ln/>
          <a:effectLst>
            <a:outerShdw sx="100000" sy="100000" kx="0" ky="0" algn="bl" rotWithShape="0" blurRad="101600" dist="38100" dir="8100000">
              <a:srgbClr val="000000">
                <a:alpha val="10000"/>
              </a:srgbClr>
            </a:outerShdw>
          </a:effectLst>
        </p:spPr>
      </p:sp>
      <p:sp>
        <p:nvSpPr>
          <p:cNvPr id="21" name="Shape 19"/>
          <p:cNvSpPr/>
          <p:nvPr/>
        </p:nvSpPr>
        <p:spPr>
          <a:xfrm>
            <a:off x="4709160" y="1828800"/>
            <a:ext cx="64008" cy="1234440"/>
          </a:xfrm>
          <a:prstGeom prst="rect">
            <a:avLst/>
          </a:prstGeom>
          <a:solidFill>
            <a:srgbClr val="02C39A"/>
          </a:solidFill>
          <a:ln/>
        </p:spPr>
      </p:sp>
      <p:sp>
        <p:nvSpPr>
          <p:cNvPr id="22" name="Shape 20"/>
          <p:cNvSpPr/>
          <p:nvPr/>
        </p:nvSpPr>
        <p:spPr>
          <a:xfrm>
            <a:off x="4837176" y="1938528"/>
            <a:ext cx="438912" cy="438912"/>
          </a:xfrm>
          <a:prstGeom prst="ellipse">
            <a:avLst/>
          </a:prstGeom>
          <a:solidFill>
            <a:srgbClr val="02C39A"/>
          </a:solidFill>
          <a:ln/>
        </p:spPr>
      </p:sp>
      <p:sp>
        <p:nvSpPr>
          <p:cNvPr id="23" name="Text 21"/>
          <p:cNvSpPr/>
          <p:nvPr/>
        </p:nvSpPr>
        <p:spPr>
          <a:xfrm>
            <a:off x="4837176" y="1938528"/>
            <a:ext cx="438912" cy="438912"/>
          </a:xfrm>
          <a:prstGeom prst="rect">
            <a:avLst/>
          </a:prstGeom>
          <a:noFill/>
          <a:ln/>
        </p:spPr>
        <p:txBody>
          <a:bodyPr wrap="square" lIns="0" tIns="0" rIns="0" bIns="0" rtlCol="0" anchor="ctr"/>
          <a:lstStyle/>
          <a:p>
            <a:pPr algn="ctr" indent="0" marL="0">
              <a:buNone/>
            </a:pPr>
            <a:r>
              <a:rPr lang="en-US" sz="1600" b="1" dirty="0">
                <a:solidFill>
                  <a:srgbClr val="021B3A"/>
                </a:solidFill>
                <a:latin typeface="Calibri" pitchFamily="34" charset="0"/>
                <a:ea typeface="Calibri" pitchFamily="34" charset="-122"/>
                <a:cs typeface="Calibri" pitchFamily="34" charset="-120"/>
              </a:rPr>
              <a:t>3</a:t>
            </a:r>
            <a:endParaRPr lang="en-US" sz="1600" dirty="0"/>
          </a:p>
        </p:txBody>
      </p:sp>
      <p:sp>
        <p:nvSpPr>
          <p:cNvPr id="24" name="Text 22"/>
          <p:cNvSpPr/>
          <p:nvPr/>
        </p:nvSpPr>
        <p:spPr>
          <a:xfrm>
            <a:off x="5367528" y="1920240"/>
            <a:ext cx="3291840" cy="292608"/>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PG compacts et focalisés</a:t>
            </a:r>
            <a:endParaRPr lang="en-US" sz="1300" dirty="0"/>
          </a:p>
        </p:txBody>
      </p:sp>
      <p:sp>
        <p:nvSpPr>
          <p:cNvPr id="25" name="Text 23"/>
          <p:cNvSpPr/>
          <p:nvPr/>
        </p:nvSpPr>
        <p:spPr>
          <a:xfrm>
            <a:off x="4892040" y="2286000"/>
            <a:ext cx="3794760" cy="731520"/>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2-3 processeurs max par PG commun. Si c'est trop complexe à dupliquer → signal d'alarme → refactoriser, pas exposer en API.</a:t>
            </a:r>
            <a:endParaRPr lang="en-US" sz="950" dirty="0"/>
          </a:p>
        </p:txBody>
      </p:sp>
      <p:sp>
        <p:nvSpPr>
          <p:cNvPr id="26" name="Shape 24"/>
          <p:cNvSpPr/>
          <p:nvPr/>
        </p:nvSpPr>
        <p:spPr>
          <a:xfrm>
            <a:off x="4709160" y="3246120"/>
            <a:ext cx="4069080" cy="1234440"/>
          </a:xfrm>
          <a:prstGeom prst="rect">
            <a:avLst/>
          </a:prstGeom>
          <a:solidFill>
            <a:srgbClr val="065A82">
              <a:alpha val="25000"/>
            </a:srgbClr>
          </a:solidFill>
          <a:ln/>
          <a:effectLst>
            <a:outerShdw sx="100000" sy="100000" kx="0" ky="0" algn="bl" rotWithShape="0" blurRad="101600" dist="38100" dir="8100000">
              <a:srgbClr val="000000">
                <a:alpha val="10000"/>
              </a:srgbClr>
            </a:outerShdw>
          </a:effectLst>
        </p:spPr>
      </p:sp>
      <p:sp>
        <p:nvSpPr>
          <p:cNvPr id="27" name="Shape 25"/>
          <p:cNvSpPr/>
          <p:nvPr/>
        </p:nvSpPr>
        <p:spPr>
          <a:xfrm>
            <a:off x="4709160" y="3246120"/>
            <a:ext cx="64008" cy="1234440"/>
          </a:xfrm>
          <a:prstGeom prst="rect">
            <a:avLst/>
          </a:prstGeom>
          <a:solidFill>
            <a:srgbClr val="38A169"/>
          </a:solidFill>
          <a:ln/>
        </p:spPr>
      </p:sp>
      <p:sp>
        <p:nvSpPr>
          <p:cNvPr id="28" name="Shape 26"/>
          <p:cNvSpPr/>
          <p:nvPr/>
        </p:nvSpPr>
        <p:spPr>
          <a:xfrm>
            <a:off x="4837176" y="3355848"/>
            <a:ext cx="438912" cy="438912"/>
          </a:xfrm>
          <a:prstGeom prst="ellipse">
            <a:avLst/>
          </a:prstGeom>
          <a:solidFill>
            <a:srgbClr val="38A169"/>
          </a:solidFill>
          <a:ln/>
        </p:spPr>
      </p:sp>
      <p:sp>
        <p:nvSpPr>
          <p:cNvPr id="29" name="Text 27"/>
          <p:cNvSpPr/>
          <p:nvPr/>
        </p:nvSpPr>
        <p:spPr>
          <a:xfrm>
            <a:off x="4837176" y="3355848"/>
            <a:ext cx="438912" cy="438912"/>
          </a:xfrm>
          <a:prstGeom prst="rect">
            <a:avLst/>
          </a:prstGeom>
          <a:noFill/>
          <a:ln/>
        </p:spPr>
        <p:txBody>
          <a:bodyPr wrap="square" lIns="0" tIns="0" rIns="0" bIns="0" rtlCol="0" anchor="ctr"/>
          <a:lstStyle/>
          <a:p>
            <a:pPr algn="ctr" indent="0" marL="0">
              <a:buNone/>
            </a:pPr>
            <a:r>
              <a:rPr lang="en-US" sz="1600" b="1" dirty="0">
                <a:solidFill>
                  <a:srgbClr val="021B3A"/>
                </a:solidFill>
                <a:latin typeface="Calibri" pitchFamily="34" charset="0"/>
                <a:ea typeface="Calibri" pitchFamily="34" charset="-122"/>
                <a:cs typeface="Calibri" pitchFamily="34" charset="-120"/>
              </a:rPr>
              <a:t>4</a:t>
            </a:r>
            <a:endParaRPr lang="en-US" sz="1600" dirty="0"/>
          </a:p>
        </p:txBody>
      </p:sp>
      <p:sp>
        <p:nvSpPr>
          <p:cNvPr id="30" name="Text 28"/>
          <p:cNvSpPr/>
          <p:nvPr/>
        </p:nvSpPr>
        <p:spPr>
          <a:xfrm>
            <a:off x="5367528" y="3337560"/>
            <a:ext cx="3291840" cy="292608"/>
          </a:xfrm>
          <a:prstGeom prst="rect">
            <a:avLst/>
          </a:prstGeom>
          <a:noFill/>
          <a:ln/>
        </p:spPr>
        <p:txBody>
          <a:bodyPr wrap="square" lIns="0" tIns="0" rIns="0" bIns="0" rtlCol="0" anchor="ctr"/>
          <a:lstStyle/>
          <a:p>
            <a:pPr indent="0" marL="0">
              <a:buNone/>
            </a:pPr>
            <a:r>
              <a:rPr lang="en-US" sz="1300" b="1" dirty="0">
                <a:solidFill>
                  <a:srgbClr val="38A169"/>
                </a:solidFill>
                <a:latin typeface="Calibri" pitchFamily="34" charset="0"/>
                <a:ea typeface="Calibri" pitchFamily="34" charset="-122"/>
                <a:cs typeface="Calibri" pitchFamily="34" charset="-120"/>
              </a:rPr>
              <a:t>Contextes de Paramètres</a:t>
            </a:r>
            <a:endParaRPr lang="en-US" sz="1300" dirty="0"/>
          </a:p>
        </p:txBody>
      </p:sp>
      <p:sp>
        <p:nvSpPr>
          <p:cNvPr id="31" name="Text 29"/>
          <p:cNvSpPr/>
          <p:nvPr/>
        </p:nvSpPr>
        <p:spPr>
          <a:xfrm>
            <a:off x="4892040" y="3703320"/>
            <a:ext cx="3794760" cy="731520"/>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Externaliser les différences de configuration. Structure identique entre pipelines, valeurs différentes par contexte de paramètres.</a:t>
            </a:r>
            <a:endParaRPr lang="en-US" sz="950" dirty="0"/>
          </a:p>
        </p:txBody>
      </p:sp>
      <p:sp>
        <p:nvSpPr>
          <p:cNvPr id="32" name="Text 30"/>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100" i="1" dirty="0">
                <a:solidFill>
                  <a:srgbClr val="02C39A"/>
                </a:solidFill>
                <a:latin typeface="Calibri" pitchFamily="34" charset="0"/>
                <a:ea typeface="Calibri" pitchFamily="34" charset="-122"/>
                <a:cs typeface="Calibri" pitchFamily="34" charset="-120"/>
              </a:rPr>
              <a:t>L'isolation vaut toujours le coût de la duplication — la stabilité en production n'est pas négociable.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NiFi — Architecture des Process Groups</dc:title>
  <dc:subject>PptxGenJS Presentation</dc:subject>
  <dc:creator>PptxGenJS</dc:creator>
  <cp:lastModifiedBy>PptxGenJS</cp:lastModifiedBy>
  <cp:revision>1</cp:revision>
  <dcterms:created xsi:type="dcterms:W3CDTF">2026-04-28T14:34:34Z</dcterms:created>
  <dcterms:modified xsi:type="dcterms:W3CDTF">2026-04-28T14:34:34Z</dcterms:modified>
</cp:coreProperties>
</file>